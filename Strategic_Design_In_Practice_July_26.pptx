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GEM0gg0q2MfISd6oiNRknW3Yv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 name="Google Shape;1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 name="Google Shape;1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 name="Google Shape;3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3" name="Google Shape;3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4" name="Google Shape;4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5" name="Google Shape;5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0" name="Google Shape;8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5" name="Google Shape;12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9" name="Google Shape;16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0" name="Google Shape;180;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1" name="Google Shape;191;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0" name="Google Shape;22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73" name="Google Shape;27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7" name="Google Shape;30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18" name="Google Shape;318;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0" name="Google Shape;340;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55" name="Google Shape;35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68" name="Google Shape;36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95" name="Google Shape;395;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29" name="Google Shape;429;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39" name="Google Shape;439;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62" name="Google Shape;462;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85" name="Google Shape;485;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14" name="Google Shape;514;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3" name="Google Shape;543;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44" name="Google Shape;544;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 name="Google Shape;56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70" name="Google Shape;570;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6.jpg"/><Relationship Id="rId5" Type="http://schemas.openxmlformats.org/officeDocument/2006/relationships/hyperlink" Target="https://commons.wikimedia.org/wiki/File:Iterative_Process_Diagram.svg" TargetMode="External"/><Relationship Id="rId6"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hyperlink" Target="https://assets.publishing.service.gov.uk/media/69c11f9ed588c92c483e4b66/smart-data-strategy.pdf" TargetMode="External"/><Relationship Id="rId5" Type="http://schemas.openxmlformats.org/officeDocument/2006/relationships/hyperlink" Target="https://www.gov.uk/service-manual/service-standar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1" name="Shape 11"/>
        <p:cNvGrpSpPr/>
        <p:nvPr/>
      </p:nvGrpSpPr>
      <p:grpSpPr>
        <a:xfrm>
          <a:off x="0" y="0"/>
          <a:ext cx="0" cy="0"/>
          <a:chOff x="0" y="0"/>
          <a:chExt cx="0" cy="0"/>
        </a:xfrm>
      </p:grpSpPr>
      <p:pic>
        <p:nvPicPr>
          <p:cNvPr id="12" name="Google Shape;12;p1"/>
          <p:cNvPicPr preferRelativeResize="0"/>
          <p:nvPr/>
        </p:nvPicPr>
        <p:blipFill rotWithShape="1">
          <a:blip r:embed="rId3">
            <a:alphaModFix/>
          </a:blip>
          <a:srcRect b="0" l="0" r="-11662" t="0"/>
          <a:stretch/>
        </p:blipFill>
        <p:spPr>
          <a:xfrm>
            <a:off x="-5554976" y="703849"/>
            <a:ext cx="10232573" cy="5143501"/>
          </a:xfrm>
          <a:prstGeom prst="rect">
            <a:avLst/>
          </a:prstGeom>
          <a:noFill/>
          <a:ln>
            <a:noFill/>
          </a:ln>
        </p:spPr>
      </p:pic>
      <p:sp>
        <p:nvSpPr>
          <p:cNvPr id="13" name="Google Shape;13;p1"/>
          <p:cNvSpPr/>
          <p:nvPr/>
        </p:nvSpPr>
        <p:spPr>
          <a:xfrm>
            <a:off x="457200" y="1785258"/>
            <a:ext cx="822960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600"/>
              <a:buFont typeface="Calibri"/>
              <a:buNone/>
            </a:pPr>
            <a:r>
              <a:rPr b="1" i="0" lang="en-US" sz="4600" u="none" cap="none" strike="noStrike">
                <a:solidFill>
                  <a:srgbClr val="FFFFFF"/>
                </a:solidFill>
                <a:latin typeface="Calibri"/>
                <a:ea typeface="Calibri"/>
                <a:cs typeface="Calibri"/>
                <a:sym typeface="Calibri"/>
              </a:rPr>
              <a:t>Strategic Design</a:t>
            </a:r>
            <a:endParaRPr b="0" i="0" sz="4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600"/>
              <a:buFont typeface="Calibri"/>
              <a:buNone/>
            </a:pPr>
            <a:r>
              <a:rPr b="1" i="0" lang="en-US" sz="4600" u="none" cap="none" strike="noStrike">
                <a:solidFill>
                  <a:srgbClr val="FFFFFF"/>
                </a:solidFill>
                <a:latin typeface="Calibri"/>
                <a:ea typeface="Calibri"/>
                <a:cs typeface="Calibri"/>
                <a:sym typeface="Calibri"/>
              </a:rPr>
              <a:t>In Practice</a:t>
            </a:r>
            <a:endParaRPr b="0" i="0" sz="4600" u="none" cap="none" strike="noStrike">
              <a:solidFill>
                <a:schemeClr val="dk1"/>
              </a:solidFill>
              <a:latin typeface="Calibri"/>
              <a:ea typeface="Calibri"/>
              <a:cs typeface="Calibri"/>
              <a:sym typeface="Calibri"/>
            </a:endParaRPr>
          </a:p>
        </p:txBody>
      </p:sp>
      <p:sp>
        <p:nvSpPr>
          <p:cNvPr id="14" name="Google Shape;14;p1"/>
          <p:cNvSpPr/>
          <p:nvPr/>
        </p:nvSpPr>
        <p:spPr>
          <a:xfrm>
            <a:off x="457200" y="3751218"/>
            <a:ext cx="77724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8F5"/>
              </a:buClr>
              <a:buSzPts val="1600"/>
              <a:buFont typeface="Calibri"/>
              <a:buNone/>
            </a:pPr>
            <a:r>
              <a:rPr b="0" i="0" lang="en-US" sz="1600" u="none" cap="none" strike="noStrike">
                <a:solidFill>
                  <a:srgbClr val="D6E8F5"/>
                </a:solidFill>
                <a:latin typeface="Calibri"/>
                <a:ea typeface="Calibri"/>
                <a:cs typeface="Calibri"/>
                <a:sym typeface="Calibri"/>
              </a:rPr>
              <a:t>Implementing GDS, User-Centred Design, and Agile at scale.</a:t>
            </a:r>
            <a:endParaRPr b="0" i="0" sz="1600" u="none" cap="none" strike="noStrike">
              <a:solidFill>
                <a:schemeClr val="dk1"/>
              </a:solidFill>
              <a:latin typeface="Calibri"/>
              <a:ea typeface="Calibri"/>
              <a:cs typeface="Calibri"/>
              <a:sym typeface="Calibri"/>
            </a:endParaRPr>
          </a:p>
        </p:txBody>
      </p:sp>
      <p:sp>
        <p:nvSpPr>
          <p:cNvPr id="15" name="Google Shape;15;p1"/>
          <p:cNvSpPr/>
          <p:nvPr/>
        </p:nvSpPr>
        <p:spPr>
          <a:xfrm>
            <a:off x="457200" y="470916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9BBF"/>
              </a:buClr>
              <a:buSzPts val="800"/>
              <a:buFont typeface="Calibri"/>
              <a:buNone/>
            </a:pPr>
            <a:r>
              <a:rPr lang="en-US" sz="800">
                <a:solidFill>
                  <a:srgbClr val="7A9BBF"/>
                </a:solidFill>
                <a:latin typeface="Calibri"/>
                <a:ea typeface="Calibri"/>
                <a:cs typeface="Calibri"/>
                <a:sym typeface="Calibri"/>
              </a:rPr>
              <a:t>© Globefox Ltd  2026 CC BY-NC 4.0. ND</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20" name="Shape 20"/>
        <p:cNvGrpSpPr/>
        <p:nvPr/>
      </p:nvGrpSpPr>
      <p:grpSpPr>
        <a:xfrm>
          <a:off x="0" y="0"/>
          <a:ext cx="0" cy="0"/>
          <a:chOff x="0" y="0"/>
          <a:chExt cx="0" cy="0"/>
        </a:xfrm>
      </p:grpSpPr>
      <p:sp>
        <p:nvSpPr>
          <p:cNvPr id="21" name="Google Shape;21;p2"/>
          <p:cNvSpPr/>
          <p:nvPr/>
        </p:nvSpPr>
        <p:spPr>
          <a:xfrm>
            <a:off x="0" y="0"/>
            <a:ext cx="9144000" cy="658368"/>
          </a:xfrm>
          <a:prstGeom prst="rect">
            <a:avLst/>
          </a:prstGeom>
          <a:solidFill>
            <a:srgbClr val="1F3864"/>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Contents</a:t>
            </a:r>
            <a:endParaRPr sz="2000">
              <a:solidFill>
                <a:schemeClr val="dk1"/>
              </a:solidFill>
              <a:latin typeface="Calibri"/>
              <a:ea typeface="Calibri"/>
              <a:cs typeface="Calibri"/>
              <a:sym typeface="Calibri"/>
            </a:endParaRPr>
          </a:p>
        </p:txBody>
      </p:sp>
      <p:sp>
        <p:nvSpPr>
          <p:cNvPr id="23" name="Google Shape;23;p2"/>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24" name="Google Shape;24;p2"/>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sp>
        <p:nvSpPr>
          <p:cNvPr id="25" name="Google Shape;25;p2"/>
          <p:cNvSpPr txBox="1"/>
          <p:nvPr/>
        </p:nvSpPr>
        <p:spPr>
          <a:xfrm>
            <a:off x="896257" y="1878938"/>
            <a:ext cx="58237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1B2A4A"/>
              </a:buClr>
              <a:buSzPts val="1800"/>
              <a:buFont typeface="Calibri"/>
              <a:buNone/>
            </a:pPr>
            <a:r>
              <a:rPr lang="en-US" sz="1800">
                <a:solidFill>
                  <a:srgbClr val="1B2A4A"/>
                </a:solidFill>
                <a:latin typeface="Calibri"/>
                <a:ea typeface="Calibri"/>
                <a:cs typeface="Calibri"/>
                <a:sym typeface="Calibri"/>
              </a:rPr>
              <a:t>UCD									4</a:t>
            </a:r>
            <a:endParaRPr/>
          </a:p>
        </p:txBody>
      </p:sp>
      <p:sp>
        <p:nvSpPr>
          <p:cNvPr id="26" name="Google Shape;26;p2"/>
          <p:cNvSpPr txBox="1"/>
          <p:nvPr/>
        </p:nvSpPr>
        <p:spPr>
          <a:xfrm>
            <a:off x="896256" y="2404682"/>
            <a:ext cx="59186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1B2A4A"/>
              </a:buClr>
              <a:buSzPts val="1800"/>
              <a:buFont typeface="Calibri"/>
              <a:buNone/>
            </a:pPr>
            <a:r>
              <a:rPr lang="en-US" sz="1800">
                <a:solidFill>
                  <a:srgbClr val="1B2A4A"/>
                </a:solidFill>
                <a:latin typeface="Calibri"/>
                <a:ea typeface="Calibri"/>
                <a:cs typeface="Calibri"/>
                <a:sym typeface="Calibri"/>
              </a:rPr>
              <a:t>GDS									9</a:t>
            </a:r>
            <a:endParaRPr sz="1800">
              <a:solidFill>
                <a:schemeClr val="dk1"/>
              </a:solidFill>
              <a:latin typeface="Calibri"/>
              <a:ea typeface="Calibri"/>
              <a:cs typeface="Calibri"/>
              <a:sym typeface="Calibri"/>
            </a:endParaRPr>
          </a:p>
        </p:txBody>
      </p:sp>
      <p:sp>
        <p:nvSpPr>
          <p:cNvPr id="27" name="Google Shape;27;p2"/>
          <p:cNvSpPr txBox="1"/>
          <p:nvPr/>
        </p:nvSpPr>
        <p:spPr>
          <a:xfrm>
            <a:off x="845274" y="2937251"/>
            <a:ext cx="59695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1B2A4A"/>
              </a:buClr>
              <a:buSzPts val="1800"/>
              <a:buFont typeface="Calibri"/>
              <a:buNone/>
            </a:pPr>
            <a:r>
              <a:rPr lang="en-US" sz="1800">
                <a:solidFill>
                  <a:srgbClr val="1B2A4A"/>
                </a:solidFill>
                <a:latin typeface="Calibri"/>
                <a:ea typeface="Calibri"/>
                <a:cs typeface="Calibri"/>
                <a:sym typeface="Calibri"/>
              </a:rPr>
              <a:t>Agile								13</a:t>
            </a:r>
            <a:endParaRPr sz="1800">
              <a:solidFill>
                <a:schemeClr val="dk1"/>
              </a:solidFill>
              <a:latin typeface="Calibri"/>
              <a:ea typeface="Calibri"/>
              <a:cs typeface="Calibri"/>
              <a:sym typeface="Calibri"/>
            </a:endParaRPr>
          </a:p>
        </p:txBody>
      </p:sp>
      <p:sp>
        <p:nvSpPr>
          <p:cNvPr id="28" name="Google Shape;28;p2"/>
          <p:cNvSpPr txBox="1"/>
          <p:nvPr/>
        </p:nvSpPr>
        <p:spPr>
          <a:xfrm>
            <a:off x="845274" y="3485520"/>
            <a:ext cx="59695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1B2A4A"/>
              </a:buClr>
              <a:buSzPts val="1800"/>
              <a:buFont typeface="Calibri"/>
              <a:buNone/>
            </a:pPr>
            <a:r>
              <a:rPr lang="en-US" sz="1800">
                <a:solidFill>
                  <a:srgbClr val="1B2A4A"/>
                </a:solidFill>
                <a:latin typeface="Calibri"/>
                <a:ea typeface="Calibri"/>
                <a:cs typeface="Calibri"/>
                <a:sym typeface="Calibri"/>
              </a:rPr>
              <a:t>Strategic design						19</a:t>
            </a:r>
            <a:endParaRPr sz="1800">
              <a:solidFill>
                <a:schemeClr val="dk1"/>
              </a:solidFill>
              <a:latin typeface="Calibri"/>
              <a:ea typeface="Calibri"/>
              <a:cs typeface="Calibri"/>
              <a:sym typeface="Calibri"/>
            </a:endParaRPr>
          </a:p>
        </p:txBody>
      </p:sp>
      <p:sp>
        <p:nvSpPr>
          <p:cNvPr id="29" name="Google Shape;29;p2"/>
          <p:cNvSpPr txBox="1"/>
          <p:nvPr/>
        </p:nvSpPr>
        <p:spPr>
          <a:xfrm>
            <a:off x="896256" y="1397058"/>
            <a:ext cx="62550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1B2A4A"/>
              </a:buClr>
              <a:buSzPts val="1800"/>
              <a:buFont typeface="Calibri"/>
              <a:buNone/>
            </a:pPr>
            <a:r>
              <a:rPr lang="en-US" sz="1800">
                <a:solidFill>
                  <a:srgbClr val="1B2A4A"/>
                </a:solidFill>
                <a:latin typeface="Calibri"/>
                <a:ea typeface="Calibri"/>
                <a:cs typeface="Calibri"/>
                <a:sym typeface="Calibri"/>
              </a:rPr>
              <a:t>Introduction							2</a:t>
            </a:r>
            <a:endParaRPr sz="1800">
              <a:solidFill>
                <a:srgbClr val="1B2A4A"/>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34" name="Shape 34"/>
        <p:cNvGrpSpPr/>
        <p:nvPr/>
      </p:nvGrpSpPr>
      <p:grpSpPr>
        <a:xfrm>
          <a:off x="0" y="0"/>
          <a:ext cx="0" cy="0"/>
          <a:chOff x="0" y="0"/>
          <a:chExt cx="0" cy="0"/>
        </a:xfrm>
      </p:grpSpPr>
      <p:sp>
        <p:nvSpPr>
          <p:cNvPr id="35" name="Google Shape;35;p4"/>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00">
                <a:solidFill>
                  <a:srgbClr val="FFFFFF"/>
                </a:solidFill>
                <a:latin typeface="Calibri"/>
                <a:ea typeface="Calibri"/>
                <a:cs typeface="Calibri"/>
                <a:sym typeface="Calibri"/>
              </a:rPr>
              <a:t>Introduction</a:t>
            </a:r>
            <a:endParaRPr sz="2000">
              <a:solidFill>
                <a:schemeClr val="dk1"/>
              </a:solidFill>
              <a:latin typeface="Calibri"/>
              <a:ea typeface="Calibri"/>
              <a:cs typeface="Calibri"/>
              <a:sym typeface="Calibri"/>
            </a:endParaRPr>
          </a:p>
        </p:txBody>
      </p:sp>
      <p:sp>
        <p:nvSpPr>
          <p:cNvPr id="37" name="Google Shape;37;p4"/>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38" name="Google Shape;38;p4"/>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sp>
        <p:nvSpPr>
          <p:cNvPr id="39" name="Google Shape;39;p4"/>
          <p:cNvSpPr txBox="1"/>
          <p:nvPr/>
        </p:nvSpPr>
        <p:spPr>
          <a:xfrm>
            <a:off x="4782620" y="1005300"/>
            <a:ext cx="4206300" cy="349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chemeClr val="dk1"/>
                </a:solidFill>
                <a:latin typeface="Calibri"/>
                <a:ea typeface="Calibri"/>
                <a:cs typeface="Calibri"/>
                <a:sym typeface="Calibri"/>
              </a:rPr>
              <a:t>Build value by meeting everyone's needs</a:t>
            </a:r>
            <a:r>
              <a:rPr lang="en-US" sz="1300">
                <a:solidFill>
                  <a:schemeClr val="dk1"/>
                </a:solidFill>
                <a:latin typeface="Calibri"/>
                <a:ea typeface="Calibri"/>
                <a:cs typeface="Calibri"/>
                <a:sym typeface="Calibri"/>
              </a:rPr>
              <a:t> </a:t>
            </a:r>
            <a:br>
              <a:rPr lang="en-US" sz="1300">
                <a:solidFill>
                  <a:schemeClr val="dk1"/>
                </a:solidFill>
                <a:latin typeface="Calibri"/>
                <a:ea typeface="Calibri"/>
                <a:cs typeface="Calibri"/>
                <a:sym typeface="Calibri"/>
              </a:rPr>
            </a:br>
            <a:r>
              <a:rPr lang="en-US" sz="1300">
                <a:solidFill>
                  <a:schemeClr val="dk1"/>
                </a:solidFill>
                <a:latin typeface="Calibri"/>
                <a:ea typeface="Calibri"/>
                <a:cs typeface="Calibri"/>
                <a:sym typeface="Calibri"/>
              </a:rPr>
              <a:t>Good design aligns purpose, usability and impact so that users, operational staff and organisations all benefit.</a:t>
            </a:r>
            <a:br>
              <a:rPr lang="en-US" sz="1300">
                <a:solidFill>
                  <a:schemeClr val="dk1"/>
                </a:solidFill>
                <a:latin typeface="Calibri"/>
                <a:ea typeface="Calibri"/>
                <a:cs typeface="Calibri"/>
                <a:sym typeface="Calibri"/>
              </a:rPr>
            </a:b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Structure activity and effort over time</a:t>
            </a:r>
            <a:r>
              <a:rPr lang="en-US" sz="1300">
                <a:solidFill>
                  <a:schemeClr val="dk1"/>
                </a:solidFill>
                <a:latin typeface="Calibri"/>
                <a:ea typeface="Calibri"/>
                <a:cs typeface="Calibri"/>
                <a:sym typeface="Calibri"/>
              </a:rPr>
              <a:t> </a:t>
            </a:r>
            <a:br>
              <a:rPr lang="en-US" sz="1300">
                <a:solidFill>
                  <a:schemeClr val="dk1"/>
                </a:solidFill>
                <a:latin typeface="Calibri"/>
                <a:ea typeface="Calibri"/>
                <a:cs typeface="Calibri"/>
                <a:sym typeface="Calibri"/>
              </a:rPr>
            </a:br>
            <a:r>
              <a:rPr lang="en-US" sz="1300">
                <a:solidFill>
                  <a:schemeClr val="dk1"/>
                </a:solidFill>
                <a:latin typeface="Calibri"/>
                <a:ea typeface="Calibri"/>
                <a:cs typeface="Calibri"/>
                <a:sym typeface="Calibri"/>
              </a:rPr>
              <a:t>A sound design framework delivers now and creates the conditions for future ambition.</a:t>
            </a:r>
            <a:br>
              <a:rPr lang="en-US" sz="1300">
                <a:solidFill>
                  <a:schemeClr val="dk1"/>
                </a:solidFill>
                <a:latin typeface="Calibri"/>
                <a:ea typeface="Calibri"/>
                <a:cs typeface="Calibri"/>
                <a:sym typeface="Calibri"/>
              </a:rPr>
            </a:b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Measurably deliver and improve</a:t>
            </a:r>
            <a:r>
              <a:rPr lang="en-US" sz="1300">
                <a:solidFill>
                  <a:schemeClr val="dk1"/>
                </a:solidFill>
                <a:latin typeface="Calibri"/>
                <a:ea typeface="Calibri"/>
                <a:cs typeface="Calibri"/>
                <a:sym typeface="Calibri"/>
              </a:rPr>
              <a:t> </a:t>
            </a:r>
            <a:br>
              <a:rPr lang="en-US" sz="1300">
                <a:solidFill>
                  <a:schemeClr val="dk1"/>
                </a:solidFill>
                <a:latin typeface="Calibri"/>
                <a:ea typeface="Calibri"/>
                <a:cs typeface="Calibri"/>
                <a:sym typeface="Calibri"/>
              </a:rPr>
            </a:br>
            <a:r>
              <a:rPr lang="en-US" sz="1300">
                <a:solidFill>
                  <a:schemeClr val="dk1"/>
                </a:solidFill>
                <a:latin typeface="Calibri"/>
                <a:ea typeface="Calibri"/>
                <a:cs typeface="Calibri"/>
                <a:sym typeface="Calibri"/>
              </a:rPr>
              <a:t>Good design makes outcomes visible, testable, and improvable over time.</a:t>
            </a:r>
            <a:br>
              <a:rPr lang="en-US" sz="1300">
                <a:solidFill>
                  <a:schemeClr val="dk1"/>
                </a:solidFill>
                <a:latin typeface="Calibri"/>
                <a:ea typeface="Calibri"/>
                <a:cs typeface="Calibri"/>
                <a:sym typeface="Calibri"/>
              </a:rPr>
            </a:b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Enable data-led working and change</a:t>
            </a:r>
            <a:br>
              <a:rPr b="1" lang="en-US" sz="1300">
                <a:solidFill>
                  <a:schemeClr val="dk1"/>
                </a:solidFill>
                <a:latin typeface="Calibri"/>
                <a:ea typeface="Calibri"/>
                <a:cs typeface="Calibri"/>
                <a:sym typeface="Calibri"/>
              </a:rPr>
            </a:br>
            <a:r>
              <a:rPr lang="en-US" sz="1300">
                <a:solidFill>
                  <a:schemeClr val="dk1"/>
                </a:solidFill>
                <a:latin typeface="Calibri"/>
                <a:ea typeface="Calibri"/>
                <a:cs typeface="Calibri"/>
                <a:sym typeface="Calibri"/>
              </a:rPr>
              <a:t>Design asks the right questions - and builds systems that generate the right data to answer them.</a:t>
            </a:r>
            <a:br>
              <a:rPr lang="en-US" sz="1300">
                <a:solidFill>
                  <a:schemeClr val="dk1"/>
                </a:solidFill>
                <a:latin typeface="Calibri"/>
                <a:ea typeface="Calibri"/>
                <a:cs typeface="Calibri"/>
                <a:sym typeface="Calibri"/>
              </a:rPr>
            </a:br>
            <a:br>
              <a:rPr lang="en-US" sz="1300">
                <a:solidFill>
                  <a:schemeClr val="dk1"/>
                </a:solidFill>
                <a:latin typeface="Calibri"/>
                <a:ea typeface="Calibri"/>
                <a:cs typeface="Calibri"/>
                <a:sym typeface="Calibri"/>
              </a:rPr>
            </a:br>
            <a:endParaRPr sz="1300">
              <a:solidFill>
                <a:srgbClr val="1B2A4A"/>
              </a:solidFill>
              <a:latin typeface="Calibri"/>
              <a:ea typeface="Calibri"/>
              <a:cs typeface="Calibri"/>
              <a:sym typeface="Calibri"/>
            </a:endParaRPr>
          </a:p>
        </p:txBody>
      </p:sp>
      <p:sp>
        <p:nvSpPr>
          <p:cNvPr id="40" name="Google Shape;40;p4"/>
          <p:cNvSpPr txBox="1"/>
          <p:nvPr/>
        </p:nvSpPr>
        <p:spPr>
          <a:xfrm>
            <a:off x="365760" y="1027391"/>
            <a:ext cx="3883200" cy="369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Calibri"/>
                <a:ea typeface="Calibri"/>
                <a:cs typeface="Calibri"/>
                <a:sym typeface="Calibri"/>
              </a:rPr>
              <a:t>The systems being built now will shape public services for a generation.  The UK's £2 billion AI investment and </a:t>
            </a:r>
            <a:r>
              <a:rPr lang="en-US" sz="1300">
                <a:solidFill>
                  <a:schemeClr val="dk1"/>
                </a:solidFill>
                <a:latin typeface="Calibri"/>
                <a:ea typeface="Calibri"/>
                <a:cs typeface="Calibri"/>
                <a:sym typeface="Calibri"/>
              </a:rPr>
              <a:t>further</a:t>
            </a:r>
            <a:r>
              <a:rPr lang="en-US" sz="1300">
                <a:solidFill>
                  <a:schemeClr val="dk1"/>
                </a:solidFill>
                <a:latin typeface="Calibri"/>
                <a:ea typeface="Calibri"/>
                <a:cs typeface="Calibri"/>
                <a:sym typeface="Calibri"/>
              </a:rPr>
              <a:t> smart data schemes due by 2035 depend on those foundations being right.</a:t>
            </a:r>
            <a:br>
              <a:rPr lang="en-US" sz="1300">
                <a:solidFill>
                  <a:schemeClr val="dk1"/>
                </a:solidFill>
                <a:latin typeface="Calibri"/>
                <a:ea typeface="Calibri"/>
                <a:cs typeface="Calibri"/>
                <a:sym typeface="Calibri"/>
              </a:rPr>
            </a:br>
            <a:br>
              <a:rPr lang="en-US" sz="1300">
                <a:solidFill>
                  <a:schemeClr val="dk1"/>
                </a:solidFill>
                <a:latin typeface="Calibri"/>
                <a:ea typeface="Calibri"/>
                <a:cs typeface="Calibri"/>
                <a:sym typeface="Calibri"/>
              </a:rPr>
            </a:br>
            <a:r>
              <a:rPr lang="en-US" sz="1300">
                <a:solidFill>
                  <a:schemeClr val="dk1"/>
                </a:solidFill>
                <a:latin typeface="Calibri"/>
                <a:ea typeface="Calibri"/>
                <a:cs typeface="Calibri"/>
                <a:sym typeface="Calibri"/>
              </a:rPr>
              <a:t>Good design reduces rework, surfaces challenges  before they build into barriers, and generates the data that makes improvement possible and visible. </a:t>
            </a:r>
            <a:br>
              <a:rPr lang="en-US" sz="1300">
                <a:solidFill>
                  <a:schemeClr val="dk1"/>
                </a:solidFill>
                <a:latin typeface="Calibri"/>
                <a:ea typeface="Calibri"/>
                <a:cs typeface="Calibri"/>
                <a:sym typeface="Calibri"/>
              </a:rPr>
            </a:br>
            <a:br>
              <a:rPr lang="en-US" sz="1300">
                <a:solidFill>
                  <a:schemeClr val="dk1"/>
                </a:solidFill>
                <a:latin typeface="Calibri"/>
                <a:ea typeface="Calibri"/>
                <a:cs typeface="Calibri"/>
                <a:sym typeface="Calibri"/>
              </a:rPr>
            </a:br>
            <a:r>
              <a:rPr lang="en-US" sz="1300">
                <a:solidFill>
                  <a:schemeClr val="dk1"/>
                </a:solidFill>
                <a:latin typeface="Calibri"/>
                <a:ea typeface="Calibri"/>
                <a:cs typeface="Calibri"/>
                <a:sym typeface="Calibri"/>
              </a:rPr>
              <a:t>There is so much more to be done. 60% of digital projects at risk, satisfaction down 11 points in a decade, and an employment gap that costs the economy billions in lost earnings and unrealised potential annually.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So how do we best bring change?</a:t>
            </a:r>
            <a:br>
              <a:rPr lang="en-US" sz="1300">
                <a:solidFill>
                  <a:schemeClr val="dk1"/>
                </a:solidFill>
                <a:latin typeface="Calibri"/>
                <a:ea typeface="Calibri"/>
                <a:cs typeface="Calibri"/>
                <a:sym typeface="Calibri"/>
              </a:rPr>
            </a:br>
            <a:br>
              <a:rPr lang="en-US" sz="1300">
                <a:solidFill>
                  <a:schemeClr val="dk1"/>
                </a:solidFill>
                <a:latin typeface="Calibri"/>
                <a:ea typeface="Calibri"/>
                <a:cs typeface="Calibri"/>
                <a:sym typeface="Calibri"/>
              </a:rPr>
            </a:br>
            <a:endParaRPr sz="13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5"/>
          <p:cNvSpPr/>
          <p:nvPr/>
        </p:nvSpPr>
        <p:spPr>
          <a:xfrm>
            <a:off x="0" y="-1"/>
            <a:ext cx="9144000" cy="5428343"/>
          </a:xfrm>
          <a:prstGeom prst="rect">
            <a:avLst/>
          </a:prstGeom>
          <a:solidFill>
            <a:srgbClr val="1B2A4A"/>
          </a:solidFill>
          <a:ln cap="flat" cmpd="sng" w="12700">
            <a:solidFill>
              <a:srgbClr val="1B2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5"/>
          <p:cNvSpPr/>
          <p:nvPr/>
        </p:nvSpPr>
        <p:spPr>
          <a:xfrm>
            <a:off x="457200" y="3757895"/>
            <a:ext cx="8412480" cy="42319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User-Centered Design </a:t>
            </a:r>
            <a:endParaRPr sz="2400">
              <a:solidFill>
                <a:schemeClr val="dk1"/>
              </a:solidFill>
              <a:latin typeface="Calibri"/>
              <a:ea typeface="Calibri"/>
              <a:cs typeface="Calibri"/>
              <a:sym typeface="Calibri"/>
            </a:endParaRPr>
          </a:p>
        </p:txBody>
      </p:sp>
      <p:sp>
        <p:nvSpPr>
          <p:cNvPr id="48" name="Google Shape;48;p5"/>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49" name="Google Shape;49;p5"/>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sp>
        <p:nvSpPr>
          <p:cNvPr id="50" name="Google Shape;50;p5"/>
          <p:cNvSpPr/>
          <p:nvPr/>
        </p:nvSpPr>
        <p:spPr>
          <a:xfrm>
            <a:off x="8869680" y="4846320"/>
            <a:ext cx="27432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750"/>
              <a:buFont typeface="Calibri"/>
              <a:buNone/>
            </a:pPr>
            <a:r>
              <a:t/>
            </a:r>
            <a:endParaRPr sz="750">
              <a:solidFill>
                <a:schemeClr val="dk1"/>
              </a:solidFill>
              <a:latin typeface="Calibri"/>
              <a:ea typeface="Calibri"/>
              <a:cs typeface="Calibri"/>
              <a:sym typeface="Calibri"/>
            </a:endParaRPr>
          </a:p>
        </p:txBody>
      </p:sp>
      <p:cxnSp>
        <p:nvCxnSpPr>
          <p:cNvPr id="51" name="Google Shape;51;p5"/>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56" name="Shape 56"/>
        <p:cNvGrpSpPr/>
        <p:nvPr/>
      </p:nvGrpSpPr>
      <p:grpSpPr>
        <a:xfrm>
          <a:off x="0" y="0"/>
          <a:ext cx="0" cy="0"/>
          <a:chOff x="0" y="0"/>
          <a:chExt cx="0" cy="0"/>
        </a:xfrm>
      </p:grpSpPr>
      <p:sp>
        <p:nvSpPr>
          <p:cNvPr id="57" name="Google Shape;57;p6"/>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UCD as a Journey</a:t>
            </a:r>
            <a:endParaRPr sz="2000">
              <a:solidFill>
                <a:schemeClr val="dk1"/>
              </a:solidFill>
              <a:latin typeface="Calibri"/>
              <a:ea typeface="Calibri"/>
              <a:cs typeface="Calibri"/>
              <a:sym typeface="Calibri"/>
            </a:endParaRPr>
          </a:p>
        </p:txBody>
      </p:sp>
      <p:sp>
        <p:nvSpPr>
          <p:cNvPr id="59" name="Google Shape;59;p6"/>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60" name="Google Shape;60;p6"/>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sp>
        <p:nvSpPr>
          <p:cNvPr id="61" name="Google Shape;61;p6"/>
          <p:cNvSpPr txBox="1"/>
          <p:nvPr/>
        </p:nvSpPr>
        <p:spPr>
          <a:xfrm>
            <a:off x="6356718" y="2318381"/>
            <a:ext cx="1388400" cy="212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Calibri"/>
              <a:buNone/>
            </a:pP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Use what you learn to close gaps and make continuous improvements</a:t>
            </a:r>
            <a:endParaRPr sz="1200">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Delivers: Outcome data, reach metrics, evidence of impact and value  over time.</a:t>
            </a:r>
            <a:endParaRPr sz="1200">
              <a:latin typeface="Calibri"/>
              <a:ea typeface="Calibri"/>
              <a:cs typeface="Calibri"/>
              <a:sym typeface="Calibri"/>
            </a:endParaRPr>
          </a:p>
        </p:txBody>
      </p:sp>
      <p:sp>
        <p:nvSpPr>
          <p:cNvPr id="62" name="Google Shape;62;p6"/>
          <p:cNvSpPr txBox="1"/>
          <p:nvPr/>
        </p:nvSpPr>
        <p:spPr>
          <a:xfrm>
            <a:off x="3413128" y="2318381"/>
            <a:ext cx="14892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Refine functional requirements, align objectives define standards.</a:t>
            </a:r>
            <a:endParaRPr sz="1200">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Delivers: tested assumptions, prototypes, roadmap, validated user stories</a:t>
            </a:r>
            <a:endParaRPr sz="1200">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63" name="Google Shape;63;p6"/>
          <p:cNvSpPr txBox="1"/>
          <p:nvPr/>
        </p:nvSpPr>
        <p:spPr>
          <a:xfrm>
            <a:off x="368664" y="2318381"/>
            <a:ext cx="1489200" cy="212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Surface real needs - including those existing data has not been able to see.</a:t>
            </a:r>
            <a:endParaRPr sz="1200">
              <a:latin typeface="Calibri"/>
              <a:ea typeface="Calibri"/>
              <a:cs typeface="Calibri"/>
              <a:sym typeface="Calibri"/>
            </a:endParaRPr>
          </a:p>
          <a:p>
            <a:pPr indent="0" lvl="0" marL="0" marR="0" rtl="0" algn="l">
              <a:spcBef>
                <a:spcPts val="0"/>
              </a:spcBef>
              <a:spcAft>
                <a:spcPts val="0"/>
              </a:spcAft>
              <a:buNone/>
            </a:pP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Delivers: User insight, data gaps identified, inclusion risks surfaced.</a:t>
            </a:r>
            <a:endParaRPr sz="1200">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64" name="Google Shape;64;p6"/>
          <p:cNvSpPr txBox="1"/>
          <p:nvPr/>
        </p:nvSpPr>
        <p:spPr>
          <a:xfrm>
            <a:off x="1890896" y="2318381"/>
            <a:ext cx="14892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Frame the right problem, with the right people, before solutions are fixed.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Delivers: Problem statements, user profiles, journey maps, equity of access analysis.</a:t>
            </a:r>
            <a:endParaRPr sz="1200">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65" name="Google Shape;65;p6"/>
          <p:cNvSpPr txBox="1"/>
          <p:nvPr/>
        </p:nvSpPr>
        <p:spPr>
          <a:xfrm>
            <a:off x="4935360" y="2318381"/>
            <a:ext cx="13884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Ensure the service can be measured and is responsive to changes in need.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Delivers: user metrics, performance baselines, captures live issues and ideas</a:t>
            </a:r>
            <a:endParaRPr sz="1200">
              <a:latin typeface="Calibri"/>
              <a:ea typeface="Calibri"/>
              <a:cs typeface="Calibri"/>
              <a:sym typeface="Calibri"/>
            </a:endParaRPr>
          </a:p>
        </p:txBody>
      </p:sp>
      <p:sp>
        <p:nvSpPr>
          <p:cNvPr id="66" name="Google Shape;66;p6"/>
          <p:cNvSpPr/>
          <p:nvPr/>
        </p:nvSpPr>
        <p:spPr>
          <a:xfrm>
            <a:off x="409056" y="1698850"/>
            <a:ext cx="1589227" cy="610895"/>
          </a:xfrm>
          <a:prstGeom prst="homePlate">
            <a:avLst>
              <a:gd fmla="val 50000" name="adj"/>
            </a:avLst>
          </a:prstGeom>
          <a:solidFill>
            <a:srgbClr val="1B5F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DISCOVER</a:t>
            </a:r>
            <a:endParaRPr/>
          </a:p>
        </p:txBody>
      </p:sp>
      <p:sp>
        <p:nvSpPr>
          <p:cNvPr id="67" name="Google Shape;67;p6"/>
          <p:cNvSpPr/>
          <p:nvPr/>
        </p:nvSpPr>
        <p:spPr>
          <a:xfrm>
            <a:off x="1798273" y="1707204"/>
            <a:ext cx="1680551" cy="597854"/>
          </a:xfrm>
          <a:prstGeom prst="chevron">
            <a:avLst>
              <a:gd fmla="val 50000" name="adj"/>
            </a:avLst>
          </a:prstGeom>
          <a:solidFill>
            <a:srgbClr val="3D7DA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DEFINE</a:t>
            </a:r>
            <a:endParaRPr/>
          </a:p>
        </p:txBody>
      </p:sp>
      <p:sp>
        <p:nvSpPr>
          <p:cNvPr id="68" name="Google Shape;68;p6"/>
          <p:cNvSpPr/>
          <p:nvPr/>
        </p:nvSpPr>
        <p:spPr>
          <a:xfrm>
            <a:off x="3264796" y="1707204"/>
            <a:ext cx="1680551" cy="597854"/>
          </a:xfrm>
          <a:prstGeom prst="chevron">
            <a:avLst>
              <a:gd fmla="val 50000" name="adj"/>
            </a:avLst>
          </a:prstGeom>
          <a:solidFill>
            <a:srgbClr val="69B8C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DESIGN</a:t>
            </a:r>
            <a:endParaRPr/>
          </a:p>
        </p:txBody>
      </p:sp>
      <p:sp>
        <p:nvSpPr>
          <p:cNvPr id="69" name="Google Shape;69;p6"/>
          <p:cNvSpPr/>
          <p:nvPr/>
        </p:nvSpPr>
        <p:spPr>
          <a:xfrm>
            <a:off x="4751932" y="1699363"/>
            <a:ext cx="1680551" cy="597854"/>
          </a:xfrm>
          <a:prstGeom prst="chevron">
            <a:avLst>
              <a:gd fmla="val 50000" name="adj"/>
            </a:avLst>
          </a:prstGeom>
          <a:solidFill>
            <a:srgbClr val="5AA3A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dk1"/>
                </a:solidFill>
                <a:latin typeface="Calibri"/>
                <a:ea typeface="Calibri"/>
                <a:cs typeface="Calibri"/>
                <a:sym typeface="Calibri"/>
              </a:rPr>
              <a:t>MEASURE</a:t>
            </a:r>
            <a:endParaRPr/>
          </a:p>
        </p:txBody>
      </p:sp>
      <p:sp>
        <p:nvSpPr>
          <p:cNvPr id="70" name="Google Shape;70;p6"/>
          <p:cNvSpPr/>
          <p:nvPr/>
        </p:nvSpPr>
        <p:spPr>
          <a:xfrm>
            <a:off x="6217297" y="1691522"/>
            <a:ext cx="1680551" cy="597854"/>
          </a:xfrm>
          <a:prstGeom prst="chevron">
            <a:avLst>
              <a:gd fmla="val 50000" name="adj"/>
            </a:avLst>
          </a:prstGeom>
          <a:solidFill>
            <a:srgbClr val="9BD5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chemeClr val="dk1"/>
                </a:solidFill>
                <a:latin typeface="Calibri"/>
                <a:ea typeface="Calibri"/>
                <a:cs typeface="Calibri"/>
                <a:sym typeface="Calibri"/>
              </a:rPr>
              <a:t>IMPROVE</a:t>
            </a:r>
            <a:endParaRPr/>
          </a:p>
        </p:txBody>
      </p:sp>
      <p:sp>
        <p:nvSpPr>
          <p:cNvPr id="71" name="Google Shape;71;p6"/>
          <p:cNvSpPr/>
          <p:nvPr/>
        </p:nvSpPr>
        <p:spPr>
          <a:xfrm rot="-5400000">
            <a:off x="7925648" y="1043756"/>
            <a:ext cx="1099468" cy="1079390"/>
          </a:xfrm>
          <a:prstGeom prst="curvedUpArrow">
            <a:avLst>
              <a:gd fmla="val 25000" name="adj1"/>
              <a:gd fmla="val 50000" name="adj2"/>
              <a:gd fmla="val 25000" name="adj3"/>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6"/>
          <p:cNvSpPr/>
          <p:nvPr/>
        </p:nvSpPr>
        <p:spPr>
          <a:xfrm rot="5231375">
            <a:off x="7866196" y="1838376"/>
            <a:ext cx="400234" cy="290286"/>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 name="Google Shape;73;p6"/>
          <p:cNvSpPr/>
          <p:nvPr/>
        </p:nvSpPr>
        <p:spPr>
          <a:xfrm flipH="1">
            <a:off x="1683685" y="944114"/>
            <a:ext cx="6252000" cy="597900"/>
          </a:xfrm>
          <a:prstGeom prst="chevron">
            <a:avLst>
              <a:gd fmla="val 50000" name="adj"/>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chemeClr val="dk1"/>
                </a:solidFill>
                <a:latin typeface="Calibri"/>
                <a:ea typeface="Calibri"/>
                <a:cs typeface="Calibri"/>
                <a:sym typeface="Calibri"/>
              </a:rPr>
              <a:t>                                                       </a:t>
            </a:r>
            <a:r>
              <a:rPr b="1" lang="en-US" sz="1000">
                <a:solidFill>
                  <a:schemeClr val="dk1"/>
                </a:solidFill>
                <a:latin typeface="Calibri"/>
                <a:ea typeface="Calibri"/>
                <a:cs typeface="Calibri"/>
                <a:sym typeface="Calibri"/>
              </a:rPr>
              <a:t>ITERATE</a:t>
            </a:r>
            <a:endParaRPr/>
          </a:p>
        </p:txBody>
      </p:sp>
      <p:sp>
        <p:nvSpPr>
          <p:cNvPr id="74" name="Google Shape;74;p6"/>
          <p:cNvSpPr/>
          <p:nvPr/>
        </p:nvSpPr>
        <p:spPr>
          <a:xfrm flipH="1">
            <a:off x="2057232" y="946825"/>
            <a:ext cx="522600" cy="597900"/>
          </a:xfrm>
          <a:prstGeom prst="chevron">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p:txBody>
      </p:sp>
      <p:sp>
        <p:nvSpPr>
          <p:cNvPr id="75" name="Google Shape;75;p6"/>
          <p:cNvSpPr/>
          <p:nvPr/>
        </p:nvSpPr>
        <p:spPr>
          <a:xfrm flipH="1">
            <a:off x="2732362" y="946825"/>
            <a:ext cx="522600" cy="597900"/>
          </a:xfrm>
          <a:prstGeom prst="chevron">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p:txBody>
      </p:sp>
      <p:sp>
        <p:nvSpPr>
          <p:cNvPr id="76" name="Google Shape;76;p6"/>
          <p:cNvSpPr/>
          <p:nvPr/>
        </p:nvSpPr>
        <p:spPr>
          <a:xfrm flipH="1">
            <a:off x="3407492" y="946825"/>
            <a:ext cx="522600" cy="597900"/>
          </a:xfrm>
          <a:prstGeom prst="chevron">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81" name="Shape 81"/>
        <p:cNvGrpSpPr/>
        <p:nvPr/>
      </p:nvGrpSpPr>
      <p:grpSpPr>
        <a:xfrm>
          <a:off x="0" y="0"/>
          <a:ext cx="0" cy="0"/>
          <a:chOff x="0" y="0"/>
          <a:chExt cx="0" cy="0"/>
        </a:xfrm>
      </p:grpSpPr>
      <p:sp>
        <p:nvSpPr>
          <p:cNvPr id="82" name="Google Shape;82;p7"/>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UCD Approaches and Methods</a:t>
            </a:r>
            <a:endParaRPr sz="2000">
              <a:solidFill>
                <a:schemeClr val="dk1"/>
              </a:solidFill>
              <a:latin typeface="Calibri"/>
              <a:ea typeface="Calibri"/>
              <a:cs typeface="Calibri"/>
              <a:sym typeface="Calibri"/>
            </a:endParaRPr>
          </a:p>
        </p:txBody>
      </p:sp>
      <p:sp>
        <p:nvSpPr>
          <p:cNvPr id="84" name="Google Shape;84;p7"/>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85" name="Google Shape;85;p7"/>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86" name="Google Shape;86;p7"/>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
        <p:nvSpPr>
          <p:cNvPr id="87" name="Google Shape;87;p7"/>
          <p:cNvSpPr/>
          <p:nvPr/>
        </p:nvSpPr>
        <p:spPr>
          <a:xfrm>
            <a:off x="365760" y="777240"/>
            <a:ext cx="84124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200"/>
              <a:buFont typeface="Calibri"/>
              <a:buNone/>
            </a:pPr>
            <a:r>
              <a:t/>
            </a:r>
            <a:endParaRPr b="1" sz="1200">
              <a:solidFill>
                <a:schemeClr val="dk1"/>
              </a:solidFill>
              <a:latin typeface="Calibri"/>
              <a:ea typeface="Calibri"/>
              <a:cs typeface="Calibri"/>
              <a:sym typeface="Calibri"/>
            </a:endParaRPr>
          </a:p>
        </p:txBody>
      </p:sp>
      <p:sp>
        <p:nvSpPr>
          <p:cNvPr id="88" name="Google Shape;88;p7"/>
          <p:cNvSpPr/>
          <p:nvPr/>
        </p:nvSpPr>
        <p:spPr>
          <a:xfrm>
            <a:off x="320040" y="917043"/>
            <a:ext cx="4160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lang="en-US" sz="1200">
                <a:solidFill>
                  <a:srgbClr val="1B2A4A"/>
                </a:solidFill>
                <a:latin typeface="Calibri"/>
                <a:ea typeface="Calibri"/>
                <a:cs typeface="Calibri"/>
                <a:sym typeface="Calibri"/>
              </a:rPr>
              <a:t>UCD Approaches</a:t>
            </a:r>
            <a:endParaRPr sz="1200">
              <a:solidFill>
                <a:schemeClr val="dk1"/>
              </a:solidFill>
              <a:latin typeface="Calibri"/>
              <a:ea typeface="Calibri"/>
              <a:cs typeface="Calibri"/>
              <a:sym typeface="Calibri"/>
            </a:endParaRPr>
          </a:p>
        </p:txBody>
      </p:sp>
      <p:sp>
        <p:nvSpPr>
          <p:cNvPr id="89" name="Google Shape;89;p7"/>
          <p:cNvSpPr/>
          <p:nvPr/>
        </p:nvSpPr>
        <p:spPr>
          <a:xfrm>
            <a:off x="4663440" y="917043"/>
            <a:ext cx="4160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lang="en-US" sz="1200">
                <a:solidFill>
                  <a:srgbClr val="1B2A4A"/>
                </a:solidFill>
                <a:latin typeface="Calibri"/>
                <a:ea typeface="Calibri"/>
                <a:cs typeface="Calibri"/>
                <a:sym typeface="Calibri"/>
              </a:rPr>
              <a:t>UCD Methods</a:t>
            </a:r>
            <a:endParaRPr sz="1200">
              <a:solidFill>
                <a:schemeClr val="dk1"/>
              </a:solidFill>
              <a:latin typeface="Calibri"/>
              <a:ea typeface="Calibri"/>
              <a:cs typeface="Calibri"/>
              <a:sym typeface="Calibri"/>
            </a:endParaRPr>
          </a:p>
        </p:txBody>
      </p:sp>
      <p:sp>
        <p:nvSpPr>
          <p:cNvPr id="90" name="Google Shape;90;p7"/>
          <p:cNvSpPr/>
          <p:nvPr/>
        </p:nvSpPr>
        <p:spPr>
          <a:xfrm>
            <a:off x="320040" y="1507483"/>
            <a:ext cx="4160520" cy="6858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320040" y="1507483"/>
            <a:ext cx="64008" cy="6858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457200" y="1562347"/>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Inclusive Design</a:t>
            </a:r>
            <a:endParaRPr sz="950">
              <a:solidFill>
                <a:schemeClr val="dk1"/>
              </a:solidFill>
              <a:latin typeface="Calibri"/>
              <a:ea typeface="Calibri"/>
              <a:cs typeface="Calibri"/>
              <a:sym typeface="Calibri"/>
            </a:endParaRPr>
          </a:p>
        </p:txBody>
      </p:sp>
      <p:sp>
        <p:nvSpPr>
          <p:cNvPr id="93" name="Google Shape;93;p7"/>
          <p:cNvSpPr/>
          <p:nvPr/>
        </p:nvSpPr>
        <p:spPr>
          <a:xfrm>
            <a:off x="457200" y="1781803"/>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Accessibility, plain language, and logical user pathways. Include all service users in research - including research design.</a:t>
            </a:r>
            <a:endParaRPr sz="850">
              <a:solidFill>
                <a:schemeClr val="dk1"/>
              </a:solidFill>
              <a:latin typeface="Calibri"/>
              <a:ea typeface="Calibri"/>
              <a:cs typeface="Calibri"/>
              <a:sym typeface="Calibri"/>
            </a:endParaRPr>
          </a:p>
        </p:txBody>
      </p:sp>
      <p:sp>
        <p:nvSpPr>
          <p:cNvPr id="94" name="Google Shape;94;p7"/>
          <p:cNvSpPr/>
          <p:nvPr/>
        </p:nvSpPr>
        <p:spPr>
          <a:xfrm>
            <a:off x="320040" y="2257291"/>
            <a:ext cx="4160520" cy="6858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320040" y="2257291"/>
            <a:ext cx="64008" cy="6858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p:nvPr/>
        </p:nvSpPr>
        <p:spPr>
          <a:xfrm>
            <a:off x="457200" y="2312155"/>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Prototyping &amp; Iteration</a:t>
            </a:r>
            <a:endParaRPr sz="950">
              <a:solidFill>
                <a:schemeClr val="dk1"/>
              </a:solidFill>
              <a:latin typeface="Calibri"/>
              <a:ea typeface="Calibri"/>
              <a:cs typeface="Calibri"/>
              <a:sym typeface="Calibri"/>
            </a:endParaRPr>
          </a:p>
        </p:txBody>
      </p:sp>
      <p:sp>
        <p:nvSpPr>
          <p:cNvPr id="97" name="Google Shape;97;p7"/>
          <p:cNvSpPr/>
          <p:nvPr/>
        </p:nvSpPr>
        <p:spPr>
          <a:xfrm>
            <a:off x="457200" y="2531611"/>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Explore design options, test early, refine regularly.</a:t>
            </a:r>
            <a:endParaRPr sz="850">
              <a:solidFill>
                <a:schemeClr val="dk1"/>
              </a:solidFill>
              <a:latin typeface="Calibri"/>
              <a:ea typeface="Calibri"/>
              <a:cs typeface="Calibri"/>
              <a:sym typeface="Calibri"/>
            </a:endParaRPr>
          </a:p>
        </p:txBody>
      </p:sp>
      <p:sp>
        <p:nvSpPr>
          <p:cNvPr id="98" name="Google Shape;98;p7"/>
          <p:cNvSpPr/>
          <p:nvPr/>
        </p:nvSpPr>
        <p:spPr>
          <a:xfrm>
            <a:off x="320040" y="3007099"/>
            <a:ext cx="4160520" cy="6858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320040" y="3007099"/>
            <a:ext cx="64008" cy="6858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457200" y="3061963"/>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Show &amp; Tells / Playback</a:t>
            </a:r>
            <a:endParaRPr sz="950">
              <a:solidFill>
                <a:schemeClr val="dk1"/>
              </a:solidFill>
              <a:latin typeface="Calibri"/>
              <a:ea typeface="Calibri"/>
              <a:cs typeface="Calibri"/>
              <a:sym typeface="Calibri"/>
            </a:endParaRPr>
          </a:p>
        </p:txBody>
      </p:sp>
      <p:sp>
        <p:nvSpPr>
          <p:cNvPr id="101" name="Google Shape;101;p7"/>
          <p:cNvSpPr/>
          <p:nvPr/>
        </p:nvSpPr>
        <p:spPr>
          <a:xfrm>
            <a:off x="457200" y="3281419"/>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Share progress with stakeholders to validate findings.</a:t>
            </a:r>
            <a:endParaRPr sz="850">
              <a:solidFill>
                <a:schemeClr val="dk1"/>
              </a:solidFill>
              <a:latin typeface="Calibri"/>
              <a:ea typeface="Calibri"/>
              <a:cs typeface="Calibri"/>
              <a:sym typeface="Calibri"/>
            </a:endParaRPr>
          </a:p>
        </p:txBody>
      </p:sp>
      <p:sp>
        <p:nvSpPr>
          <p:cNvPr id="102" name="Google Shape;102;p7"/>
          <p:cNvSpPr/>
          <p:nvPr/>
        </p:nvSpPr>
        <p:spPr>
          <a:xfrm>
            <a:off x="320040" y="3756907"/>
            <a:ext cx="4160520" cy="6858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320040" y="3756907"/>
            <a:ext cx="64008" cy="6858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457200" y="3811771"/>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Evidence-Based Working</a:t>
            </a:r>
            <a:endParaRPr sz="950">
              <a:solidFill>
                <a:schemeClr val="dk1"/>
              </a:solidFill>
              <a:latin typeface="Calibri"/>
              <a:ea typeface="Calibri"/>
              <a:cs typeface="Calibri"/>
              <a:sym typeface="Calibri"/>
            </a:endParaRPr>
          </a:p>
        </p:txBody>
      </p:sp>
      <p:sp>
        <p:nvSpPr>
          <p:cNvPr id="105" name="Google Shape;105;p7"/>
          <p:cNvSpPr/>
          <p:nvPr/>
        </p:nvSpPr>
        <p:spPr>
          <a:xfrm>
            <a:off x="457200" y="4031227"/>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User insights and system data guide all decisions.</a:t>
            </a:r>
            <a:endParaRPr sz="850">
              <a:solidFill>
                <a:schemeClr val="dk1"/>
              </a:solidFill>
              <a:latin typeface="Calibri"/>
              <a:ea typeface="Calibri"/>
              <a:cs typeface="Calibri"/>
              <a:sym typeface="Calibri"/>
            </a:endParaRPr>
          </a:p>
        </p:txBody>
      </p:sp>
      <p:sp>
        <p:nvSpPr>
          <p:cNvPr id="106" name="Google Shape;106;p7"/>
          <p:cNvSpPr/>
          <p:nvPr/>
        </p:nvSpPr>
        <p:spPr>
          <a:xfrm>
            <a:off x="4663440" y="1507483"/>
            <a:ext cx="4160520" cy="6858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4663440" y="1507483"/>
            <a:ext cx="64008" cy="6858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4800600" y="1562347"/>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User Research</a:t>
            </a:r>
            <a:endParaRPr sz="950">
              <a:solidFill>
                <a:schemeClr val="dk1"/>
              </a:solidFill>
              <a:latin typeface="Calibri"/>
              <a:ea typeface="Calibri"/>
              <a:cs typeface="Calibri"/>
              <a:sym typeface="Calibri"/>
            </a:endParaRPr>
          </a:p>
        </p:txBody>
      </p:sp>
      <p:sp>
        <p:nvSpPr>
          <p:cNvPr id="109" name="Google Shape;109;p7"/>
          <p:cNvSpPr/>
          <p:nvPr/>
        </p:nvSpPr>
        <p:spPr>
          <a:xfrm>
            <a:off x="4800600" y="1781803"/>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Capture and interpret user and stakeholder needs and objectives.</a:t>
            </a:r>
            <a:endParaRPr sz="850">
              <a:solidFill>
                <a:schemeClr val="dk1"/>
              </a:solidFill>
              <a:latin typeface="Calibri"/>
              <a:ea typeface="Calibri"/>
              <a:cs typeface="Calibri"/>
              <a:sym typeface="Calibri"/>
            </a:endParaRPr>
          </a:p>
        </p:txBody>
      </p:sp>
      <p:sp>
        <p:nvSpPr>
          <p:cNvPr id="110" name="Google Shape;110;p7"/>
          <p:cNvSpPr/>
          <p:nvPr/>
        </p:nvSpPr>
        <p:spPr>
          <a:xfrm>
            <a:off x="4663440" y="2257291"/>
            <a:ext cx="4160520" cy="6858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4663440" y="2257291"/>
            <a:ext cx="64008" cy="6858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4800600" y="2312155"/>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Journey Mapping</a:t>
            </a:r>
            <a:endParaRPr sz="950">
              <a:solidFill>
                <a:schemeClr val="dk1"/>
              </a:solidFill>
              <a:latin typeface="Calibri"/>
              <a:ea typeface="Calibri"/>
              <a:cs typeface="Calibri"/>
              <a:sym typeface="Calibri"/>
            </a:endParaRPr>
          </a:p>
        </p:txBody>
      </p:sp>
      <p:sp>
        <p:nvSpPr>
          <p:cNvPr id="113" name="Google Shape;113;p7"/>
          <p:cNvSpPr/>
          <p:nvPr/>
        </p:nvSpPr>
        <p:spPr>
          <a:xfrm>
            <a:off x="4800600" y="2531611"/>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Visualise tasks, touchpoints, and pain points across roles.</a:t>
            </a:r>
            <a:endParaRPr sz="850">
              <a:solidFill>
                <a:schemeClr val="dk1"/>
              </a:solidFill>
              <a:latin typeface="Calibri"/>
              <a:ea typeface="Calibri"/>
              <a:cs typeface="Calibri"/>
              <a:sym typeface="Calibri"/>
            </a:endParaRPr>
          </a:p>
        </p:txBody>
      </p:sp>
      <p:sp>
        <p:nvSpPr>
          <p:cNvPr id="114" name="Google Shape;114;p7"/>
          <p:cNvSpPr/>
          <p:nvPr/>
        </p:nvSpPr>
        <p:spPr>
          <a:xfrm>
            <a:off x="4663440" y="3007099"/>
            <a:ext cx="4160520" cy="6858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4663440" y="3007099"/>
            <a:ext cx="64008" cy="6858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4800600" y="3061963"/>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Service Blueprinting</a:t>
            </a:r>
            <a:endParaRPr sz="950">
              <a:solidFill>
                <a:schemeClr val="dk1"/>
              </a:solidFill>
              <a:latin typeface="Calibri"/>
              <a:ea typeface="Calibri"/>
              <a:cs typeface="Calibri"/>
              <a:sym typeface="Calibri"/>
            </a:endParaRPr>
          </a:p>
        </p:txBody>
      </p:sp>
      <p:sp>
        <p:nvSpPr>
          <p:cNvPr id="117" name="Google Shape;117;p7"/>
          <p:cNvSpPr/>
          <p:nvPr/>
        </p:nvSpPr>
        <p:spPr>
          <a:xfrm>
            <a:off x="4800600" y="3281419"/>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Map how functions and systems deliver the service.</a:t>
            </a:r>
            <a:endParaRPr sz="850">
              <a:solidFill>
                <a:schemeClr val="dk1"/>
              </a:solidFill>
              <a:latin typeface="Calibri"/>
              <a:ea typeface="Calibri"/>
              <a:cs typeface="Calibri"/>
              <a:sym typeface="Calibri"/>
            </a:endParaRPr>
          </a:p>
        </p:txBody>
      </p:sp>
      <p:sp>
        <p:nvSpPr>
          <p:cNvPr id="118" name="Google Shape;118;p7"/>
          <p:cNvSpPr/>
          <p:nvPr/>
        </p:nvSpPr>
        <p:spPr>
          <a:xfrm>
            <a:off x="4663440" y="3756907"/>
            <a:ext cx="4160520" cy="6858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4663440" y="3756907"/>
            <a:ext cx="64008" cy="6858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4800600" y="3811771"/>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UCD Roles (DDaT)</a:t>
            </a:r>
            <a:endParaRPr sz="950">
              <a:solidFill>
                <a:schemeClr val="dk1"/>
              </a:solidFill>
              <a:latin typeface="Calibri"/>
              <a:ea typeface="Calibri"/>
              <a:cs typeface="Calibri"/>
              <a:sym typeface="Calibri"/>
            </a:endParaRPr>
          </a:p>
        </p:txBody>
      </p:sp>
      <p:sp>
        <p:nvSpPr>
          <p:cNvPr id="121" name="Google Shape;121;p7"/>
          <p:cNvSpPr/>
          <p:nvPr/>
        </p:nvSpPr>
        <p:spPr>
          <a:xfrm>
            <a:off x="4800600" y="4031227"/>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Defines roles and competencies for UK Public Sector Digital.</a:t>
            </a:r>
            <a:endParaRPr sz="8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126" name="Shape 126"/>
        <p:cNvGrpSpPr/>
        <p:nvPr/>
      </p:nvGrpSpPr>
      <p:grpSpPr>
        <a:xfrm>
          <a:off x="0" y="0"/>
          <a:ext cx="0" cy="0"/>
          <a:chOff x="0" y="0"/>
          <a:chExt cx="0" cy="0"/>
        </a:xfrm>
      </p:grpSpPr>
      <p:sp>
        <p:nvSpPr>
          <p:cNvPr id="127" name="Google Shape;127;p8"/>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UCD evidence</a:t>
            </a:r>
            <a:endParaRPr sz="2000">
              <a:solidFill>
                <a:schemeClr val="dk1"/>
              </a:solidFill>
              <a:latin typeface="Calibri"/>
              <a:ea typeface="Calibri"/>
              <a:cs typeface="Calibri"/>
              <a:sym typeface="Calibri"/>
            </a:endParaRPr>
          </a:p>
        </p:txBody>
      </p:sp>
      <p:sp>
        <p:nvSpPr>
          <p:cNvPr id="129" name="Google Shape;129;p8"/>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130" name="Google Shape;130;p8"/>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131" name="Google Shape;131;p8"/>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
        <p:nvSpPr>
          <p:cNvPr id="132" name="Google Shape;132;p8"/>
          <p:cNvSpPr/>
          <p:nvPr/>
        </p:nvSpPr>
        <p:spPr>
          <a:xfrm>
            <a:off x="365760" y="77724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133" name="Google Shape;133;p8"/>
          <p:cNvSpPr/>
          <p:nvPr/>
        </p:nvSpPr>
        <p:spPr>
          <a:xfrm>
            <a:off x="320040" y="1417320"/>
            <a:ext cx="4160520" cy="749808"/>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320040" y="1417320"/>
            <a:ext cx="64008" cy="749808"/>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457200" y="1481328"/>
            <a:ext cx="393192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Aligning with real user needs</a:t>
            </a:r>
            <a:endParaRPr sz="950">
              <a:solidFill>
                <a:schemeClr val="dk1"/>
              </a:solidFill>
              <a:latin typeface="Calibri"/>
              <a:ea typeface="Calibri"/>
              <a:cs typeface="Calibri"/>
              <a:sym typeface="Calibri"/>
            </a:endParaRPr>
          </a:p>
        </p:txBody>
      </p:sp>
      <p:sp>
        <p:nvSpPr>
          <p:cNvPr id="136" name="Google Shape;136;p8"/>
          <p:cNvSpPr/>
          <p:nvPr/>
        </p:nvSpPr>
        <p:spPr>
          <a:xfrm>
            <a:off x="457200" y="1737360"/>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Establishing structured insight streams to understand users, tasks, and service challenges.</a:t>
            </a:r>
            <a:endParaRPr sz="850">
              <a:solidFill>
                <a:schemeClr val="dk1"/>
              </a:solidFill>
              <a:latin typeface="Calibri"/>
              <a:ea typeface="Calibri"/>
              <a:cs typeface="Calibri"/>
              <a:sym typeface="Calibri"/>
            </a:endParaRPr>
          </a:p>
        </p:txBody>
      </p:sp>
      <p:sp>
        <p:nvSpPr>
          <p:cNvPr id="137" name="Google Shape;137;p8"/>
          <p:cNvSpPr/>
          <p:nvPr/>
        </p:nvSpPr>
        <p:spPr>
          <a:xfrm>
            <a:off x="4663440" y="1417320"/>
            <a:ext cx="4160520" cy="749808"/>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4663440" y="1417320"/>
            <a:ext cx="64008" cy="749808"/>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4800600" y="1481328"/>
            <a:ext cx="393192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Collaborating with stakeholders</a:t>
            </a:r>
            <a:endParaRPr sz="950">
              <a:solidFill>
                <a:schemeClr val="dk1"/>
              </a:solidFill>
              <a:latin typeface="Calibri"/>
              <a:ea typeface="Calibri"/>
              <a:cs typeface="Calibri"/>
              <a:sym typeface="Calibri"/>
            </a:endParaRPr>
          </a:p>
        </p:txBody>
      </p:sp>
      <p:sp>
        <p:nvSpPr>
          <p:cNvPr id="140" name="Google Shape;140;p8"/>
          <p:cNvSpPr/>
          <p:nvPr/>
        </p:nvSpPr>
        <p:spPr>
          <a:xfrm>
            <a:off x="4800600" y="1737360"/>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Creating regular engagement points to shape direction across all teams.</a:t>
            </a:r>
            <a:endParaRPr sz="850">
              <a:solidFill>
                <a:schemeClr val="dk1"/>
              </a:solidFill>
              <a:latin typeface="Calibri"/>
              <a:ea typeface="Calibri"/>
              <a:cs typeface="Calibri"/>
              <a:sym typeface="Calibri"/>
            </a:endParaRPr>
          </a:p>
        </p:txBody>
      </p:sp>
      <p:sp>
        <p:nvSpPr>
          <p:cNvPr id="141" name="Google Shape;141;p8"/>
          <p:cNvSpPr/>
          <p:nvPr/>
        </p:nvSpPr>
        <p:spPr>
          <a:xfrm>
            <a:off x="320040" y="2258568"/>
            <a:ext cx="4160520" cy="749808"/>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320040" y="2258568"/>
            <a:ext cx="64008" cy="749808"/>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457200" y="2322576"/>
            <a:ext cx="393192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Strengthening design capability</a:t>
            </a:r>
            <a:endParaRPr sz="950">
              <a:solidFill>
                <a:schemeClr val="dk1"/>
              </a:solidFill>
              <a:latin typeface="Calibri"/>
              <a:ea typeface="Calibri"/>
              <a:cs typeface="Calibri"/>
              <a:sym typeface="Calibri"/>
            </a:endParaRPr>
          </a:p>
        </p:txBody>
      </p:sp>
      <p:sp>
        <p:nvSpPr>
          <p:cNvPr id="144" name="Google Shape;144;p8"/>
          <p:cNvSpPr/>
          <p:nvPr/>
        </p:nvSpPr>
        <p:spPr>
          <a:xfrm>
            <a:off x="457200" y="2578608"/>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Building access to UCD roles through internal uplift or targeted partnerships.</a:t>
            </a:r>
            <a:endParaRPr sz="850">
              <a:solidFill>
                <a:schemeClr val="dk1"/>
              </a:solidFill>
              <a:latin typeface="Calibri"/>
              <a:ea typeface="Calibri"/>
              <a:cs typeface="Calibri"/>
              <a:sym typeface="Calibri"/>
            </a:endParaRPr>
          </a:p>
        </p:txBody>
      </p:sp>
      <p:sp>
        <p:nvSpPr>
          <p:cNvPr id="145" name="Google Shape;145;p8"/>
          <p:cNvSpPr/>
          <p:nvPr/>
        </p:nvSpPr>
        <p:spPr>
          <a:xfrm>
            <a:off x="4663440" y="2258568"/>
            <a:ext cx="4160520" cy="749808"/>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4663440" y="2258568"/>
            <a:ext cx="64008" cy="749808"/>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4800600" y="2322576"/>
            <a:ext cx="393192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Driving evidence-based improvement</a:t>
            </a:r>
            <a:endParaRPr sz="950">
              <a:solidFill>
                <a:schemeClr val="dk1"/>
              </a:solidFill>
              <a:latin typeface="Calibri"/>
              <a:ea typeface="Calibri"/>
              <a:cs typeface="Calibri"/>
              <a:sym typeface="Calibri"/>
            </a:endParaRPr>
          </a:p>
        </p:txBody>
      </p:sp>
      <p:sp>
        <p:nvSpPr>
          <p:cNvPr id="148" name="Google Shape;148;p8"/>
          <p:cNvSpPr/>
          <p:nvPr/>
        </p:nvSpPr>
        <p:spPr>
          <a:xfrm>
            <a:off x="4800600" y="2578608"/>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  Making the most of research, support data, and MI to inform design and planning.</a:t>
            </a:r>
            <a:endParaRPr sz="850">
              <a:solidFill>
                <a:schemeClr val="dk1"/>
              </a:solidFill>
              <a:latin typeface="Calibri"/>
              <a:ea typeface="Calibri"/>
              <a:cs typeface="Calibri"/>
              <a:sym typeface="Calibri"/>
            </a:endParaRPr>
          </a:p>
        </p:txBody>
      </p:sp>
      <p:sp>
        <p:nvSpPr>
          <p:cNvPr id="149" name="Google Shape;149;p8"/>
          <p:cNvSpPr/>
          <p:nvPr/>
        </p:nvSpPr>
        <p:spPr>
          <a:xfrm>
            <a:off x="320040" y="3099816"/>
            <a:ext cx="4160520" cy="749808"/>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320040" y="3099816"/>
            <a:ext cx="64008" cy="749808"/>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457200" y="3163824"/>
            <a:ext cx="393192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Supporting iterative delivery</a:t>
            </a:r>
            <a:endParaRPr sz="950">
              <a:solidFill>
                <a:schemeClr val="dk1"/>
              </a:solidFill>
              <a:latin typeface="Calibri"/>
              <a:ea typeface="Calibri"/>
              <a:cs typeface="Calibri"/>
              <a:sym typeface="Calibri"/>
            </a:endParaRPr>
          </a:p>
        </p:txBody>
      </p:sp>
      <p:sp>
        <p:nvSpPr>
          <p:cNvPr id="152" name="Google Shape;152;p8"/>
          <p:cNvSpPr/>
          <p:nvPr/>
        </p:nvSpPr>
        <p:spPr>
          <a:xfrm>
            <a:off x="457200" y="3419856"/>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Using MVPs and phased improvements to reduce risk and embed learning.</a:t>
            </a:r>
            <a:endParaRPr sz="850">
              <a:solidFill>
                <a:schemeClr val="dk1"/>
              </a:solidFill>
              <a:latin typeface="Calibri"/>
              <a:ea typeface="Calibri"/>
              <a:cs typeface="Calibri"/>
              <a:sym typeface="Calibri"/>
            </a:endParaRPr>
          </a:p>
        </p:txBody>
      </p:sp>
      <p:sp>
        <p:nvSpPr>
          <p:cNvPr id="153" name="Google Shape;153;p8"/>
          <p:cNvSpPr/>
          <p:nvPr/>
        </p:nvSpPr>
        <p:spPr>
          <a:xfrm>
            <a:off x="4663440" y="3099816"/>
            <a:ext cx="4160520" cy="749808"/>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4663440" y="3099816"/>
            <a:ext cx="64008" cy="749808"/>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
          <p:cNvSpPr/>
          <p:nvPr/>
        </p:nvSpPr>
        <p:spPr>
          <a:xfrm>
            <a:off x="4800600" y="3163824"/>
            <a:ext cx="393192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Ensuring priorities reflect user value</a:t>
            </a:r>
            <a:endParaRPr sz="950">
              <a:solidFill>
                <a:schemeClr val="dk1"/>
              </a:solidFill>
              <a:latin typeface="Calibri"/>
              <a:ea typeface="Calibri"/>
              <a:cs typeface="Calibri"/>
              <a:sym typeface="Calibri"/>
            </a:endParaRPr>
          </a:p>
        </p:txBody>
      </p:sp>
      <p:sp>
        <p:nvSpPr>
          <p:cNvPr id="156" name="Google Shape;156;p8"/>
          <p:cNvSpPr/>
          <p:nvPr/>
        </p:nvSpPr>
        <p:spPr>
          <a:xfrm>
            <a:off x="4800600" y="3419856"/>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Enabling governance that balances strategic goals with user evidence.</a:t>
            </a:r>
            <a:endParaRPr sz="850">
              <a:solidFill>
                <a:schemeClr val="dk1"/>
              </a:solidFill>
              <a:latin typeface="Calibri"/>
              <a:ea typeface="Calibri"/>
              <a:cs typeface="Calibri"/>
              <a:sym typeface="Calibri"/>
            </a:endParaRPr>
          </a:p>
        </p:txBody>
      </p:sp>
      <p:sp>
        <p:nvSpPr>
          <p:cNvPr id="157" name="Google Shape;157;p8"/>
          <p:cNvSpPr/>
          <p:nvPr/>
        </p:nvSpPr>
        <p:spPr>
          <a:xfrm>
            <a:off x="320040" y="3941064"/>
            <a:ext cx="4160520" cy="749808"/>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320040" y="3941064"/>
            <a:ext cx="64008" cy="749808"/>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457200" y="4005072"/>
            <a:ext cx="393192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Delivering measurable impact</a:t>
            </a:r>
            <a:endParaRPr sz="950">
              <a:solidFill>
                <a:schemeClr val="dk1"/>
              </a:solidFill>
              <a:latin typeface="Calibri"/>
              <a:ea typeface="Calibri"/>
              <a:cs typeface="Calibri"/>
              <a:sym typeface="Calibri"/>
            </a:endParaRPr>
          </a:p>
        </p:txBody>
      </p:sp>
      <p:sp>
        <p:nvSpPr>
          <p:cNvPr id="160" name="Google Shape;160;p8"/>
          <p:cNvSpPr/>
          <p:nvPr/>
        </p:nvSpPr>
        <p:spPr>
          <a:xfrm>
            <a:off x="457200" y="4261104"/>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Defining outcomes linked to usability, efficiency, and compliance.</a:t>
            </a:r>
            <a:endParaRPr sz="850">
              <a:solidFill>
                <a:schemeClr val="dk1"/>
              </a:solidFill>
              <a:latin typeface="Calibri"/>
              <a:ea typeface="Calibri"/>
              <a:cs typeface="Calibri"/>
              <a:sym typeface="Calibri"/>
            </a:endParaRPr>
          </a:p>
        </p:txBody>
      </p:sp>
      <p:sp>
        <p:nvSpPr>
          <p:cNvPr id="161" name="Google Shape;161;p8"/>
          <p:cNvSpPr/>
          <p:nvPr/>
        </p:nvSpPr>
        <p:spPr>
          <a:xfrm>
            <a:off x="4663440" y="3941064"/>
            <a:ext cx="4160520" cy="749808"/>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4663440" y="3941064"/>
            <a:ext cx="64008" cy="749808"/>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a:off x="4800600" y="4005072"/>
            <a:ext cx="393192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1B2A4A"/>
                </a:solidFill>
                <a:latin typeface="Calibri"/>
                <a:ea typeface="Calibri"/>
                <a:cs typeface="Calibri"/>
                <a:sym typeface="Calibri"/>
              </a:rPr>
              <a:t>Supporting compliance and assurance</a:t>
            </a:r>
            <a:endParaRPr sz="950">
              <a:solidFill>
                <a:schemeClr val="dk1"/>
              </a:solidFill>
              <a:latin typeface="Calibri"/>
              <a:ea typeface="Calibri"/>
              <a:cs typeface="Calibri"/>
              <a:sym typeface="Calibri"/>
            </a:endParaRPr>
          </a:p>
        </p:txBody>
      </p:sp>
      <p:sp>
        <p:nvSpPr>
          <p:cNvPr id="164" name="Google Shape;164;p8"/>
          <p:cNvSpPr/>
          <p:nvPr/>
        </p:nvSpPr>
        <p:spPr>
          <a:xfrm>
            <a:off x="4800600" y="4261104"/>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Aligning design outputs with GDS, accessibility, and other standards from the outset.</a:t>
            </a:r>
            <a:endParaRPr sz="850">
              <a:solidFill>
                <a:schemeClr val="dk1"/>
              </a:solidFill>
              <a:latin typeface="Calibri"/>
              <a:ea typeface="Calibri"/>
              <a:cs typeface="Calibri"/>
              <a:sym typeface="Calibri"/>
            </a:endParaRPr>
          </a:p>
        </p:txBody>
      </p:sp>
      <p:sp>
        <p:nvSpPr>
          <p:cNvPr id="165" name="Google Shape;165;p8"/>
          <p:cNvSpPr/>
          <p:nvPr/>
        </p:nvSpPr>
        <p:spPr>
          <a:xfrm>
            <a:off x="320040" y="795908"/>
            <a:ext cx="8412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300"/>
              <a:buFont typeface="Calibri"/>
              <a:buNone/>
            </a:pPr>
            <a:r>
              <a:rPr lang="en-US" sz="1300">
                <a:solidFill>
                  <a:schemeClr val="dk1"/>
                </a:solidFill>
                <a:latin typeface="Calibri"/>
                <a:ea typeface="Calibri"/>
                <a:cs typeface="Calibri"/>
                <a:sym typeface="Calibri"/>
              </a:rPr>
              <a:t>UK Public Sector Projects are required to continuously evidence and document how they are: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170" name="Shape 170"/>
        <p:cNvGrpSpPr/>
        <p:nvPr/>
      </p:nvGrpSpPr>
      <p:grpSpPr>
        <a:xfrm>
          <a:off x="0" y="0"/>
          <a:ext cx="0" cy="0"/>
          <a:chOff x="0" y="0"/>
          <a:chExt cx="0" cy="0"/>
        </a:xfrm>
      </p:grpSpPr>
      <p:sp>
        <p:nvSpPr>
          <p:cNvPr id="171" name="Google Shape;171;p9"/>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UCD and AI</a:t>
            </a:r>
            <a:endParaRPr sz="2000">
              <a:solidFill>
                <a:schemeClr val="dk1"/>
              </a:solidFill>
              <a:latin typeface="Calibri"/>
              <a:ea typeface="Calibri"/>
              <a:cs typeface="Calibri"/>
              <a:sym typeface="Calibri"/>
            </a:endParaRPr>
          </a:p>
        </p:txBody>
      </p:sp>
      <p:sp>
        <p:nvSpPr>
          <p:cNvPr id="173" name="Google Shape;173;p9"/>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174" name="Google Shape;174;p9"/>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sp>
        <p:nvSpPr>
          <p:cNvPr id="175" name="Google Shape;175;p9"/>
          <p:cNvSpPr/>
          <p:nvPr/>
        </p:nvSpPr>
        <p:spPr>
          <a:xfrm>
            <a:off x="365760" y="804672"/>
            <a:ext cx="841248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lang="en-US" sz="1050">
                <a:solidFill>
                  <a:srgbClr val="1B2A4A"/>
                </a:solidFill>
                <a:latin typeface="Calibri"/>
                <a:ea typeface="Calibri"/>
                <a:cs typeface="Calibri"/>
                <a:sym typeface="Calibri"/>
              </a:rPr>
              <a:t>.</a:t>
            </a:r>
            <a:endParaRPr sz="1050">
              <a:solidFill>
                <a:schemeClr val="dk1"/>
              </a:solidFill>
              <a:latin typeface="Calibri"/>
              <a:ea typeface="Calibri"/>
              <a:cs typeface="Calibri"/>
              <a:sym typeface="Calibri"/>
            </a:endParaRPr>
          </a:p>
        </p:txBody>
      </p:sp>
      <p:sp>
        <p:nvSpPr>
          <p:cNvPr id="176" name="Google Shape;176;p9"/>
          <p:cNvSpPr txBox="1"/>
          <p:nvPr/>
        </p:nvSpPr>
        <p:spPr>
          <a:xfrm>
            <a:off x="365746" y="1088050"/>
            <a:ext cx="6486000" cy="329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Calibri"/>
                <a:ea typeface="Calibri"/>
                <a:cs typeface="Calibri"/>
                <a:sym typeface="Calibri"/>
              </a:rPr>
              <a:t>Responsible Public Sector AI is already </a:t>
            </a:r>
            <a:r>
              <a:rPr lang="en-US" sz="1300">
                <a:solidFill>
                  <a:schemeClr val="dk1"/>
                </a:solidFill>
                <a:latin typeface="Calibri"/>
                <a:ea typeface="Calibri"/>
                <a:cs typeface="Calibri"/>
                <a:sym typeface="Calibri"/>
              </a:rPr>
              <a:t>delivering</a:t>
            </a:r>
            <a:r>
              <a:rPr lang="en-US" sz="1300">
                <a:solidFill>
                  <a:schemeClr val="dk1"/>
                </a:solidFill>
                <a:latin typeface="Calibri"/>
                <a:ea typeface="Calibri"/>
                <a:cs typeface="Calibri"/>
                <a:sym typeface="Calibri"/>
              </a:rPr>
              <a:t> </a:t>
            </a:r>
            <a:r>
              <a:rPr lang="en-US" sz="1300">
                <a:solidFill>
                  <a:schemeClr val="dk1"/>
                </a:solidFill>
                <a:latin typeface="Calibri"/>
                <a:ea typeface="Calibri"/>
                <a:cs typeface="Calibri"/>
                <a:sym typeface="Calibri"/>
              </a:rPr>
              <a:t>significant</a:t>
            </a:r>
            <a:r>
              <a:rPr lang="en-US" sz="1300">
                <a:solidFill>
                  <a:schemeClr val="dk1"/>
                </a:solidFill>
                <a:latin typeface="Calibri"/>
                <a:ea typeface="Calibri"/>
                <a:cs typeface="Calibri"/>
                <a:sym typeface="Calibri"/>
              </a:rPr>
              <a:t> cost saveing and </a:t>
            </a:r>
            <a:r>
              <a:rPr lang="en-US" sz="1300">
                <a:solidFill>
                  <a:schemeClr val="dk1"/>
                </a:solidFill>
                <a:latin typeface="Calibri"/>
                <a:ea typeface="Calibri"/>
                <a:cs typeface="Calibri"/>
                <a:sym typeface="Calibri"/>
              </a:rPr>
              <a:t>efficiency</a:t>
            </a:r>
            <a:r>
              <a:rPr lang="en-US"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This depends on the decisions and models behind it being transparent, explainable and representative, and making sure that </a:t>
            </a:r>
            <a:r>
              <a:rPr lang="en-US" sz="1300">
                <a:solidFill>
                  <a:schemeClr val="dk1"/>
                </a:solidFill>
                <a:latin typeface="Calibri"/>
                <a:ea typeface="Calibri"/>
                <a:cs typeface="Calibri"/>
                <a:sym typeface="Calibri"/>
              </a:rPr>
              <a:t>errors</a:t>
            </a:r>
            <a:r>
              <a:rPr lang="en-US" sz="1300">
                <a:solidFill>
                  <a:schemeClr val="dk1"/>
                </a:solidFill>
                <a:latin typeface="Calibri"/>
                <a:ea typeface="Calibri"/>
                <a:cs typeface="Calibri"/>
                <a:sym typeface="Calibri"/>
              </a:rPr>
              <a:t> do not </a:t>
            </a:r>
            <a:r>
              <a:rPr lang="en-US" sz="1300">
                <a:solidFill>
                  <a:schemeClr val="dk1"/>
                </a:solidFill>
                <a:latin typeface="Calibri"/>
                <a:ea typeface="Calibri"/>
                <a:cs typeface="Calibri"/>
                <a:sym typeface="Calibri"/>
              </a:rPr>
              <a:t>proliferate and affect model decision-making and outcomes.</a:t>
            </a:r>
            <a:br>
              <a:rPr lang="en-US" sz="1300">
                <a:solidFill>
                  <a:schemeClr val="dk1"/>
                </a:solidFill>
                <a:latin typeface="Calibri"/>
                <a:ea typeface="Calibri"/>
                <a:cs typeface="Calibri"/>
                <a:sym typeface="Calibri"/>
              </a:rPr>
            </a:b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AI requires ongoing validation and human oversight, and </a:t>
            </a:r>
            <a:r>
              <a:rPr lang="en-US" sz="1300">
                <a:solidFill>
                  <a:schemeClr val="dk1"/>
                </a:solidFill>
                <a:latin typeface="Calibri"/>
                <a:ea typeface="Calibri"/>
                <a:cs typeface="Calibri"/>
                <a:sym typeface="Calibri"/>
              </a:rPr>
              <a:t>accountability</a:t>
            </a:r>
            <a:r>
              <a:rPr lang="en-US" sz="1300">
                <a:solidFill>
                  <a:schemeClr val="dk1"/>
                </a:solidFill>
                <a:latin typeface="Calibri"/>
                <a:ea typeface="Calibri"/>
                <a:cs typeface="Calibri"/>
                <a:sym typeface="Calibri"/>
              </a:rPr>
              <a:t> </a:t>
            </a:r>
            <a:r>
              <a:rPr lang="en-US" sz="1300">
                <a:solidFill>
                  <a:schemeClr val="dk1"/>
                </a:solidFill>
                <a:latin typeface="Calibri"/>
                <a:ea typeface="Calibri"/>
                <a:cs typeface="Calibri"/>
                <a:sym typeface="Calibri"/>
              </a:rPr>
              <a:t>when something goes wrong, or representation, inclusion, data quality and other key criteria slip.</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Responsible AI embeds UCD approaches to ensure that bias and errors can be </a:t>
            </a:r>
            <a:r>
              <a:rPr lang="en-US" sz="1300">
                <a:solidFill>
                  <a:schemeClr val="dk1"/>
                </a:solidFill>
                <a:latin typeface="Calibri"/>
                <a:ea typeface="Calibri"/>
                <a:cs typeface="Calibri"/>
                <a:sym typeface="Calibri"/>
              </a:rPr>
              <a:t>actively</a:t>
            </a:r>
            <a:r>
              <a:rPr lang="en-US" sz="1300">
                <a:solidFill>
                  <a:schemeClr val="dk1"/>
                </a:solidFill>
                <a:latin typeface="Calibri"/>
                <a:ea typeface="Calibri"/>
                <a:cs typeface="Calibri"/>
                <a:sym typeface="Calibri"/>
              </a:rPr>
              <a:t> anticipated and detected, </a:t>
            </a:r>
            <a:r>
              <a:rPr lang="en-US" sz="1300">
                <a:solidFill>
                  <a:schemeClr val="dk1"/>
                </a:solidFill>
                <a:latin typeface="Calibri"/>
                <a:ea typeface="Calibri"/>
                <a:cs typeface="Calibri"/>
                <a:sym typeface="Calibri"/>
              </a:rPr>
              <a:t>establishes the alert thresholds and triggers for action, and the means to make effective corrections.</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br>
              <a:rPr lang="en-US" sz="1300">
                <a:solidFill>
                  <a:schemeClr val="dk1"/>
                </a:solidFill>
                <a:latin typeface="Calibri"/>
                <a:ea typeface="Calibri"/>
                <a:cs typeface="Calibri"/>
                <a:sym typeface="Calibri"/>
              </a:rPr>
            </a:br>
            <a:r>
              <a:rPr lang="en-US" sz="1300">
                <a:solidFill>
                  <a:schemeClr val="dk1"/>
                </a:solidFill>
                <a:latin typeface="Calibri"/>
                <a:ea typeface="Calibri"/>
                <a:cs typeface="Calibri"/>
                <a:sym typeface="Calibri"/>
              </a:rPr>
              <a:t>UCD provides the means to keep models and their framing accountable, and to help ensure that AI-derived insights form reliable evidence and insights that can be confidently acted on.</a:t>
            </a:r>
            <a:br>
              <a:rPr lang="en-US" sz="1300">
                <a:solidFill>
                  <a:schemeClr val="dk1"/>
                </a:solidFill>
                <a:latin typeface="Calibri"/>
                <a:ea typeface="Calibri"/>
                <a:cs typeface="Calibri"/>
                <a:sym typeface="Calibri"/>
              </a:rPr>
            </a:br>
            <a:endParaRPr sz="1300">
              <a:solidFill>
                <a:srgbClr val="1B2A4A"/>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p:nvPr/>
        </p:nvSpPr>
        <p:spPr>
          <a:xfrm>
            <a:off x="0" y="-1"/>
            <a:ext cx="9144000" cy="5428343"/>
          </a:xfrm>
          <a:prstGeom prst="rect">
            <a:avLst/>
          </a:prstGeom>
          <a:solidFill>
            <a:srgbClr val="1B2A4A"/>
          </a:solidFill>
          <a:ln cap="flat" cmpd="sng" w="12700">
            <a:solidFill>
              <a:srgbClr val="1B2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10"/>
          <p:cNvSpPr/>
          <p:nvPr/>
        </p:nvSpPr>
        <p:spPr>
          <a:xfrm>
            <a:off x="457200" y="3757895"/>
            <a:ext cx="8412480" cy="42319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FFFFFF"/>
                </a:solidFill>
                <a:latin typeface="Calibri"/>
                <a:ea typeface="Calibri"/>
                <a:cs typeface="Calibri"/>
                <a:sym typeface="Calibri"/>
              </a:rPr>
              <a:t>GDS -</a:t>
            </a:r>
            <a:r>
              <a:rPr lang="en-US" sz="2400">
                <a:solidFill>
                  <a:schemeClr val="dk1"/>
                </a:solidFill>
                <a:latin typeface="Calibri"/>
                <a:ea typeface="Calibri"/>
                <a:cs typeface="Calibri"/>
                <a:sym typeface="Calibri"/>
              </a:rPr>
              <a:t> </a:t>
            </a:r>
            <a:r>
              <a:rPr b="1" lang="en-US" sz="2400">
                <a:solidFill>
                  <a:srgbClr val="FFFFFF"/>
                </a:solidFill>
                <a:latin typeface="Calibri"/>
                <a:ea typeface="Calibri"/>
                <a:cs typeface="Calibri"/>
                <a:sym typeface="Calibri"/>
              </a:rPr>
              <a:t>Government Digital Service </a:t>
            </a:r>
            <a:endParaRPr b="1" sz="2400">
              <a:solidFill>
                <a:srgbClr val="FFFFFF"/>
              </a:solidFill>
              <a:latin typeface="Calibri"/>
              <a:ea typeface="Calibri"/>
              <a:cs typeface="Calibri"/>
              <a:sym typeface="Calibri"/>
            </a:endParaRPr>
          </a:p>
        </p:txBody>
      </p:sp>
      <p:sp>
        <p:nvSpPr>
          <p:cNvPr id="184" name="Google Shape;184;p10"/>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185" name="Google Shape;185;p10"/>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sp>
        <p:nvSpPr>
          <p:cNvPr id="186" name="Google Shape;186;p10"/>
          <p:cNvSpPr/>
          <p:nvPr/>
        </p:nvSpPr>
        <p:spPr>
          <a:xfrm>
            <a:off x="8869680" y="4846320"/>
            <a:ext cx="27432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750"/>
              <a:buFont typeface="Calibri"/>
              <a:buNone/>
            </a:pPr>
            <a:r>
              <a:t/>
            </a:r>
            <a:endParaRPr sz="750">
              <a:solidFill>
                <a:schemeClr val="dk1"/>
              </a:solidFill>
              <a:latin typeface="Calibri"/>
              <a:ea typeface="Calibri"/>
              <a:cs typeface="Calibri"/>
              <a:sym typeface="Calibri"/>
            </a:endParaRPr>
          </a:p>
        </p:txBody>
      </p:sp>
      <p:cxnSp>
        <p:nvCxnSpPr>
          <p:cNvPr id="187" name="Google Shape;187;p10"/>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192" name="Shape 192"/>
        <p:cNvGrpSpPr/>
        <p:nvPr/>
      </p:nvGrpSpPr>
      <p:grpSpPr>
        <a:xfrm>
          <a:off x="0" y="0"/>
          <a:ext cx="0" cy="0"/>
          <a:chOff x="0" y="0"/>
          <a:chExt cx="0" cy="0"/>
        </a:xfrm>
      </p:grpSpPr>
      <p:sp>
        <p:nvSpPr>
          <p:cNvPr id="193" name="Google Shape;193;p11"/>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11"/>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00">
                <a:solidFill>
                  <a:srgbClr val="FFFFFF"/>
                </a:solidFill>
                <a:latin typeface="Calibri"/>
                <a:ea typeface="Calibri"/>
                <a:cs typeface="Calibri"/>
                <a:sym typeface="Calibri"/>
              </a:rPr>
              <a:t>GDS -</a:t>
            </a:r>
            <a:r>
              <a:rPr lang="en-US" sz="2000">
                <a:solidFill>
                  <a:schemeClr val="dk1"/>
                </a:solidFill>
                <a:latin typeface="Calibri"/>
                <a:ea typeface="Calibri"/>
                <a:cs typeface="Calibri"/>
                <a:sym typeface="Calibri"/>
              </a:rPr>
              <a:t> </a:t>
            </a:r>
            <a:r>
              <a:rPr b="1" lang="en-US" sz="2000">
                <a:solidFill>
                  <a:srgbClr val="FFFFFF"/>
                </a:solidFill>
                <a:latin typeface="Calibri"/>
                <a:ea typeface="Calibri"/>
                <a:cs typeface="Calibri"/>
                <a:sym typeface="Calibri"/>
              </a:rPr>
              <a:t>Government Digital Service </a:t>
            </a:r>
            <a:endParaRPr b="1" sz="2000">
              <a:solidFill>
                <a:srgbClr val="FFFFFF"/>
              </a:solidFill>
              <a:latin typeface="Calibri"/>
              <a:ea typeface="Calibri"/>
              <a:cs typeface="Calibri"/>
              <a:sym typeface="Calibri"/>
            </a:endParaRPr>
          </a:p>
        </p:txBody>
      </p:sp>
      <p:sp>
        <p:nvSpPr>
          <p:cNvPr id="195" name="Google Shape;195;p11"/>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196" name="Google Shape;196;p11"/>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197" name="Google Shape;197;p11"/>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
        <p:nvSpPr>
          <p:cNvPr id="198" name="Google Shape;198;p11"/>
          <p:cNvSpPr/>
          <p:nvPr/>
        </p:nvSpPr>
        <p:spPr>
          <a:xfrm>
            <a:off x="320040" y="777240"/>
            <a:ext cx="41605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199" name="Google Shape;199;p11"/>
          <p:cNvSpPr/>
          <p:nvPr/>
        </p:nvSpPr>
        <p:spPr>
          <a:xfrm>
            <a:off x="4572705" y="1143000"/>
            <a:ext cx="4160520" cy="73152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a:off x="4572705" y="1143000"/>
            <a:ext cx="64008" cy="731520"/>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a:off x="4709865" y="1207008"/>
            <a:ext cx="393192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Integrated Digital Framework</a:t>
            </a:r>
            <a:endParaRPr sz="900">
              <a:solidFill>
                <a:schemeClr val="dk1"/>
              </a:solidFill>
              <a:latin typeface="Calibri"/>
              <a:ea typeface="Calibri"/>
              <a:cs typeface="Calibri"/>
              <a:sym typeface="Calibri"/>
            </a:endParaRPr>
          </a:p>
        </p:txBody>
      </p:sp>
      <p:sp>
        <p:nvSpPr>
          <p:cNvPr id="202" name="Google Shape;202;p11"/>
          <p:cNvSpPr/>
          <p:nvPr/>
        </p:nvSpPr>
        <p:spPr>
          <a:xfrm>
            <a:off x="4709865" y="1463040"/>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Shared platforms, technologies, and processes for consistent government services.</a:t>
            </a:r>
            <a:endParaRPr sz="850">
              <a:solidFill>
                <a:schemeClr val="dk1"/>
              </a:solidFill>
              <a:latin typeface="Calibri"/>
              <a:ea typeface="Calibri"/>
              <a:cs typeface="Calibri"/>
              <a:sym typeface="Calibri"/>
            </a:endParaRPr>
          </a:p>
        </p:txBody>
      </p:sp>
      <p:sp>
        <p:nvSpPr>
          <p:cNvPr id="203" name="Google Shape;203;p11"/>
          <p:cNvSpPr/>
          <p:nvPr/>
        </p:nvSpPr>
        <p:spPr>
          <a:xfrm>
            <a:off x="4572705" y="1984248"/>
            <a:ext cx="4160520" cy="73152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
          <p:cNvSpPr/>
          <p:nvPr/>
        </p:nvSpPr>
        <p:spPr>
          <a:xfrm>
            <a:off x="4572705" y="1984248"/>
            <a:ext cx="64008" cy="731520"/>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a:off x="4709865" y="2048256"/>
            <a:ext cx="393192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GOV.UK Design System</a:t>
            </a:r>
            <a:endParaRPr sz="900">
              <a:solidFill>
                <a:schemeClr val="dk1"/>
              </a:solidFill>
              <a:latin typeface="Calibri"/>
              <a:ea typeface="Calibri"/>
              <a:cs typeface="Calibri"/>
              <a:sym typeface="Calibri"/>
            </a:endParaRPr>
          </a:p>
        </p:txBody>
      </p:sp>
      <p:sp>
        <p:nvSpPr>
          <p:cNvPr id="206" name="Google Shape;206;p11"/>
          <p:cNvSpPr/>
          <p:nvPr/>
        </p:nvSpPr>
        <p:spPr>
          <a:xfrm>
            <a:off x="4709865" y="2304288"/>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Standardised styles, components, and patterns across .GOV services.</a:t>
            </a:r>
            <a:endParaRPr sz="850">
              <a:solidFill>
                <a:schemeClr val="dk1"/>
              </a:solidFill>
              <a:latin typeface="Calibri"/>
              <a:ea typeface="Calibri"/>
              <a:cs typeface="Calibri"/>
              <a:sym typeface="Calibri"/>
            </a:endParaRPr>
          </a:p>
        </p:txBody>
      </p:sp>
      <p:sp>
        <p:nvSpPr>
          <p:cNvPr id="207" name="Google Shape;207;p11"/>
          <p:cNvSpPr/>
          <p:nvPr/>
        </p:nvSpPr>
        <p:spPr>
          <a:xfrm>
            <a:off x="4572705" y="2825496"/>
            <a:ext cx="4160520" cy="73152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a:off x="4572705" y="2825496"/>
            <a:ext cx="64008" cy="731520"/>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p:nvPr/>
        </p:nvSpPr>
        <p:spPr>
          <a:xfrm>
            <a:off x="4709865" y="2889504"/>
            <a:ext cx="393192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Shared Services</a:t>
            </a:r>
            <a:endParaRPr sz="900">
              <a:solidFill>
                <a:schemeClr val="dk1"/>
              </a:solidFill>
              <a:latin typeface="Calibri"/>
              <a:ea typeface="Calibri"/>
              <a:cs typeface="Calibri"/>
              <a:sym typeface="Calibri"/>
            </a:endParaRPr>
          </a:p>
        </p:txBody>
      </p:sp>
      <p:sp>
        <p:nvSpPr>
          <p:cNvPr id="210" name="Google Shape;210;p11"/>
          <p:cNvSpPr/>
          <p:nvPr/>
        </p:nvSpPr>
        <p:spPr>
          <a:xfrm>
            <a:off x="4709865" y="3145536"/>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GOV.UK Pay and GOV.UK Notify - streamlining payments and communications.</a:t>
            </a:r>
            <a:endParaRPr sz="850">
              <a:solidFill>
                <a:schemeClr val="dk1"/>
              </a:solidFill>
              <a:latin typeface="Calibri"/>
              <a:ea typeface="Calibri"/>
              <a:cs typeface="Calibri"/>
              <a:sym typeface="Calibri"/>
            </a:endParaRPr>
          </a:p>
        </p:txBody>
      </p:sp>
      <p:sp>
        <p:nvSpPr>
          <p:cNvPr id="211" name="Google Shape;211;p11"/>
          <p:cNvSpPr/>
          <p:nvPr/>
        </p:nvSpPr>
        <p:spPr>
          <a:xfrm>
            <a:off x="4572705" y="3666744"/>
            <a:ext cx="4160520" cy="73152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4572705" y="3666744"/>
            <a:ext cx="64008" cy="731520"/>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a:off x="4709865" y="3730752"/>
            <a:ext cx="393192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Communities of Practice</a:t>
            </a:r>
            <a:endParaRPr sz="900">
              <a:solidFill>
                <a:schemeClr val="dk1"/>
              </a:solidFill>
              <a:latin typeface="Calibri"/>
              <a:ea typeface="Calibri"/>
              <a:cs typeface="Calibri"/>
              <a:sym typeface="Calibri"/>
            </a:endParaRPr>
          </a:p>
        </p:txBody>
      </p:sp>
      <p:sp>
        <p:nvSpPr>
          <p:cNvPr id="214" name="Google Shape;214;p11"/>
          <p:cNvSpPr/>
          <p:nvPr/>
        </p:nvSpPr>
        <p:spPr>
          <a:xfrm>
            <a:off x="4709865" y="3986784"/>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Cross-government Slack and peer networks for shared knowledge and implementation.</a:t>
            </a:r>
            <a:endParaRPr sz="850">
              <a:solidFill>
                <a:schemeClr val="dk1"/>
              </a:solidFill>
              <a:latin typeface="Calibri"/>
              <a:ea typeface="Calibri"/>
              <a:cs typeface="Calibri"/>
              <a:sym typeface="Calibri"/>
            </a:endParaRPr>
          </a:p>
        </p:txBody>
      </p:sp>
      <p:sp>
        <p:nvSpPr>
          <p:cNvPr id="215" name="Google Shape;215;p11"/>
          <p:cNvSpPr/>
          <p:nvPr/>
        </p:nvSpPr>
        <p:spPr>
          <a:xfrm>
            <a:off x="1144633" y="0"/>
            <a:ext cx="2511334" cy="111396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200"/>
              <a:buFont typeface="Calibri"/>
              <a:buNone/>
            </a:pPr>
            <a:r>
              <a:t/>
            </a:r>
            <a:endParaRPr b="1" sz="1200">
              <a:solidFill>
                <a:schemeClr val="dk1"/>
              </a:solidFill>
              <a:latin typeface="Calibri"/>
              <a:ea typeface="Calibri"/>
              <a:cs typeface="Calibri"/>
              <a:sym typeface="Calibri"/>
            </a:endParaRPr>
          </a:p>
        </p:txBody>
      </p:sp>
      <p:sp>
        <p:nvSpPr>
          <p:cNvPr id="216" name="Google Shape;216;p11"/>
          <p:cNvSpPr/>
          <p:nvPr/>
        </p:nvSpPr>
        <p:spPr>
          <a:xfrm>
            <a:off x="320050" y="1151072"/>
            <a:ext cx="4010400" cy="3438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GDS is the UK government's central team, established in 2011, responsible for making government digital services simpler, clearer, and faster to use.</a:t>
            </a:r>
            <a:endParaRPr sz="1000"/>
          </a:p>
          <a:p>
            <a:pPr indent="0" lvl="0" marL="0" marR="0" rtl="0" algn="l">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GDS also provides the standards, tools, and shared infrastructure that help service teams work effectively and consistently across government. </a:t>
            </a:r>
            <a:endParaRPr sz="1000"/>
          </a:p>
          <a:p>
            <a:pPr indent="0" lvl="0" marL="0" marR="0" rtl="0" algn="l">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Using established shared standards and components means that services can be more consistent and effective from the outset.</a:t>
            </a:r>
            <a:endParaRPr sz="1000"/>
          </a:p>
          <a:p>
            <a:pPr indent="0" lvl="0" marL="0" marR="0" rtl="0" algn="l">
              <a:spcBef>
                <a:spcPts val="0"/>
              </a:spcBef>
              <a:spcAft>
                <a:spcPts val="0"/>
              </a:spcAft>
              <a:buNone/>
            </a:pPr>
            <a:br>
              <a:rPr lang="en-US" sz="1000">
                <a:solidFill>
                  <a:schemeClr val="dk1"/>
                </a:solidFill>
                <a:latin typeface="Calibri"/>
                <a:ea typeface="Calibri"/>
                <a:cs typeface="Calibri"/>
                <a:sym typeface="Calibri"/>
              </a:rPr>
            </a:br>
            <a:r>
              <a:rPr lang="en-US" sz="1000">
                <a:solidFill>
                  <a:schemeClr val="dk1"/>
                </a:solidFill>
                <a:latin typeface="Calibri"/>
                <a:ea typeface="Calibri"/>
                <a:cs typeface="Calibri"/>
                <a:sym typeface="Calibri"/>
              </a:rPr>
              <a:t>Beyond tools, GDS offers assurance - service assessments that apply honest, evidence-based scrutiny at key stages, grounding decisions in research rather than assumption.</a:t>
            </a:r>
            <a:br>
              <a:rPr lang="en-US"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The overall offer is coherence: teams operate within a framework that is open, tested, and built on shared values - user need first, evidence over opinion, transparency by default.</a:t>
            </a:r>
            <a:br>
              <a:rPr lang="en-US" sz="1000">
                <a:solidFill>
                  <a:schemeClr val="dk1"/>
                </a:solidFill>
                <a:latin typeface="Calibri"/>
                <a:ea typeface="Calibri"/>
                <a:cs typeface="Calibri"/>
                <a:sym typeface="Calibri"/>
              </a:rPr>
            </a:br>
            <a:br>
              <a:rPr lang="en-US"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sz="10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221" name="Shape 221"/>
        <p:cNvGrpSpPr/>
        <p:nvPr/>
      </p:nvGrpSpPr>
      <p:grpSpPr>
        <a:xfrm>
          <a:off x="0" y="0"/>
          <a:ext cx="0" cy="0"/>
          <a:chOff x="0" y="0"/>
          <a:chExt cx="0" cy="0"/>
        </a:xfrm>
      </p:grpSpPr>
      <p:sp>
        <p:nvSpPr>
          <p:cNvPr id="222" name="Google Shape;222;p12"/>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GDS Principles</a:t>
            </a:r>
            <a:endParaRPr sz="2000">
              <a:solidFill>
                <a:schemeClr val="dk1"/>
              </a:solidFill>
              <a:latin typeface="Calibri"/>
              <a:ea typeface="Calibri"/>
              <a:cs typeface="Calibri"/>
              <a:sym typeface="Calibri"/>
            </a:endParaRPr>
          </a:p>
        </p:txBody>
      </p:sp>
      <p:sp>
        <p:nvSpPr>
          <p:cNvPr id="224" name="Google Shape;224;p12"/>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225" name="Google Shape;225;p12"/>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226" name="Google Shape;226;p12"/>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
        <p:nvSpPr>
          <p:cNvPr id="227" name="Google Shape;227;p12"/>
          <p:cNvSpPr/>
          <p:nvPr/>
        </p:nvSpPr>
        <p:spPr>
          <a:xfrm>
            <a:off x="320040" y="777240"/>
            <a:ext cx="41605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8" name="Google Shape;228;p12"/>
          <p:cNvSpPr/>
          <p:nvPr/>
        </p:nvSpPr>
        <p:spPr>
          <a:xfrm>
            <a:off x="4663440" y="807144"/>
            <a:ext cx="41604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229" name="Google Shape;229;p12"/>
          <p:cNvSpPr/>
          <p:nvPr/>
        </p:nvSpPr>
        <p:spPr>
          <a:xfrm>
            <a:off x="365760" y="1076580"/>
            <a:ext cx="4160400" cy="5853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p:nvPr/>
        </p:nvSpPr>
        <p:spPr>
          <a:xfrm>
            <a:off x="365760" y="1076580"/>
            <a:ext cx="63900" cy="585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2"/>
          <p:cNvSpPr/>
          <p:nvPr/>
        </p:nvSpPr>
        <p:spPr>
          <a:xfrm>
            <a:off x="502920" y="1122300"/>
            <a:ext cx="39318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This is for everyone</a:t>
            </a:r>
            <a:endParaRPr sz="900">
              <a:solidFill>
                <a:schemeClr val="dk1"/>
              </a:solidFill>
              <a:latin typeface="Calibri"/>
              <a:ea typeface="Calibri"/>
              <a:cs typeface="Calibri"/>
              <a:sym typeface="Calibri"/>
            </a:endParaRPr>
          </a:p>
        </p:txBody>
      </p:sp>
      <p:sp>
        <p:nvSpPr>
          <p:cNvPr id="232" name="Google Shape;232;p12"/>
          <p:cNvSpPr/>
          <p:nvPr/>
        </p:nvSpPr>
        <p:spPr>
          <a:xfrm>
            <a:off x="502920" y="1350900"/>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Design for inclusion the outset, including those with access needs, low digital confidence, or non-standard devices.</a:t>
            </a:r>
            <a:endParaRPr sz="800">
              <a:solidFill>
                <a:schemeClr val="dk1"/>
              </a:solidFill>
              <a:latin typeface="Calibri"/>
              <a:ea typeface="Calibri"/>
              <a:cs typeface="Calibri"/>
              <a:sym typeface="Calibri"/>
            </a:endParaRPr>
          </a:p>
        </p:txBody>
      </p:sp>
      <p:sp>
        <p:nvSpPr>
          <p:cNvPr id="233" name="Google Shape;233;p12"/>
          <p:cNvSpPr/>
          <p:nvPr/>
        </p:nvSpPr>
        <p:spPr>
          <a:xfrm>
            <a:off x="365760" y="1744092"/>
            <a:ext cx="4160400" cy="585300"/>
          </a:xfrm>
          <a:prstGeom prst="rect">
            <a:avLst/>
          </a:prstGeom>
          <a:solidFill>
            <a:srgbClr val="D6E8F5"/>
          </a:solidFill>
          <a:ln cap="flat" cmpd="sng" w="9525">
            <a:solidFill>
              <a:srgbClr val="B8C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2"/>
          <p:cNvSpPr/>
          <p:nvPr/>
        </p:nvSpPr>
        <p:spPr>
          <a:xfrm>
            <a:off x="365760" y="1744092"/>
            <a:ext cx="63900" cy="585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502920" y="1789812"/>
            <a:ext cx="39318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Understand context</a:t>
            </a:r>
            <a:endParaRPr sz="900">
              <a:solidFill>
                <a:schemeClr val="dk1"/>
              </a:solidFill>
              <a:latin typeface="Calibri"/>
              <a:ea typeface="Calibri"/>
              <a:cs typeface="Calibri"/>
              <a:sym typeface="Calibri"/>
            </a:endParaRPr>
          </a:p>
        </p:txBody>
      </p:sp>
      <p:sp>
        <p:nvSpPr>
          <p:cNvPr id="236" name="Google Shape;236;p12"/>
          <p:cNvSpPr/>
          <p:nvPr/>
        </p:nvSpPr>
        <p:spPr>
          <a:xfrm>
            <a:off x="502920" y="2018412"/>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Know how, where, and why people use a service, and design around their real circumstances, not assumed ones.</a:t>
            </a:r>
            <a:endParaRPr sz="800">
              <a:solidFill>
                <a:schemeClr val="dk1"/>
              </a:solidFill>
              <a:latin typeface="Calibri"/>
              <a:ea typeface="Calibri"/>
              <a:cs typeface="Calibri"/>
              <a:sym typeface="Calibri"/>
            </a:endParaRPr>
          </a:p>
        </p:txBody>
      </p:sp>
      <p:sp>
        <p:nvSpPr>
          <p:cNvPr id="237" name="Google Shape;237;p12"/>
          <p:cNvSpPr/>
          <p:nvPr/>
        </p:nvSpPr>
        <p:spPr>
          <a:xfrm>
            <a:off x="365760" y="2411604"/>
            <a:ext cx="4160400" cy="585300"/>
          </a:xfrm>
          <a:prstGeom prst="rect">
            <a:avLst/>
          </a:prstGeom>
          <a:solidFill>
            <a:srgbClr val="D6E8F5"/>
          </a:solidFill>
          <a:ln cap="flat" cmpd="sng" w="9525">
            <a:solidFill>
              <a:srgbClr val="B8C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2"/>
          <p:cNvSpPr/>
          <p:nvPr/>
        </p:nvSpPr>
        <p:spPr>
          <a:xfrm>
            <a:off x="365760" y="2411604"/>
            <a:ext cx="63900" cy="585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p:nvPr/>
        </p:nvSpPr>
        <p:spPr>
          <a:xfrm>
            <a:off x="502920" y="2457324"/>
            <a:ext cx="39318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800">
                <a:solidFill>
                  <a:schemeClr val="dk1"/>
                </a:solidFill>
                <a:latin typeface="Calibri"/>
                <a:ea typeface="Calibri"/>
                <a:cs typeface="Calibri"/>
                <a:sym typeface="Calibri"/>
              </a:rPr>
              <a:t>Build digital services not websites</a:t>
            </a:r>
            <a:endParaRPr b="1" sz="800">
              <a:solidFill>
                <a:schemeClr val="dk1"/>
              </a:solidFill>
              <a:latin typeface="Calibri"/>
              <a:ea typeface="Calibri"/>
              <a:cs typeface="Calibri"/>
              <a:sym typeface="Calibri"/>
            </a:endParaRPr>
          </a:p>
        </p:txBody>
      </p:sp>
      <p:sp>
        <p:nvSpPr>
          <p:cNvPr id="240" name="Google Shape;240;p12"/>
          <p:cNvSpPr/>
          <p:nvPr/>
        </p:nvSpPr>
        <p:spPr>
          <a:xfrm>
            <a:off x="502920" y="2685924"/>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Think across the whole user journey, not just the key screens. The service is everything from first contact to final outcomes – and how feedback is utilised.</a:t>
            </a:r>
            <a:endParaRPr sz="800">
              <a:solidFill>
                <a:schemeClr val="dk1"/>
              </a:solidFill>
              <a:latin typeface="Calibri"/>
              <a:ea typeface="Calibri"/>
              <a:cs typeface="Calibri"/>
              <a:sym typeface="Calibri"/>
            </a:endParaRPr>
          </a:p>
        </p:txBody>
      </p:sp>
      <p:sp>
        <p:nvSpPr>
          <p:cNvPr id="241" name="Google Shape;241;p12"/>
          <p:cNvSpPr/>
          <p:nvPr/>
        </p:nvSpPr>
        <p:spPr>
          <a:xfrm>
            <a:off x="365760" y="3079116"/>
            <a:ext cx="4160400" cy="5853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
          <p:cNvSpPr/>
          <p:nvPr/>
        </p:nvSpPr>
        <p:spPr>
          <a:xfrm>
            <a:off x="365760" y="3079116"/>
            <a:ext cx="63900" cy="585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p:nvPr/>
        </p:nvSpPr>
        <p:spPr>
          <a:xfrm>
            <a:off x="502920" y="3124836"/>
            <a:ext cx="39318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Be consistent, not uniform</a:t>
            </a:r>
            <a:endParaRPr sz="900">
              <a:solidFill>
                <a:schemeClr val="dk1"/>
              </a:solidFill>
              <a:latin typeface="Calibri"/>
              <a:ea typeface="Calibri"/>
              <a:cs typeface="Calibri"/>
              <a:sym typeface="Calibri"/>
            </a:endParaRPr>
          </a:p>
        </p:txBody>
      </p:sp>
      <p:sp>
        <p:nvSpPr>
          <p:cNvPr id="244" name="Google Shape;244;p12"/>
          <p:cNvSpPr/>
          <p:nvPr/>
        </p:nvSpPr>
        <p:spPr>
          <a:xfrm>
            <a:off x="502920" y="3353436"/>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Apply common patterns and language where they help users — but build in flexibility for where the context or the user need demands it.</a:t>
            </a:r>
            <a:endParaRPr sz="800">
              <a:solidFill>
                <a:schemeClr val="dk1"/>
              </a:solidFill>
              <a:latin typeface="Calibri"/>
              <a:ea typeface="Calibri"/>
              <a:cs typeface="Calibri"/>
              <a:sym typeface="Calibri"/>
            </a:endParaRPr>
          </a:p>
        </p:txBody>
      </p:sp>
      <p:sp>
        <p:nvSpPr>
          <p:cNvPr id="245" name="Google Shape;245;p12"/>
          <p:cNvSpPr/>
          <p:nvPr/>
        </p:nvSpPr>
        <p:spPr>
          <a:xfrm>
            <a:off x="365760" y="3746628"/>
            <a:ext cx="4160400" cy="5853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
          <p:cNvSpPr/>
          <p:nvPr/>
        </p:nvSpPr>
        <p:spPr>
          <a:xfrm>
            <a:off x="365760" y="3746628"/>
            <a:ext cx="63900" cy="585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2"/>
          <p:cNvSpPr/>
          <p:nvPr/>
        </p:nvSpPr>
        <p:spPr>
          <a:xfrm>
            <a:off x="502920" y="3792348"/>
            <a:ext cx="39318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Make things Open </a:t>
            </a:r>
            <a:endParaRPr sz="900">
              <a:solidFill>
                <a:schemeClr val="dk1"/>
              </a:solidFill>
              <a:latin typeface="Calibri"/>
              <a:ea typeface="Calibri"/>
              <a:cs typeface="Calibri"/>
              <a:sym typeface="Calibri"/>
            </a:endParaRPr>
          </a:p>
        </p:txBody>
      </p:sp>
      <p:sp>
        <p:nvSpPr>
          <p:cNvPr id="248" name="Google Shape;248;p12"/>
          <p:cNvSpPr/>
          <p:nvPr/>
        </p:nvSpPr>
        <p:spPr>
          <a:xfrm>
            <a:off x="502920" y="4020948"/>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Share code, design patterns,  key decisions, and learnings openly. Transparency builds trust and also prevents duplication across government.</a:t>
            </a:r>
            <a:endParaRPr sz="800">
              <a:solidFill>
                <a:schemeClr val="dk1"/>
              </a:solidFill>
              <a:latin typeface="Calibri"/>
              <a:ea typeface="Calibri"/>
              <a:cs typeface="Calibri"/>
              <a:sym typeface="Calibri"/>
            </a:endParaRPr>
          </a:p>
        </p:txBody>
      </p:sp>
      <p:sp>
        <p:nvSpPr>
          <p:cNvPr id="249" name="Google Shape;249;p12"/>
          <p:cNvSpPr/>
          <p:nvPr/>
        </p:nvSpPr>
        <p:spPr>
          <a:xfrm>
            <a:off x="5979523" y="2215310"/>
            <a:ext cx="1644600" cy="1113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750"/>
              <a:buFont typeface="Calibri"/>
              <a:buNone/>
            </a:pPr>
            <a:r>
              <a:t/>
            </a:r>
            <a:endParaRPr sz="750">
              <a:solidFill>
                <a:schemeClr val="dk1"/>
              </a:solidFill>
              <a:latin typeface="Calibri"/>
              <a:ea typeface="Calibri"/>
              <a:cs typeface="Calibri"/>
              <a:sym typeface="Calibri"/>
            </a:endParaRPr>
          </a:p>
        </p:txBody>
      </p:sp>
      <p:sp>
        <p:nvSpPr>
          <p:cNvPr id="250" name="Google Shape;250;p12"/>
          <p:cNvSpPr/>
          <p:nvPr/>
        </p:nvSpPr>
        <p:spPr>
          <a:xfrm>
            <a:off x="4663440" y="1060764"/>
            <a:ext cx="4160400" cy="5853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
          <p:cNvSpPr/>
          <p:nvPr/>
        </p:nvSpPr>
        <p:spPr>
          <a:xfrm>
            <a:off x="4663440" y="1060764"/>
            <a:ext cx="63900" cy="585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p:nvPr/>
        </p:nvSpPr>
        <p:spPr>
          <a:xfrm>
            <a:off x="4800600" y="1106484"/>
            <a:ext cx="39318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Start with user needs</a:t>
            </a:r>
            <a:endParaRPr sz="900">
              <a:solidFill>
                <a:schemeClr val="dk1"/>
              </a:solidFill>
              <a:latin typeface="Calibri"/>
              <a:ea typeface="Calibri"/>
              <a:cs typeface="Calibri"/>
              <a:sym typeface="Calibri"/>
            </a:endParaRPr>
          </a:p>
        </p:txBody>
      </p:sp>
      <p:sp>
        <p:nvSpPr>
          <p:cNvPr id="253" name="Google Shape;253;p12"/>
          <p:cNvSpPr/>
          <p:nvPr/>
        </p:nvSpPr>
        <p:spPr>
          <a:xfrm>
            <a:off x="4800600" y="1335084"/>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Focus on the real goals of all users — end users, delivery teams, stakeholders, and policy roles. Aligned and balanced user needs drive every decision.</a:t>
            </a:r>
            <a:endParaRPr sz="800">
              <a:solidFill>
                <a:schemeClr val="dk1"/>
              </a:solidFill>
              <a:latin typeface="Calibri"/>
              <a:ea typeface="Calibri"/>
              <a:cs typeface="Calibri"/>
              <a:sym typeface="Calibri"/>
            </a:endParaRPr>
          </a:p>
        </p:txBody>
      </p:sp>
      <p:sp>
        <p:nvSpPr>
          <p:cNvPr id="254" name="Google Shape;254;p12"/>
          <p:cNvSpPr/>
          <p:nvPr/>
        </p:nvSpPr>
        <p:spPr>
          <a:xfrm>
            <a:off x="4663440" y="1728276"/>
            <a:ext cx="4160400" cy="5853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2"/>
          <p:cNvSpPr/>
          <p:nvPr/>
        </p:nvSpPr>
        <p:spPr>
          <a:xfrm>
            <a:off x="4663440" y="1728276"/>
            <a:ext cx="63900" cy="585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2"/>
          <p:cNvSpPr/>
          <p:nvPr/>
        </p:nvSpPr>
        <p:spPr>
          <a:xfrm>
            <a:off x="4800600" y="1773996"/>
            <a:ext cx="39318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Do less</a:t>
            </a:r>
            <a:endParaRPr sz="900">
              <a:solidFill>
                <a:schemeClr val="dk1"/>
              </a:solidFill>
              <a:latin typeface="Calibri"/>
              <a:ea typeface="Calibri"/>
              <a:cs typeface="Calibri"/>
              <a:sym typeface="Calibri"/>
            </a:endParaRPr>
          </a:p>
        </p:txBody>
      </p:sp>
      <p:sp>
        <p:nvSpPr>
          <p:cNvPr id="257" name="Google Shape;257;p12"/>
          <p:cNvSpPr/>
          <p:nvPr/>
        </p:nvSpPr>
        <p:spPr>
          <a:xfrm>
            <a:off x="4800600" y="2002596"/>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Reuse GOV.UK tools and platforms; avoid duplicating effort or expense. Concentrate resource and effort where it adds greater value.</a:t>
            </a:r>
            <a:endParaRPr sz="800">
              <a:solidFill>
                <a:schemeClr val="dk1"/>
              </a:solidFill>
              <a:latin typeface="Calibri"/>
              <a:ea typeface="Calibri"/>
              <a:cs typeface="Calibri"/>
              <a:sym typeface="Calibri"/>
            </a:endParaRPr>
          </a:p>
        </p:txBody>
      </p:sp>
      <p:sp>
        <p:nvSpPr>
          <p:cNvPr id="258" name="Google Shape;258;p12"/>
          <p:cNvSpPr/>
          <p:nvPr/>
        </p:nvSpPr>
        <p:spPr>
          <a:xfrm>
            <a:off x="4663440" y="2395788"/>
            <a:ext cx="4160400" cy="5853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2"/>
          <p:cNvSpPr/>
          <p:nvPr/>
        </p:nvSpPr>
        <p:spPr>
          <a:xfrm>
            <a:off x="4663440" y="2395788"/>
            <a:ext cx="63900" cy="585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2"/>
          <p:cNvSpPr/>
          <p:nvPr/>
        </p:nvSpPr>
        <p:spPr>
          <a:xfrm>
            <a:off x="4800600" y="2441508"/>
            <a:ext cx="39318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Design with data</a:t>
            </a:r>
            <a:endParaRPr sz="900">
              <a:solidFill>
                <a:schemeClr val="dk1"/>
              </a:solidFill>
              <a:latin typeface="Calibri"/>
              <a:ea typeface="Calibri"/>
              <a:cs typeface="Calibri"/>
              <a:sym typeface="Calibri"/>
            </a:endParaRPr>
          </a:p>
        </p:txBody>
      </p:sp>
      <p:sp>
        <p:nvSpPr>
          <p:cNvPr id="261" name="Google Shape;261;p12"/>
          <p:cNvSpPr/>
          <p:nvPr/>
        </p:nvSpPr>
        <p:spPr>
          <a:xfrm>
            <a:off x="4800600" y="2670108"/>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Use MI, feedback, and real usage patterns to inform priorities and choices. Let evidence lead, and use it to challenge and refine assumptions and approaches.</a:t>
            </a:r>
            <a:endParaRPr sz="800">
              <a:solidFill>
                <a:schemeClr val="dk1"/>
              </a:solidFill>
              <a:latin typeface="Calibri"/>
              <a:ea typeface="Calibri"/>
              <a:cs typeface="Calibri"/>
              <a:sym typeface="Calibri"/>
            </a:endParaRPr>
          </a:p>
        </p:txBody>
      </p:sp>
      <p:sp>
        <p:nvSpPr>
          <p:cNvPr id="262" name="Google Shape;262;p12"/>
          <p:cNvSpPr/>
          <p:nvPr/>
        </p:nvSpPr>
        <p:spPr>
          <a:xfrm>
            <a:off x="4663440" y="3063300"/>
            <a:ext cx="4160400" cy="5853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
          <p:cNvSpPr/>
          <p:nvPr/>
        </p:nvSpPr>
        <p:spPr>
          <a:xfrm>
            <a:off x="4663440" y="3063300"/>
            <a:ext cx="63900" cy="585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p:nvPr/>
        </p:nvSpPr>
        <p:spPr>
          <a:xfrm>
            <a:off x="4800600" y="3109020"/>
            <a:ext cx="39318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Do the hard work to make it simple</a:t>
            </a:r>
            <a:endParaRPr sz="900">
              <a:solidFill>
                <a:schemeClr val="dk1"/>
              </a:solidFill>
              <a:latin typeface="Calibri"/>
              <a:ea typeface="Calibri"/>
              <a:cs typeface="Calibri"/>
              <a:sym typeface="Calibri"/>
            </a:endParaRPr>
          </a:p>
        </p:txBody>
      </p:sp>
      <p:sp>
        <p:nvSpPr>
          <p:cNvPr id="265" name="Google Shape;265;p12"/>
          <p:cNvSpPr/>
          <p:nvPr/>
        </p:nvSpPr>
        <p:spPr>
          <a:xfrm>
            <a:off x="4800600" y="3337620"/>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Make functions such as complex forms and processes easy to understand and complete. The effort belongs with the design team, not the user.</a:t>
            </a:r>
            <a:endParaRPr sz="800">
              <a:solidFill>
                <a:schemeClr val="dk1"/>
              </a:solidFill>
              <a:latin typeface="Calibri"/>
              <a:ea typeface="Calibri"/>
              <a:cs typeface="Calibri"/>
              <a:sym typeface="Calibri"/>
            </a:endParaRPr>
          </a:p>
        </p:txBody>
      </p:sp>
      <p:sp>
        <p:nvSpPr>
          <p:cNvPr id="266" name="Google Shape;266;p12"/>
          <p:cNvSpPr/>
          <p:nvPr/>
        </p:nvSpPr>
        <p:spPr>
          <a:xfrm>
            <a:off x="4663440" y="3730812"/>
            <a:ext cx="4160400" cy="5853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
          <p:cNvSpPr/>
          <p:nvPr/>
        </p:nvSpPr>
        <p:spPr>
          <a:xfrm>
            <a:off x="4663440" y="3730812"/>
            <a:ext cx="63900" cy="585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4800600" y="3776532"/>
            <a:ext cx="39318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Iterate. Then iterate again.</a:t>
            </a:r>
            <a:endParaRPr sz="900">
              <a:solidFill>
                <a:schemeClr val="dk1"/>
              </a:solidFill>
              <a:latin typeface="Calibri"/>
              <a:ea typeface="Calibri"/>
              <a:cs typeface="Calibri"/>
              <a:sym typeface="Calibri"/>
            </a:endParaRPr>
          </a:p>
        </p:txBody>
      </p:sp>
      <p:sp>
        <p:nvSpPr>
          <p:cNvPr id="269" name="Google Shape;269;p12"/>
          <p:cNvSpPr/>
          <p:nvPr/>
        </p:nvSpPr>
        <p:spPr>
          <a:xfrm>
            <a:off x="4800600" y="4005132"/>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Calibri"/>
                <a:ea typeface="Calibri"/>
                <a:cs typeface="Calibri"/>
                <a:sym typeface="Calibri"/>
              </a:rPr>
              <a:t>Make continuous improvement core to how the service runs. Update regularly, learn from every cycle, and seek to take managed risks and learn from them.</a:t>
            </a:r>
            <a:endParaRPr sz="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274" name="Shape 274"/>
        <p:cNvGrpSpPr/>
        <p:nvPr/>
      </p:nvGrpSpPr>
      <p:grpSpPr>
        <a:xfrm>
          <a:off x="0" y="0"/>
          <a:ext cx="0" cy="0"/>
          <a:chOff x="0" y="0"/>
          <a:chExt cx="0" cy="0"/>
        </a:xfrm>
      </p:grpSpPr>
      <p:sp>
        <p:nvSpPr>
          <p:cNvPr id="275" name="Google Shape;275;p13"/>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3"/>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GDS In Practice</a:t>
            </a:r>
            <a:endParaRPr sz="2000">
              <a:solidFill>
                <a:schemeClr val="dk1"/>
              </a:solidFill>
              <a:latin typeface="Calibri"/>
              <a:ea typeface="Calibri"/>
              <a:cs typeface="Calibri"/>
              <a:sym typeface="Calibri"/>
            </a:endParaRPr>
          </a:p>
        </p:txBody>
      </p:sp>
      <p:sp>
        <p:nvSpPr>
          <p:cNvPr id="277" name="Google Shape;277;p13"/>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278" name="Google Shape;278;p13"/>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279" name="Google Shape;279;p13"/>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
        <p:nvSpPr>
          <p:cNvPr id="280" name="Google Shape;280;p13"/>
          <p:cNvSpPr/>
          <p:nvPr/>
        </p:nvSpPr>
        <p:spPr>
          <a:xfrm>
            <a:off x="320040" y="804672"/>
            <a:ext cx="4160520" cy="118872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320040" y="804672"/>
            <a:ext cx="64008" cy="118872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3"/>
          <p:cNvSpPr/>
          <p:nvPr/>
        </p:nvSpPr>
        <p:spPr>
          <a:xfrm>
            <a:off x="457200" y="896112"/>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lang="en-US" sz="1000">
                <a:solidFill>
                  <a:srgbClr val="1B2A4A"/>
                </a:solidFill>
                <a:latin typeface="Calibri"/>
                <a:ea typeface="Calibri"/>
                <a:cs typeface="Calibri"/>
                <a:sym typeface="Calibri"/>
              </a:rPr>
              <a:t>Service Standards</a:t>
            </a:r>
            <a:endParaRPr sz="1000">
              <a:solidFill>
                <a:schemeClr val="dk1"/>
              </a:solidFill>
              <a:latin typeface="Calibri"/>
              <a:ea typeface="Calibri"/>
              <a:cs typeface="Calibri"/>
              <a:sym typeface="Calibri"/>
            </a:endParaRPr>
          </a:p>
        </p:txBody>
      </p:sp>
      <p:sp>
        <p:nvSpPr>
          <p:cNvPr id="283" name="Google Shape;283;p13"/>
          <p:cNvSpPr/>
          <p:nvPr/>
        </p:nvSpPr>
        <p:spPr>
          <a:xfrm>
            <a:off x="457200" y="1188725"/>
            <a:ext cx="4023300" cy="71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lang="en-US" sz="900">
                <a:solidFill>
                  <a:srgbClr val="1B2A4A"/>
                </a:solidFill>
                <a:latin typeface="Calibri"/>
                <a:ea typeface="Calibri"/>
                <a:cs typeface="Calibri"/>
                <a:sym typeface="Calibri"/>
              </a:rPr>
              <a:t>Clear standards for usability, compliance, accessibility, security, and performance applied throughout the project. Where standards cannot be fully met, this </a:t>
            </a:r>
            <a:r>
              <a:rPr lang="en-US" sz="900">
                <a:solidFill>
                  <a:srgbClr val="1B2A4A"/>
                </a:solidFill>
                <a:latin typeface="Calibri"/>
                <a:ea typeface="Calibri"/>
                <a:cs typeface="Calibri"/>
                <a:sym typeface="Calibri"/>
              </a:rPr>
              <a:t>should be noted, and clear timebound </a:t>
            </a:r>
            <a:r>
              <a:rPr lang="en-US" sz="900">
                <a:solidFill>
                  <a:srgbClr val="1B2A4A"/>
                </a:solidFill>
                <a:latin typeface="Calibri"/>
                <a:ea typeface="Calibri"/>
                <a:cs typeface="Calibri"/>
                <a:sym typeface="Calibri"/>
              </a:rPr>
              <a:t>commitments made in the service roadmap.</a:t>
            </a:r>
            <a:endParaRPr sz="900">
              <a:solidFill>
                <a:schemeClr val="dk1"/>
              </a:solidFill>
              <a:latin typeface="Calibri"/>
              <a:ea typeface="Calibri"/>
              <a:cs typeface="Calibri"/>
              <a:sym typeface="Calibri"/>
            </a:endParaRPr>
          </a:p>
        </p:txBody>
      </p:sp>
      <p:sp>
        <p:nvSpPr>
          <p:cNvPr id="284" name="Google Shape;284;p13"/>
          <p:cNvSpPr/>
          <p:nvPr/>
        </p:nvSpPr>
        <p:spPr>
          <a:xfrm>
            <a:off x="4663440" y="804672"/>
            <a:ext cx="4160520" cy="118872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3"/>
          <p:cNvSpPr/>
          <p:nvPr/>
        </p:nvSpPr>
        <p:spPr>
          <a:xfrm>
            <a:off x="4663440" y="804672"/>
            <a:ext cx="64008" cy="118872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3"/>
          <p:cNvSpPr/>
          <p:nvPr/>
        </p:nvSpPr>
        <p:spPr>
          <a:xfrm>
            <a:off x="4800600" y="896112"/>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lang="en-US" sz="1000">
                <a:solidFill>
                  <a:srgbClr val="1B2A4A"/>
                </a:solidFill>
                <a:latin typeface="Calibri"/>
                <a:ea typeface="Calibri"/>
                <a:cs typeface="Calibri"/>
                <a:sym typeface="Calibri"/>
              </a:rPr>
              <a:t>Leadership Advocacy</a:t>
            </a:r>
            <a:endParaRPr sz="1000">
              <a:solidFill>
                <a:schemeClr val="dk1"/>
              </a:solidFill>
              <a:latin typeface="Calibri"/>
              <a:ea typeface="Calibri"/>
              <a:cs typeface="Calibri"/>
              <a:sym typeface="Calibri"/>
            </a:endParaRPr>
          </a:p>
        </p:txBody>
      </p:sp>
      <p:sp>
        <p:nvSpPr>
          <p:cNvPr id="287" name="Google Shape;287;p13"/>
          <p:cNvSpPr/>
          <p:nvPr/>
        </p:nvSpPr>
        <p:spPr>
          <a:xfrm>
            <a:off x="4800600" y="1188720"/>
            <a:ext cx="393192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lang="en-US" sz="900">
                <a:solidFill>
                  <a:srgbClr val="1B2A4A"/>
                </a:solidFill>
                <a:latin typeface="Calibri"/>
                <a:ea typeface="Calibri"/>
                <a:cs typeface="Calibri"/>
                <a:sym typeface="Calibri"/>
              </a:rPr>
              <a:t>Leadership actively champions GDS principles and integrates them into decision-making, delivery and assessment. Insights, knowledge and learning outcomes are shared across teams and Departments.</a:t>
            </a:r>
            <a:endParaRPr sz="900">
              <a:solidFill>
                <a:schemeClr val="dk1"/>
              </a:solidFill>
              <a:latin typeface="Calibri"/>
              <a:ea typeface="Calibri"/>
              <a:cs typeface="Calibri"/>
              <a:sym typeface="Calibri"/>
            </a:endParaRPr>
          </a:p>
        </p:txBody>
      </p:sp>
      <p:sp>
        <p:nvSpPr>
          <p:cNvPr id="288" name="Google Shape;288;p13"/>
          <p:cNvSpPr/>
          <p:nvPr/>
        </p:nvSpPr>
        <p:spPr>
          <a:xfrm>
            <a:off x="320040" y="2130552"/>
            <a:ext cx="4160520" cy="118872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3"/>
          <p:cNvSpPr/>
          <p:nvPr/>
        </p:nvSpPr>
        <p:spPr>
          <a:xfrm>
            <a:off x="320040" y="2130552"/>
            <a:ext cx="64008" cy="118872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457200" y="2221992"/>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lang="en-US" sz="1000">
                <a:solidFill>
                  <a:srgbClr val="1B2A4A"/>
                </a:solidFill>
                <a:latin typeface="Calibri"/>
                <a:ea typeface="Calibri"/>
                <a:cs typeface="Calibri"/>
                <a:sym typeface="Calibri"/>
              </a:rPr>
              <a:t>Empowering People</a:t>
            </a:r>
            <a:endParaRPr sz="1000">
              <a:solidFill>
                <a:schemeClr val="dk1"/>
              </a:solidFill>
              <a:latin typeface="Calibri"/>
              <a:ea typeface="Calibri"/>
              <a:cs typeface="Calibri"/>
              <a:sym typeface="Calibri"/>
            </a:endParaRPr>
          </a:p>
        </p:txBody>
      </p:sp>
      <p:sp>
        <p:nvSpPr>
          <p:cNvPr id="291" name="Google Shape;291;p13"/>
          <p:cNvSpPr/>
          <p:nvPr/>
        </p:nvSpPr>
        <p:spPr>
          <a:xfrm>
            <a:off x="457200" y="2514600"/>
            <a:ext cx="4023300" cy="71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lang="en-US" sz="900">
                <a:solidFill>
                  <a:srgbClr val="1B2A4A"/>
                </a:solidFill>
                <a:latin typeface="Calibri"/>
                <a:ea typeface="Calibri"/>
                <a:cs typeface="Calibri"/>
                <a:sym typeface="Calibri"/>
              </a:rPr>
              <a:t>Teams apply and evolve design principles in daily work, supporting delivery and continuous improvement, both for services and ways of </a:t>
            </a:r>
            <a:r>
              <a:rPr lang="en-US" sz="900">
                <a:solidFill>
                  <a:srgbClr val="1B2A4A"/>
                </a:solidFill>
                <a:latin typeface="Calibri"/>
                <a:ea typeface="Calibri"/>
                <a:cs typeface="Calibri"/>
                <a:sym typeface="Calibri"/>
              </a:rPr>
              <a:t>working</a:t>
            </a:r>
            <a:r>
              <a:rPr lang="en-US" sz="900">
                <a:solidFill>
                  <a:srgbClr val="1B2A4A"/>
                </a:solidFill>
                <a:latin typeface="Calibri"/>
                <a:ea typeface="Calibri"/>
                <a:cs typeface="Calibri"/>
                <a:sym typeface="Calibri"/>
              </a:rPr>
              <a:t>. People should feel </a:t>
            </a:r>
            <a:r>
              <a:rPr lang="en-US" sz="900">
                <a:solidFill>
                  <a:srgbClr val="1B2A4A"/>
                </a:solidFill>
                <a:latin typeface="Calibri"/>
                <a:ea typeface="Calibri"/>
                <a:cs typeface="Calibri"/>
                <a:sym typeface="Calibri"/>
              </a:rPr>
              <a:t>empowered</a:t>
            </a:r>
            <a:r>
              <a:rPr lang="en-US" sz="900">
                <a:solidFill>
                  <a:srgbClr val="1B2A4A"/>
                </a:solidFill>
                <a:latin typeface="Calibri"/>
                <a:ea typeface="Calibri"/>
                <a:cs typeface="Calibri"/>
                <a:sym typeface="Calibri"/>
              </a:rPr>
              <a:t> to speak up especially around team challenges and project risks.</a:t>
            </a:r>
            <a:endParaRPr sz="900">
              <a:solidFill>
                <a:schemeClr val="dk1"/>
              </a:solidFill>
              <a:latin typeface="Calibri"/>
              <a:ea typeface="Calibri"/>
              <a:cs typeface="Calibri"/>
              <a:sym typeface="Calibri"/>
            </a:endParaRPr>
          </a:p>
        </p:txBody>
      </p:sp>
      <p:sp>
        <p:nvSpPr>
          <p:cNvPr id="292" name="Google Shape;292;p13"/>
          <p:cNvSpPr/>
          <p:nvPr/>
        </p:nvSpPr>
        <p:spPr>
          <a:xfrm>
            <a:off x="4663440" y="2130552"/>
            <a:ext cx="4160520" cy="118872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p:nvPr/>
        </p:nvSpPr>
        <p:spPr>
          <a:xfrm>
            <a:off x="4663440" y="2130552"/>
            <a:ext cx="64008" cy="118872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3"/>
          <p:cNvSpPr/>
          <p:nvPr/>
        </p:nvSpPr>
        <p:spPr>
          <a:xfrm>
            <a:off x="4800600" y="2221992"/>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lang="en-US" sz="1000">
                <a:solidFill>
                  <a:srgbClr val="1B2A4A"/>
                </a:solidFill>
                <a:latin typeface="Calibri"/>
                <a:ea typeface="Calibri"/>
                <a:cs typeface="Calibri"/>
                <a:sym typeface="Calibri"/>
              </a:rPr>
              <a:t>End-to-End Delivery</a:t>
            </a:r>
            <a:endParaRPr sz="1000">
              <a:solidFill>
                <a:schemeClr val="dk1"/>
              </a:solidFill>
              <a:latin typeface="Calibri"/>
              <a:ea typeface="Calibri"/>
              <a:cs typeface="Calibri"/>
              <a:sym typeface="Calibri"/>
            </a:endParaRPr>
          </a:p>
        </p:txBody>
      </p:sp>
      <p:sp>
        <p:nvSpPr>
          <p:cNvPr id="295" name="Google Shape;295;p13"/>
          <p:cNvSpPr/>
          <p:nvPr/>
        </p:nvSpPr>
        <p:spPr>
          <a:xfrm>
            <a:off x="4800600" y="2514600"/>
            <a:ext cx="393192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lang="en-US" sz="900">
                <a:solidFill>
                  <a:srgbClr val="1B2A4A"/>
                </a:solidFill>
                <a:latin typeface="Calibri"/>
                <a:ea typeface="Calibri"/>
                <a:cs typeface="Calibri"/>
                <a:sym typeface="Calibri"/>
              </a:rPr>
              <a:t>Services are designed holistically - from user engagement, testing onboarding and defining service standards, to operations, support and service evaluation. </a:t>
            </a:r>
            <a:r>
              <a:rPr lang="en-US" sz="900">
                <a:solidFill>
                  <a:srgbClr val="1B2A4A"/>
                </a:solidFill>
                <a:latin typeface="Calibri"/>
                <a:ea typeface="Calibri"/>
                <a:cs typeface="Calibri"/>
                <a:sym typeface="Calibri"/>
              </a:rPr>
              <a:t>Services are grounded in user needs from the outset, and designed to meet open standards, common components and the right technology choices.</a:t>
            </a:r>
            <a:endParaRPr sz="900">
              <a:solidFill>
                <a:schemeClr val="dk1"/>
              </a:solidFill>
              <a:latin typeface="Calibri"/>
              <a:ea typeface="Calibri"/>
              <a:cs typeface="Calibri"/>
              <a:sym typeface="Calibri"/>
            </a:endParaRPr>
          </a:p>
        </p:txBody>
      </p:sp>
      <p:sp>
        <p:nvSpPr>
          <p:cNvPr id="296" name="Google Shape;296;p13"/>
          <p:cNvSpPr/>
          <p:nvPr/>
        </p:nvSpPr>
        <p:spPr>
          <a:xfrm>
            <a:off x="320040" y="3456432"/>
            <a:ext cx="4160520" cy="118872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3"/>
          <p:cNvSpPr/>
          <p:nvPr/>
        </p:nvSpPr>
        <p:spPr>
          <a:xfrm>
            <a:off x="320040" y="3456432"/>
            <a:ext cx="64008" cy="118872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p:nvPr/>
        </p:nvSpPr>
        <p:spPr>
          <a:xfrm>
            <a:off x="457200" y="3547872"/>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lang="en-US" sz="1000">
                <a:solidFill>
                  <a:srgbClr val="1B2A4A"/>
                </a:solidFill>
                <a:latin typeface="Calibri"/>
                <a:ea typeface="Calibri"/>
                <a:cs typeface="Calibri"/>
                <a:sym typeface="Calibri"/>
              </a:rPr>
              <a:t>Data-Driven Decisions</a:t>
            </a:r>
            <a:endParaRPr sz="1000">
              <a:solidFill>
                <a:schemeClr val="dk1"/>
              </a:solidFill>
              <a:latin typeface="Calibri"/>
              <a:ea typeface="Calibri"/>
              <a:cs typeface="Calibri"/>
              <a:sym typeface="Calibri"/>
            </a:endParaRPr>
          </a:p>
        </p:txBody>
      </p:sp>
      <p:sp>
        <p:nvSpPr>
          <p:cNvPr id="299" name="Google Shape;299;p13"/>
          <p:cNvSpPr/>
          <p:nvPr/>
        </p:nvSpPr>
        <p:spPr>
          <a:xfrm>
            <a:off x="457200" y="3840480"/>
            <a:ext cx="393192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lang="en-US" sz="900">
                <a:solidFill>
                  <a:srgbClr val="1B2A4A"/>
                </a:solidFill>
                <a:latin typeface="Calibri"/>
                <a:ea typeface="Calibri"/>
                <a:cs typeface="Calibri"/>
                <a:sym typeface="Calibri"/>
              </a:rPr>
              <a:t>Decisions</a:t>
            </a:r>
            <a:r>
              <a:rPr lang="en-US" sz="900">
                <a:solidFill>
                  <a:srgbClr val="1B2A4A"/>
                </a:solidFill>
                <a:latin typeface="Calibri"/>
                <a:ea typeface="Calibri"/>
                <a:cs typeface="Calibri"/>
                <a:sym typeface="Calibri"/>
              </a:rPr>
              <a:t> are made using a clear </a:t>
            </a:r>
            <a:r>
              <a:rPr lang="en-US" sz="900">
                <a:solidFill>
                  <a:srgbClr val="1B2A4A"/>
                </a:solidFill>
                <a:latin typeface="Calibri"/>
                <a:ea typeface="Calibri"/>
                <a:cs typeface="Calibri"/>
                <a:sym typeface="Calibri"/>
              </a:rPr>
              <a:t>evidence</a:t>
            </a:r>
            <a:r>
              <a:rPr lang="en-US" sz="900">
                <a:solidFill>
                  <a:srgbClr val="1B2A4A"/>
                </a:solidFill>
                <a:latin typeface="Calibri"/>
                <a:ea typeface="Calibri"/>
                <a:cs typeface="Calibri"/>
                <a:sym typeface="Calibri"/>
              </a:rPr>
              <a:t> base. Data from </a:t>
            </a:r>
            <a:r>
              <a:rPr lang="en-US" sz="900">
                <a:solidFill>
                  <a:srgbClr val="1B2A4A"/>
                </a:solidFill>
                <a:latin typeface="Calibri"/>
                <a:ea typeface="Calibri"/>
                <a:cs typeface="Calibri"/>
                <a:sym typeface="Calibri"/>
              </a:rPr>
              <a:t>MI, user feedback, and behavioural insight are used to guide ongoing improvements and prioritisation. Care is taken to ensure that data is </a:t>
            </a:r>
            <a:r>
              <a:rPr lang="en-US" sz="900">
                <a:solidFill>
                  <a:srgbClr val="1B2A4A"/>
                </a:solidFill>
                <a:latin typeface="Calibri"/>
                <a:ea typeface="Calibri"/>
                <a:cs typeface="Calibri"/>
                <a:sym typeface="Calibri"/>
              </a:rPr>
              <a:t>representative</a:t>
            </a:r>
            <a:r>
              <a:rPr lang="en-US" sz="900">
                <a:solidFill>
                  <a:srgbClr val="1B2A4A"/>
                </a:solidFill>
                <a:latin typeface="Calibri"/>
                <a:ea typeface="Calibri"/>
                <a:cs typeface="Calibri"/>
                <a:sym typeface="Calibri"/>
              </a:rPr>
              <a:t> and </a:t>
            </a:r>
            <a:r>
              <a:rPr lang="en-US" sz="900">
                <a:solidFill>
                  <a:srgbClr val="1B2A4A"/>
                </a:solidFill>
                <a:latin typeface="Calibri"/>
                <a:ea typeface="Calibri"/>
                <a:cs typeface="Calibri"/>
                <a:sym typeface="Calibri"/>
              </a:rPr>
              <a:t>unbiased</a:t>
            </a:r>
            <a:r>
              <a:rPr lang="en-US" sz="900">
                <a:solidFill>
                  <a:srgbClr val="1B2A4A"/>
                </a:solidFill>
                <a:latin typeface="Calibri"/>
                <a:ea typeface="Calibri"/>
                <a:cs typeface="Calibri"/>
                <a:sym typeface="Calibri"/>
              </a:rPr>
              <a:t>.</a:t>
            </a:r>
            <a:endParaRPr sz="900">
              <a:solidFill>
                <a:schemeClr val="dk1"/>
              </a:solidFill>
              <a:latin typeface="Calibri"/>
              <a:ea typeface="Calibri"/>
              <a:cs typeface="Calibri"/>
              <a:sym typeface="Calibri"/>
            </a:endParaRPr>
          </a:p>
        </p:txBody>
      </p:sp>
      <p:sp>
        <p:nvSpPr>
          <p:cNvPr id="300" name="Google Shape;300;p13"/>
          <p:cNvSpPr/>
          <p:nvPr/>
        </p:nvSpPr>
        <p:spPr>
          <a:xfrm>
            <a:off x="4663440" y="3456432"/>
            <a:ext cx="4160520" cy="118872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3"/>
          <p:cNvSpPr/>
          <p:nvPr/>
        </p:nvSpPr>
        <p:spPr>
          <a:xfrm>
            <a:off x="4663440" y="3456432"/>
            <a:ext cx="64008" cy="118872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p:nvPr/>
        </p:nvSpPr>
        <p:spPr>
          <a:xfrm>
            <a:off x="4800600" y="3547872"/>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lang="en-US" sz="1000">
                <a:solidFill>
                  <a:srgbClr val="1B2A4A"/>
                </a:solidFill>
                <a:latin typeface="Calibri"/>
                <a:ea typeface="Calibri"/>
                <a:cs typeface="Calibri"/>
                <a:sym typeface="Calibri"/>
              </a:rPr>
              <a:t>Transparency &amp; Collaboration</a:t>
            </a:r>
            <a:endParaRPr sz="1000">
              <a:solidFill>
                <a:schemeClr val="dk1"/>
              </a:solidFill>
              <a:latin typeface="Calibri"/>
              <a:ea typeface="Calibri"/>
              <a:cs typeface="Calibri"/>
              <a:sym typeface="Calibri"/>
            </a:endParaRPr>
          </a:p>
        </p:txBody>
      </p:sp>
      <p:sp>
        <p:nvSpPr>
          <p:cNvPr id="303" name="Google Shape;303;p13"/>
          <p:cNvSpPr/>
          <p:nvPr/>
        </p:nvSpPr>
        <p:spPr>
          <a:xfrm>
            <a:off x="4800600" y="3840480"/>
            <a:ext cx="3931920" cy="7132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900">
                <a:solidFill>
                  <a:srgbClr val="1B2A4A"/>
                </a:solidFill>
                <a:latin typeface="Calibri"/>
                <a:ea typeface="Calibri"/>
                <a:cs typeface="Calibri"/>
                <a:sym typeface="Calibri"/>
              </a:rPr>
              <a:t>Plans and decisions are recorded and shared, to build trust and maintain clear direction, both inside and outside the team. Public Sector commitments to </a:t>
            </a:r>
            <a:r>
              <a:rPr lang="en-US" sz="900">
                <a:solidFill>
                  <a:srgbClr val="1B2A4A"/>
                </a:solidFill>
                <a:latin typeface="Calibri"/>
                <a:ea typeface="Calibri"/>
                <a:cs typeface="Calibri"/>
                <a:sym typeface="Calibri"/>
              </a:rPr>
              <a:t>transparency</a:t>
            </a:r>
            <a:r>
              <a:rPr lang="en-US" sz="900">
                <a:solidFill>
                  <a:srgbClr val="1B2A4A"/>
                </a:solidFill>
                <a:latin typeface="Calibri"/>
                <a:ea typeface="Calibri"/>
                <a:cs typeface="Calibri"/>
                <a:sym typeface="Calibri"/>
              </a:rPr>
              <a:t> and </a:t>
            </a:r>
            <a:r>
              <a:rPr lang="en-US" sz="900">
                <a:solidFill>
                  <a:srgbClr val="1B2A4A"/>
                </a:solidFill>
                <a:latin typeface="Calibri"/>
                <a:ea typeface="Calibri"/>
                <a:cs typeface="Calibri"/>
                <a:sym typeface="Calibri"/>
              </a:rPr>
              <a:t>accountability</a:t>
            </a:r>
            <a:r>
              <a:rPr lang="en-US" sz="900">
                <a:solidFill>
                  <a:srgbClr val="1B2A4A"/>
                </a:solidFill>
                <a:latin typeface="Calibri"/>
                <a:ea typeface="Calibri"/>
                <a:cs typeface="Calibri"/>
                <a:sym typeface="Calibri"/>
              </a:rPr>
              <a:t> should be met wherever possible.</a:t>
            </a:r>
            <a:endParaRPr sz="9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4"/>
          <p:cNvSpPr/>
          <p:nvPr/>
        </p:nvSpPr>
        <p:spPr>
          <a:xfrm>
            <a:off x="0" y="-1"/>
            <a:ext cx="9144000" cy="5428343"/>
          </a:xfrm>
          <a:prstGeom prst="rect">
            <a:avLst/>
          </a:prstGeom>
          <a:solidFill>
            <a:srgbClr val="1B2A4A"/>
          </a:solidFill>
          <a:ln cap="flat" cmpd="sng" w="12700">
            <a:solidFill>
              <a:srgbClr val="1B2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4"/>
          <p:cNvSpPr/>
          <p:nvPr/>
        </p:nvSpPr>
        <p:spPr>
          <a:xfrm>
            <a:off x="457200" y="3775147"/>
            <a:ext cx="8412480" cy="42319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FFFFFF"/>
                </a:solidFill>
                <a:latin typeface="Calibri"/>
                <a:ea typeface="Calibri"/>
                <a:cs typeface="Calibri"/>
                <a:sym typeface="Calibri"/>
              </a:rPr>
              <a:t>Agile</a:t>
            </a:r>
            <a:endParaRPr b="1" sz="2400">
              <a:solidFill>
                <a:srgbClr val="FFFFFF"/>
              </a:solidFill>
              <a:latin typeface="Calibri"/>
              <a:ea typeface="Calibri"/>
              <a:cs typeface="Calibri"/>
              <a:sym typeface="Calibri"/>
            </a:endParaRPr>
          </a:p>
        </p:txBody>
      </p:sp>
      <p:sp>
        <p:nvSpPr>
          <p:cNvPr id="311" name="Google Shape;311;p14"/>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312" name="Google Shape;312;p14"/>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sp>
        <p:nvSpPr>
          <p:cNvPr id="313" name="Google Shape;313;p14"/>
          <p:cNvSpPr/>
          <p:nvPr/>
        </p:nvSpPr>
        <p:spPr>
          <a:xfrm>
            <a:off x="8869680" y="4846320"/>
            <a:ext cx="27432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750"/>
              <a:buFont typeface="Calibri"/>
              <a:buNone/>
            </a:pPr>
            <a:r>
              <a:t/>
            </a:r>
            <a:endParaRPr sz="750">
              <a:solidFill>
                <a:schemeClr val="dk1"/>
              </a:solidFill>
              <a:latin typeface="Calibri"/>
              <a:ea typeface="Calibri"/>
              <a:cs typeface="Calibri"/>
              <a:sym typeface="Calibri"/>
            </a:endParaRPr>
          </a:p>
        </p:txBody>
      </p:sp>
      <p:cxnSp>
        <p:nvCxnSpPr>
          <p:cNvPr id="314" name="Google Shape;314;p14"/>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5"/>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5"/>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Design meets Agile</a:t>
            </a:r>
            <a:endParaRPr sz="2000">
              <a:solidFill>
                <a:schemeClr val="dk1"/>
              </a:solidFill>
              <a:latin typeface="Calibri"/>
              <a:ea typeface="Calibri"/>
              <a:cs typeface="Calibri"/>
              <a:sym typeface="Calibri"/>
            </a:endParaRPr>
          </a:p>
        </p:txBody>
      </p:sp>
      <p:sp>
        <p:nvSpPr>
          <p:cNvPr id="322" name="Google Shape;322;p15"/>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323" name="Google Shape;323;p15"/>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324" name="Google Shape;324;p15"/>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
        <p:nvSpPr>
          <p:cNvPr id="325" name="Google Shape;325;p15"/>
          <p:cNvSpPr/>
          <p:nvPr/>
        </p:nvSpPr>
        <p:spPr>
          <a:xfrm>
            <a:off x="320040" y="777240"/>
            <a:ext cx="64008" cy="38862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5"/>
          <p:cNvSpPr/>
          <p:nvPr/>
        </p:nvSpPr>
        <p:spPr>
          <a:xfrm>
            <a:off x="3172968" y="777240"/>
            <a:ext cx="64008" cy="38862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a:off x="562356" y="912990"/>
            <a:ext cx="2514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lang="en-US" sz="1100">
                <a:solidFill>
                  <a:srgbClr val="1B2A4A"/>
                </a:solidFill>
                <a:latin typeface="Calibri"/>
                <a:ea typeface="Calibri"/>
                <a:cs typeface="Calibri"/>
                <a:sym typeface="Calibri"/>
              </a:rPr>
              <a:t>The Double Diamond</a:t>
            </a:r>
            <a:endParaRPr sz="1100">
              <a:solidFill>
                <a:schemeClr val="dk1"/>
              </a:solidFill>
              <a:latin typeface="Calibri"/>
              <a:ea typeface="Calibri"/>
              <a:cs typeface="Calibri"/>
              <a:sym typeface="Calibri"/>
            </a:endParaRPr>
          </a:p>
        </p:txBody>
      </p:sp>
      <p:sp>
        <p:nvSpPr>
          <p:cNvPr id="328" name="Google Shape;328;p15"/>
          <p:cNvSpPr/>
          <p:nvPr/>
        </p:nvSpPr>
        <p:spPr>
          <a:xfrm>
            <a:off x="562356" y="1260462"/>
            <a:ext cx="2514600" cy="3337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lang="en-US" sz="950">
                <a:solidFill>
                  <a:srgbClr val="1B2A4A"/>
                </a:solidFill>
                <a:latin typeface="Calibri"/>
                <a:ea typeface="Calibri"/>
                <a:cs typeface="Calibri"/>
                <a:sym typeface="Calibri"/>
              </a:rPr>
              <a:t>The Double Diamond is a visual representation of a design and innovation process.</a:t>
            </a:r>
            <a:endParaRPr sz="9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950"/>
              <a:buFont typeface="Calibri"/>
              <a:buNone/>
            </a:pPr>
            <a:r>
              <a:rPr lang="en-US" sz="950">
                <a:solidFill>
                  <a:srgbClr val="1B2A4A"/>
                </a:solidFill>
                <a:latin typeface="Calibri"/>
                <a:ea typeface="Calibri"/>
                <a:cs typeface="Calibri"/>
                <a:sym typeface="Calibri"/>
              </a:rPr>
              <a:t>It is often interpreted as being linear - but it's cyclical. Divergent thinking (discover and define) alternates with convergent thinking (develop and deliver).</a:t>
            </a:r>
            <a:endParaRPr sz="950">
              <a:solidFill>
                <a:schemeClr val="dk1"/>
              </a:solidFill>
              <a:latin typeface="Calibri"/>
              <a:ea typeface="Calibri"/>
              <a:cs typeface="Calibri"/>
              <a:sym typeface="Calibri"/>
            </a:endParaRPr>
          </a:p>
        </p:txBody>
      </p:sp>
      <p:sp>
        <p:nvSpPr>
          <p:cNvPr id="329" name="Google Shape;329;p15"/>
          <p:cNvSpPr/>
          <p:nvPr/>
        </p:nvSpPr>
        <p:spPr>
          <a:xfrm>
            <a:off x="6025896" y="777240"/>
            <a:ext cx="64008" cy="38862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p:nvPr/>
        </p:nvSpPr>
        <p:spPr>
          <a:xfrm>
            <a:off x="6293687" y="841248"/>
            <a:ext cx="2514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lang="en-US" sz="1100">
                <a:solidFill>
                  <a:srgbClr val="1B2A4A"/>
                </a:solidFill>
                <a:latin typeface="Calibri"/>
                <a:ea typeface="Calibri"/>
                <a:cs typeface="Calibri"/>
                <a:sym typeface="Calibri"/>
              </a:rPr>
              <a:t>Iterative Working</a:t>
            </a:r>
            <a:endParaRPr sz="1100">
              <a:solidFill>
                <a:schemeClr val="dk1"/>
              </a:solidFill>
              <a:latin typeface="Calibri"/>
              <a:ea typeface="Calibri"/>
              <a:cs typeface="Calibri"/>
              <a:sym typeface="Calibri"/>
            </a:endParaRPr>
          </a:p>
        </p:txBody>
      </p:sp>
      <p:sp>
        <p:nvSpPr>
          <p:cNvPr id="331" name="Google Shape;331;p15"/>
          <p:cNvSpPr/>
          <p:nvPr/>
        </p:nvSpPr>
        <p:spPr>
          <a:xfrm>
            <a:off x="6293687" y="1188720"/>
            <a:ext cx="2514600" cy="3337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lang="en-US" sz="950">
                <a:solidFill>
                  <a:srgbClr val="1B2A4A"/>
                </a:solidFill>
                <a:latin typeface="Calibri"/>
                <a:ea typeface="Calibri"/>
                <a:cs typeface="Calibri"/>
                <a:sym typeface="Calibri"/>
              </a:rPr>
              <a:t>Iterative working means delivering in short cycles - building something, testing it with real users, learning from what you find, and improving it before the next cycle begins.</a:t>
            </a:r>
            <a:endParaRPr sz="9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950"/>
              <a:buFont typeface="Calibri"/>
              <a:buNone/>
            </a:pPr>
            <a:r>
              <a:rPr lang="en-US" sz="950">
                <a:solidFill>
                  <a:srgbClr val="1B2A4A"/>
                </a:solidFill>
                <a:latin typeface="Calibri"/>
                <a:ea typeface="Calibri"/>
                <a:cs typeface="Calibri"/>
                <a:sym typeface="Calibri"/>
              </a:rPr>
              <a:t>The service can improve continuously, not just when things go wrong.</a:t>
            </a:r>
            <a:endParaRPr sz="950">
              <a:solidFill>
                <a:schemeClr val="dk1"/>
              </a:solidFill>
              <a:latin typeface="Calibri"/>
              <a:ea typeface="Calibri"/>
              <a:cs typeface="Calibri"/>
              <a:sym typeface="Calibri"/>
            </a:endParaRPr>
          </a:p>
        </p:txBody>
      </p:sp>
      <p:pic>
        <p:nvPicPr>
          <p:cNvPr id="332" name="Google Shape;332;p15"/>
          <p:cNvPicPr preferRelativeResize="0"/>
          <p:nvPr/>
        </p:nvPicPr>
        <p:blipFill rotWithShape="1">
          <a:blip r:embed="rId3">
            <a:alphaModFix/>
          </a:blip>
          <a:srcRect b="0" l="0" r="0" t="0"/>
          <a:stretch/>
        </p:blipFill>
        <p:spPr>
          <a:xfrm>
            <a:off x="512064" y="2738122"/>
            <a:ext cx="2149665" cy="1040383"/>
          </a:xfrm>
          <a:prstGeom prst="rect">
            <a:avLst/>
          </a:prstGeom>
          <a:noFill/>
          <a:ln>
            <a:noFill/>
          </a:ln>
        </p:spPr>
      </p:pic>
      <p:pic>
        <p:nvPicPr>
          <p:cNvPr id="333" name="Google Shape;333;p15"/>
          <p:cNvPicPr preferRelativeResize="0"/>
          <p:nvPr/>
        </p:nvPicPr>
        <p:blipFill rotWithShape="1">
          <a:blip r:embed="rId4">
            <a:alphaModFix/>
          </a:blip>
          <a:srcRect b="0" l="0" r="0" t="0"/>
          <a:stretch/>
        </p:blipFill>
        <p:spPr>
          <a:xfrm>
            <a:off x="6220535" y="2720340"/>
            <a:ext cx="2596896" cy="1249566"/>
          </a:xfrm>
          <a:prstGeom prst="rect">
            <a:avLst/>
          </a:prstGeom>
          <a:noFill/>
          <a:ln>
            <a:noFill/>
          </a:ln>
        </p:spPr>
      </p:pic>
      <p:sp>
        <p:nvSpPr>
          <p:cNvPr id="334" name="Google Shape;334;p15"/>
          <p:cNvSpPr/>
          <p:nvPr/>
        </p:nvSpPr>
        <p:spPr>
          <a:xfrm>
            <a:off x="3367307" y="841248"/>
            <a:ext cx="2514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lang="en-US" sz="1100">
                <a:solidFill>
                  <a:srgbClr val="1B2A4A"/>
                </a:solidFill>
                <a:latin typeface="Calibri"/>
                <a:ea typeface="Calibri"/>
                <a:cs typeface="Calibri"/>
                <a:sym typeface="Calibri"/>
              </a:rPr>
              <a:t>Agile</a:t>
            </a:r>
            <a:endParaRPr sz="1100">
              <a:solidFill>
                <a:schemeClr val="dk1"/>
              </a:solidFill>
              <a:latin typeface="Calibri"/>
              <a:ea typeface="Calibri"/>
              <a:cs typeface="Calibri"/>
              <a:sym typeface="Calibri"/>
            </a:endParaRPr>
          </a:p>
        </p:txBody>
      </p:sp>
      <p:sp>
        <p:nvSpPr>
          <p:cNvPr id="335" name="Google Shape;335;p15"/>
          <p:cNvSpPr/>
          <p:nvPr/>
        </p:nvSpPr>
        <p:spPr>
          <a:xfrm>
            <a:off x="3367307" y="1188720"/>
            <a:ext cx="2514600" cy="3337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lang="en-US" sz="950">
                <a:solidFill>
                  <a:srgbClr val="1B2A4A"/>
                </a:solidFill>
                <a:latin typeface="Calibri"/>
                <a:ea typeface="Calibri"/>
                <a:cs typeface="Calibri"/>
                <a:sym typeface="Calibri"/>
              </a:rPr>
              <a:t>Agile is best understood as a continuous, layered cycle - enabling a roadmap that continually responds to user insight, compliance, and technology changes.</a:t>
            </a:r>
            <a:endParaRPr sz="9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sz="950">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950"/>
              <a:buFont typeface="Calibri"/>
              <a:buNone/>
            </a:pPr>
            <a:r>
              <a:rPr lang="en-US" sz="950">
                <a:solidFill>
                  <a:srgbClr val="1B2A4A"/>
                </a:solidFill>
                <a:latin typeface="Calibri"/>
                <a:ea typeface="Calibri"/>
                <a:cs typeface="Calibri"/>
                <a:sym typeface="Calibri"/>
              </a:rPr>
              <a:t>Agile emerged as a reaction against rigid, documentation-heavy 'waterfall' methods, seeking a more flexible, iterative, and human-centric approach.</a:t>
            </a:r>
            <a:endParaRPr sz="950">
              <a:solidFill>
                <a:schemeClr val="dk1"/>
              </a:solidFill>
              <a:latin typeface="Calibri"/>
              <a:ea typeface="Calibri"/>
              <a:cs typeface="Calibri"/>
              <a:sym typeface="Calibri"/>
            </a:endParaRPr>
          </a:p>
        </p:txBody>
      </p:sp>
      <p:pic>
        <p:nvPicPr>
          <p:cNvPr descr="undefined" id="336" name="Google Shape;336;p15">
            <a:hlinkClick r:id="rId5"/>
          </p:cNvPr>
          <p:cNvPicPr preferRelativeResize="0"/>
          <p:nvPr/>
        </p:nvPicPr>
        <p:blipFill rotWithShape="1">
          <a:blip r:embed="rId6">
            <a:alphaModFix/>
          </a:blip>
          <a:srcRect b="0" l="0" r="0" t="0"/>
          <a:stretch/>
        </p:blipFill>
        <p:spPr>
          <a:xfrm>
            <a:off x="3445649" y="2710328"/>
            <a:ext cx="2252701" cy="12624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341" name="Shape 341"/>
        <p:cNvGrpSpPr/>
        <p:nvPr/>
      </p:nvGrpSpPr>
      <p:grpSpPr>
        <a:xfrm>
          <a:off x="0" y="0"/>
          <a:ext cx="0" cy="0"/>
          <a:chOff x="0" y="0"/>
          <a:chExt cx="0" cy="0"/>
        </a:xfrm>
      </p:grpSpPr>
      <p:sp>
        <p:nvSpPr>
          <p:cNvPr id="342" name="Google Shape;342;p16"/>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6"/>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Agile lifecycles</a:t>
            </a:r>
            <a:endParaRPr sz="2000">
              <a:solidFill>
                <a:schemeClr val="dk1"/>
              </a:solidFill>
              <a:latin typeface="Calibri"/>
              <a:ea typeface="Calibri"/>
              <a:cs typeface="Calibri"/>
              <a:sym typeface="Calibri"/>
            </a:endParaRPr>
          </a:p>
        </p:txBody>
      </p:sp>
      <p:sp>
        <p:nvSpPr>
          <p:cNvPr id="344" name="Google Shape;344;p16"/>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345" name="Google Shape;345;p16"/>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346" name="Google Shape;346;p16"/>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
        <p:nvSpPr>
          <p:cNvPr id="347" name="Google Shape;347;p16"/>
          <p:cNvSpPr/>
          <p:nvPr/>
        </p:nvSpPr>
        <p:spPr>
          <a:xfrm>
            <a:off x="365760" y="777240"/>
            <a:ext cx="84124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p:txBody>
      </p:sp>
      <p:sp>
        <p:nvSpPr>
          <p:cNvPr id="348" name="Google Shape;348;p16"/>
          <p:cNvSpPr txBox="1"/>
          <p:nvPr/>
        </p:nvSpPr>
        <p:spPr>
          <a:xfrm>
            <a:off x="365760" y="1067950"/>
            <a:ext cx="4033800" cy="127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Agile enables the creation of value at every stage, and makes the most of new technologies and approaches as they emerge.</a:t>
            </a:r>
            <a:br>
              <a:rPr lang="en-US"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It is a repeatable, iterative cycle that builds on what works, addresses what doesn't, and enables measurable  increase of usability, reach and impact.</a:t>
            </a:r>
            <a:endParaRPr sz="1100"/>
          </a:p>
          <a:p>
            <a:pPr indent="0" lvl="0" marL="0" marR="0" rtl="0" algn="l">
              <a:spcBef>
                <a:spcPts val="0"/>
              </a:spcBef>
              <a:spcAft>
                <a:spcPts val="0"/>
              </a:spcAft>
              <a:buNone/>
            </a:pPr>
            <a:r>
              <a:rPr lang="en-US" sz="1100">
                <a:solidFill>
                  <a:schemeClr val="dk1"/>
                </a:solidFill>
                <a:latin typeface="Calibri"/>
                <a:ea typeface="Calibri"/>
                <a:cs typeface="Calibri"/>
                <a:sym typeface="Calibri"/>
              </a:rPr>
              <a:t> </a:t>
            </a:r>
            <a:endParaRPr sz="1100"/>
          </a:p>
        </p:txBody>
      </p:sp>
      <p:sp>
        <p:nvSpPr>
          <p:cNvPr id="349" name="Google Shape;349;p16"/>
          <p:cNvSpPr txBox="1"/>
          <p:nvPr/>
        </p:nvSpPr>
        <p:spPr>
          <a:xfrm>
            <a:off x="365759" y="2256615"/>
            <a:ext cx="8608200" cy="22935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100">
                <a:solidFill>
                  <a:schemeClr val="dk1"/>
                </a:solidFill>
                <a:latin typeface="Calibri"/>
                <a:ea typeface="Calibri"/>
                <a:cs typeface="Calibri"/>
                <a:sym typeface="Calibri"/>
              </a:rPr>
              <a:t>Discovery</a:t>
            </a:r>
            <a:r>
              <a:rPr lang="en-US" sz="1100">
                <a:solidFill>
                  <a:schemeClr val="dk1"/>
                </a:solidFill>
                <a:latin typeface="Calibri"/>
                <a:ea typeface="Calibri"/>
                <a:cs typeface="Calibri"/>
                <a:sym typeface="Calibri"/>
              </a:rPr>
              <a:t> - What problem are we solving  and for who?</a:t>
            </a:r>
            <a:br>
              <a:rPr b="1" lang="en-US" sz="1100">
                <a:solidFill>
                  <a:schemeClr val="dk1"/>
                </a:solidFill>
                <a:latin typeface="Calibri"/>
                <a:ea typeface="Calibri"/>
                <a:cs typeface="Calibri"/>
                <a:sym typeface="Calibri"/>
              </a:rPr>
            </a:br>
            <a:r>
              <a:rPr b="1" i="1" lang="en-US" sz="1100">
                <a:solidFill>
                  <a:schemeClr val="dk1"/>
                </a:solidFill>
                <a:latin typeface="Calibri"/>
                <a:ea typeface="Calibri"/>
                <a:cs typeface="Calibri"/>
                <a:sym typeface="Calibri"/>
              </a:rPr>
              <a:t>Pilot</a:t>
            </a:r>
            <a:r>
              <a:rPr i="1" lang="en-US" sz="1100">
                <a:solidFill>
                  <a:schemeClr val="dk1"/>
                </a:solidFill>
                <a:latin typeface="Calibri"/>
                <a:ea typeface="Calibri"/>
                <a:cs typeface="Calibri"/>
                <a:sym typeface="Calibri"/>
              </a:rPr>
              <a:t>- Does the idea hold up when it's real? </a:t>
            </a:r>
            <a:br>
              <a:rPr lang="en-US" sz="1100">
                <a:solidFill>
                  <a:schemeClr val="dk1"/>
                </a:solidFill>
                <a:latin typeface="Calibri"/>
                <a:ea typeface="Calibri"/>
                <a:cs typeface="Calibri"/>
                <a:sym typeface="Calibri"/>
              </a:rPr>
            </a:br>
            <a:r>
              <a:rPr b="1" lang="en-US" sz="1100">
                <a:solidFill>
                  <a:schemeClr val="dk1"/>
                </a:solidFill>
                <a:latin typeface="Calibri"/>
                <a:ea typeface="Calibri"/>
                <a:cs typeface="Calibri"/>
                <a:sym typeface="Calibri"/>
              </a:rPr>
              <a:t>Beta</a:t>
            </a:r>
            <a:r>
              <a:rPr lang="en-US" sz="1100">
                <a:solidFill>
                  <a:schemeClr val="dk1"/>
                </a:solidFill>
                <a:latin typeface="Calibri"/>
                <a:ea typeface="Calibri"/>
                <a:cs typeface="Calibri"/>
                <a:sym typeface="Calibri"/>
              </a:rPr>
              <a:t>- Does it work for the people who need it?</a:t>
            </a:r>
            <a:endParaRPr b="1" sz="11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rPr b="1" lang="en-US" sz="1100">
                <a:solidFill>
                  <a:schemeClr val="dk1"/>
                </a:solidFill>
                <a:latin typeface="Calibri"/>
                <a:ea typeface="Calibri"/>
                <a:cs typeface="Calibri"/>
                <a:sym typeface="Calibri"/>
              </a:rPr>
              <a:t>Alpha</a:t>
            </a:r>
            <a:r>
              <a:rPr lang="en-US" sz="1100">
                <a:solidFill>
                  <a:schemeClr val="dk1"/>
                </a:solidFill>
                <a:latin typeface="Calibri"/>
                <a:ea typeface="Calibri"/>
                <a:cs typeface="Calibri"/>
                <a:sym typeface="Calibri"/>
              </a:rPr>
              <a:t> - Does it hold up at scale? </a:t>
            </a:r>
            <a:br>
              <a:rPr lang="en-US" sz="1100">
                <a:solidFill>
                  <a:schemeClr val="dk1"/>
                </a:solidFill>
                <a:latin typeface="Calibri"/>
                <a:ea typeface="Calibri"/>
                <a:cs typeface="Calibri"/>
                <a:sym typeface="Calibri"/>
              </a:rPr>
            </a:br>
            <a:r>
              <a:rPr b="1" lang="en-US" sz="1100">
                <a:solidFill>
                  <a:schemeClr val="dk1"/>
                </a:solidFill>
                <a:latin typeface="Calibri"/>
                <a:ea typeface="Calibri"/>
                <a:cs typeface="Calibri"/>
                <a:sym typeface="Calibri"/>
              </a:rPr>
              <a:t>Live</a:t>
            </a:r>
            <a:r>
              <a:rPr lang="en-US" sz="1100">
                <a:solidFill>
                  <a:schemeClr val="dk1"/>
                </a:solidFill>
                <a:latin typeface="Calibri"/>
                <a:ea typeface="Calibri"/>
                <a:cs typeface="Calibri"/>
                <a:sym typeface="Calibri"/>
              </a:rPr>
              <a:t> - Keep listening. Make continuous improvements</a:t>
            </a:r>
            <a:endParaRPr sz="1100"/>
          </a:p>
          <a:p>
            <a:pPr indent="0" lvl="0" marL="0" marR="0" rtl="0" algn="l">
              <a:lnSpc>
                <a:spcPct val="150000"/>
              </a:lnSpc>
              <a:spcBef>
                <a:spcPts val="0"/>
              </a:spcBef>
              <a:spcAft>
                <a:spcPts val="0"/>
              </a:spcAft>
              <a:buNone/>
            </a:pPr>
            <a:r>
              <a:rPr b="1" i="1" lang="en-US" sz="1100">
                <a:solidFill>
                  <a:schemeClr val="dk1"/>
                </a:solidFill>
                <a:latin typeface="Calibri"/>
                <a:ea typeface="Calibri"/>
                <a:cs typeface="Calibri"/>
                <a:sym typeface="Calibri"/>
              </a:rPr>
              <a:t>Maturity</a:t>
            </a:r>
            <a:r>
              <a:rPr i="1" lang="en-US" sz="1100">
                <a:solidFill>
                  <a:schemeClr val="dk1"/>
                </a:solidFill>
                <a:latin typeface="Calibri"/>
                <a:ea typeface="Calibri"/>
                <a:cs typeface="Calibri"/>
                <a:sym typeface="Calibri"/>
              </a:rPr>
              <a:t> – looking to add further value, trust </a:t>
            </a:r>
            <a:endParaRPr sz="1100"/>
          </a:p>
          <a:p>
            <a:pPr indent="0" lvl="0" marL="0" marR="0" rtl="0" algn="l">
              <a:lnSpc>
                <a:spcPct val="150000"/>
              </a:lnSpc>
              <a:spcBef>
                <a:spcPts val="0"/>
              </a:spcBef>
              <a:spcAft>
                <a:spcPts val="0"/>
              </a:spcAft>
              <a:buNone/>
            </a:pPr>
            <a:r>
              <a:rPr b="1" i="1" lang="en-US" sz="1100">
                <a:solidFill>
                  <a:schemeClr val="dk1"/>
                </a:solidFill>
                <a:latin typeface="Calibri"/>
                <a:ea typeface="Calibri"/>
                <a:cs typeface="Calibri"/>
                <a:sym typeface="Calibri"/>
              </a:rPr>
              <a:t>Retirement</a:t>
            </a:r>
            <a:r>
              <a:rPr i="1" lang="en-US" sz="1100">
                <a:solidFill>
                  <a:schemeClr val="dk1"/>
                </a:solidFill>
                <a:latin typeface="Calibri"/>
                <a:ea typeface="Calibri"/>
                <a:cs typeface="Calibri"/>
                <a:sym typeface="Calibri"/>
              </a:rPr>
              <a:t> – end of life, and/ or migration to a new service</a:t>
            </a:r>
            <a:br>
              <a:rPr i="1" lang="en-US" sz="1100">
                <a:solidFill>
                  <a:schemeClr val="dk1"/>
                </a:solidFill>
                <a:latin typeface="Calibri"/>
                <a:ea typeface="Calibri"/>
                <a:cs typeface="Calibri"/>
                <a:sym typeface="Calibri"/>
              </a:rPr>
            </a:br>
            <a:br>
              <a:rPr i="1" lang="en-US" sz="1100">
                <a:solidFill>
                  <a:schemeClr val="dk1"/>
                </a:solidFill>
                <a:latin typeface="Calibri"/>
                <a:ea typeface="Calibri"/>
                <a:cs typeface="Calibri"/>
                <a:sym typeface="Calibri"/>
              </a:rPr>
            </a:br>
            <a:endParaRPr sz="1100"/>
          </a:p>
        </p:txBody>
      </p:sp>
      <p:pic>
        <p:nvPicPr>
          <p:cNvPr id="350" name="Google Shape;350;p16"/>
          <p:cNvPicPr preferRelativeResize="0"/>
          <p:nvPr/>
        </p:nvPicPr>
        <p:blipFill rotWithShape="1">
          <a:blip r:embed="rId3">
            <a:alphaModFix/>
          </a:blip>
          <a:srcRect b="0" l="0" r="0" t="0"/>
          <a:stretch/>
        </p:blipFill>
        <p:spPr>
          <a:xfrm>
            <a:off x="4050000" y="954575"/>
            <a:ext cx="5250238" cy="3891749"/>
          </a:xfrm>
          <a:prstGeom prst="rect">
            <a:avLst/>
          </a:prstGeom>
          <a:noFill/>
          <a:ln>
            <a:noFill/>
          </a:ln>
        </p:spPr>
      </p:pic>
      <p:sp>
        <p:nvSpPr>
          <p:cNvPr id="351" name="Google Shape;351;p16"/>
          <p:cNvSpPr txBox="1"/>
          <p:nvPr/>
        </p:nvSpPr>
        <p:spPr>
          <a:xfrm>
            <a:off x="365750" y="4146125"/>
            <a:ext cx="4523700" cy="49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i="1" lang="en-US" sz="800">
                <a:solidFill>
                  <a:schemeClr val="dk1"/>
                </a:solidFill>
                <a:latin typeface="Calibri"/>
                <a:ea typeface="Calibri"/>
                <a:cs typeface="Calibri"/>
                <a:sym typeface="Calibri"/>
              </a:rPr>
              <a:t>Items in italics are not usually framed as part of GDS cycles.</a:t>
            </a:r>
            <a:br>
              <a:rPr i="1" lang="en-US" sz="800">
                <a:solidFill>
                  <a:schemeClr val="dk1"/>
                </a:solidFill>
                <a:latin typeface="Calibri"/>
                <a:ea typeface="Calibri"/>
                <a:cs typeface="Calibri"/>
                <a:sym typeface="Calibri"/>
              </a:rPr>
            </a:br>
            <a:r>
              <a:rPr i="1" lang="en-US" sz="800">
                <a:solidFill>
                  <a:schemeClr val="dk1"/>
                </a:solidFill>
                <a:latin typeface="Calibri"/>
                <a:ea typeface="Calibri"/>
                <a:cs typeface="Calibri"/>
                <a:sym typeface="Calibri"/>
              </a:rPr>
              <a:t>Considering them adds value at every stage.</a:t>
            </a:r>
            <a:endParaRPr sz="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356" name="Shape 356"/>
        <p:cNvGrpSpPr/>
        <p:nvPr/>
      </p:nvGrpSpPr>
      <p:grpSpPr>
        <a:xfrm>
          <a:off x="0" y="0"/>
          <a:ext cx="0" cy="0"/>
          <a:chOff x="0" y="0"/>
          <a:chExt cx="0" cy="0"/>
        </a:xfrm>
      </p:grpSpPr>
      <p:sp>
        <p:nvSpPr>
          <p:cNvPr id="357" name="Google Shape;357;p17"/>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7"/>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Agile and UCD together</a:t>
            </a:r>
            <a:endParaRPr sz="2000">
              <a:solidFill>
                <a:schemeClr val="dk1"/>
              </a:solidFill>
              <a:latin typeface="Calibri"/>
              <a:ea typeface="Calibri"/>
              <a:cs typeface="Calibri"/>
              <a:sym typeface="Calibri"/>
            </a:endParaRPr>
          </a:p>
        </p:txBody>
      </p:sp>
      <p:sp>
        <p:nvSpPr>
          <p:cNvPr id="359" name="Google Shape;359;p17"/>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360" name="Google Shape;360;p17"/>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361" name="Google Shape;361;p17"/>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pic>
        <p:nvPicPr>
          <p:cNvPr id="362" name="Google Shape;362;p17"/>
          <p:cNvPicPr preferRelativeResize="0"/>
          <p:nvPr/>
        </p:nvPicPr>
        <p:blipFill rotWithShape="1">
          <a:blip r:embed="rId3">
            <a:alphaModFix/>
          </a:blip>
          <a:srcRect b="0" l="0" r="0" t="0"/>
          <a:stretch/>
        </p:blipFill>
        <p:spPr>
          <a:xfrm>
            <a:off x="3702625" y="890975"/>
            <a:ext cx="5300988" cy="3918750"/>
          </a:xfrm>
          <a:prstGeom prst="rect">
            <a:avLst/>
          </a:prstGeom>
          <a:noFill/>
          <a:ln>
            <a:noFill/>
          </a:ln>
        </p:spPr>
      </p:pic>
      <p:sp>
        <p:nvSpPr>
          <p:cNvPr id="363" name="Google Shape;363;p17"/>
          <p:cNvSpPr txBox="1"/>
          <p:nvPr/>
        </p:nvSpPr>
        <p:spPr>
          <a:xfrm>
            <a:off x="358504" y="1995739"/>
            <a:ext cx="4579200" cy="2039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br>
              <a:rPr b="1" lang="en-US" sz="1100">
                <a:solidFill>
                  <a:schemeClr val="dk1"/>
                </a:solidFill>
                <a:latin typeface="Calibri"/>
                <a:ea typeface="Calibri"/>
                <a:cs typeface="Calibri"/>
                <a:sym typeface="Calibri"/>
              </a:rPr>
            </a:br>
            <a:r>
              <a:rPr b="1" lang="en-US" sz="1100">
                <a:solidFill>
                  <a:schemeClr val="dk1"/>
                </a:solidFill>
                <a:latin typeface="Calibri"/>
                <a:ea typeface="Calibri"/>
                <a:cs typeface="Calibri"/>
                <a:sym typeface="Calibri"/>
              </a:rPr>
              <a:t>Learn -  </a:t>
            </a:r>
            <a:r>
              <a:rPr lang="en-US" sz="1100">
                <a:solidFill>
                  <a:schemeClr val="dk1"/>
                </a:solidFill>
                <a:latin typeface="Calibri"/>
                <a:ea typeface="Calibri"/>
                <a:cs typeface="Calibri"/>
                <a:sym typeface="Calibri"/>
              </a:rPr>
              <a:t>what can we find out?</a:t>
            </a:r>
            <a:br>
              <a:rPr lang="en-US" sz="1100">
                <a:solidFill>
                  <a:schemeClr val="dk1"/>
                </a:solidFill>
                <a:latin typeface="Calibri"/>
                <a:ea typeface="Calibri"/>
                <a:cs typeface="Calibri"/>
                <a:sym typeface="Calibri"/>
              </a:rPr>
            </a:br>
            <a:r>
              <a:rPr b="1" lang="en-US" sz="1100">
                <a:solidFill>
                  <a:schemeClr val="dk1"/>
                </a:solidFill>
                <a:latin typeface="Calibri"/>
                <a:ea typeface="Calibri"/>
                <a:cs typeface="Calibri"/>
                <a:sym typeface="Calibri"/>
              </a:rPr>
              <a:t>Ideate</a:t>
            </a:r>
            <a:r>
              <a:rPr lang="en-US" sz="1100">
                <a:solidFill>
                  <a:schemeClr val="dk1"/>
                </a:solidFill>
                <a:latin typeface="Calibri"/>
                <a:ea typeface="Calibri"/>
                <a:cs typeface="Calibri"/>
                <a:sym typeface="Calibri"/>
              </a:rPr>
              <a:t> - What are all the ways we could solve this?</a:t>
            </a:r>
            <a:endParaRPr sz="1100"/>
          </a:p>
          <a:p>
            <a:pPr indent="0" lvl="0" marL="0" marR="0" rtl="0" algn="l">
              <a:lnSpc>
                <a:spcPct val="150000"/>
              </a:lnSpc>
              <a:spcBef>
                <a:spcPts val="0"/>
              </a:spcBef>
              <a:spcAft>
                <a:spcPts val="0"/>
              </a:spcAft>
              <a:buNone/>
            </a:pPr>
            <a:r>
              <a:rPr b="1" lang="en-US" sz="1100">
                <a:solidFill>
                  <a:schemeClr val="dk1"/>
                </a:solidFill>
                <a:latin typeface="Calibri"/>
                <a:ea typeface="Calibri"/>
                <a:cs typeface="Calibri"/>
                <a:sym typeface="Calibri"/>
              </a:rPr>
              <a:t>Plan</a:t>
            </a:r>
            <a:r>
              <a:rPr lang="en-US" sz="1100">
                <a:solidFill>
                  <a:schemeClr val="dk1"/>
                </a:solidFill>
                <a:latin typeface="Calibri"/>
                <a:ea typeface="Calibri"/>
                <a:cs typeface="Calibri"/>
                <a:sym typeface="Calibri"/>
              </a:rPr>
              <a:t> - What's the most valuable thing we can deliver?</a:t>
            </a:r>
            <a:endParaRPr sz="1100"/>
          </a:p>
          <a:p>
            <a:pPr indent="0" lvl="0" marL="0" marR="0" rtl="0" algn="l">
              <a:lnSpc>
                <a:spcPct val="150000"/>
              </a:lnSpc>
              <a:spcBef>
                <a:spcPts val="0"/>
              </a:spcBef>
              <a:spcAft>
                <a:spcPts val="0"/>
              </a:spcAft>
              <a:buNone/>
            </a:pPr>
            <a:r>
              <a:rPr b="1" lang="en-US" sz="1100">
                <a:solidFill>
                  <a:schemeClr val="dk1"/>
                </a:solidFill>
                <a:latin typeface="Calibri"/>
                <a:ea typeface="Calibri"/>
                <a:cs typeface="Calibri"/>
                <a:sym typeface="Calibri"/>
              </a:rPr>
              <a:t>Build</a:t>
            </a:r>
            <a:r>
              <a:rPr lang="en-US" sz="1100">
                <a:solidFill>
                  <a:schemeClr val="dk1"/>
                </a:solidFill>
                <a:latin typeface="Calibri"/>
                <a:ea typeface="Calibri"/>
                <a:cs typeface="Calibri"/>
                <a:sym typeface="Calibri"/>
              </a:rPr>
              <a:t> - Make it real, keep it simple. </a:t>
            </a:r>
            <a:br>
              <a:rPr lang="en-US" sz="1100">
                <a:solidFill>
                  <a:schemeClr val="dk1"/>
                </a:solidFill>
                <a:latin typeface="Calibri"/>
                <a:ea typeface="Calibri"/>
                <a:cs typeface="Calibri"/>
                <a:sym typeface="Calibri"/>
              </a:rPr>
            </a:br>
            <a:r>
              <a:rPr b="1" lang="en-US" sz="1100">
                <a:solidFill>
                  <a:schemeClr val="dk1"/>
                </a:solidFill>
                <a:latin typeface="Calibri"/>
                <a:ea typeface="Calibri"/>
                <a:cs typeface="Calibri"/>
                <a:sym typeface="Calibri"/>
              </a:rPr>
              <a:t>Test</a:t>
            </a:r>
            <a:r>
              <a:rPr lang="en-US" sz="1100">
                <a:solidFill>
                  <a:schemeClr val="dk1"/>
                </a:solidFill>
                <a:latin typeface="Calibri"/>
                <a:ea typeface="Calibri"/>
                <a:cs typeface="Calibri"/>
                <a:sym typeface="Calibri"/>
              </a:rPr>
              <a:t> - Does it work for real people? </a:t>
            </a:r>
            <a:br>
              <a:rPr lang="en-US" sz="1100">
                <a:solidFill>
                  <a:schemeClr val="dk1"/>
                </a:solidFill>
                <a:latin typeface="Calibri"/>
                <a:ea typeface="Calibri"/>
                <a:cs typeface="Calibri"/>
                <a:sym typeface="Calibri"/>
              </a:rPr>
            </a:br>
            <a:r>
              <a:rPr b="1" lang="en-US" sz="1100">
                <a:solidFill>
                  <a:schemeClr val="dk1"/>
                </a:solidFill>
                <a:latin typeface="Calibri"/>
                <a:ea typeface="Calibri"/>
                <a:cs typeface="Calibri"/>
                <a:sym typeface="Calibri"/>
              </a:rPr>
              <a:t>Review</a:t>
            </a:r>
            <a:r>
              <a:rPr lang="en-US" sz="1100">
                <a:solidFill>
                  <a:schemeClr val="dk1"/>
                </a:solidFill>
                <a:latin typeface="Calibri"/>
                <a:ea typeface="Calibri"/>
                <a:cs typeface="Calibri"/>
                <a:sym typeface="Calibri"/>
              </a:rPr>
              <a:t> - What did we learn? </a:t>
            </a:r>
            <a:br>
              <a:rPr lang="en-US" sz="1100">
                <a:solidFill>
                  <a:schemeClr val="dk1"/>
                </a:solidFill>
                <a:latin typeface="Calibri"/>
                <a:ea typeface="Calibri"/>
                <a:cs typeface="Calibri"/>
                <a:sym typeface="Calibri"/>
              </a:rPr>
            </a:br>
            <a:r>
              <a:rPr b="1" lang="en-US" sz="1100">
                <a:solidFill>
                  <a:schemeClr val="dk1"/>
                </a:solidFill>
                <a:latin typeface="Calibri"/>
                <a:ea typeface="Calibri"/>
                <a:cs typeface="Calibri"/>
                <a:sym typeface="Calibri"/>
              </a:rPr>
              <a:t>Iterate</a:t>
            </a:r>
            <a:r>
              <a:rPr lang="en-US" sz="1100">
                <a:solidFill>
                  <a:schemeClr val="dk1"/>
                </a:solidFill>
                <a:latin typeface="Calibri"/>
                <a:ea typeface="Calibri"/>
                <a:cs typeface="Calibri"/>
                <a:sym typeface="Calibri"/>
              </a:rPr>
              <a:t> - Do it again, better. </a:t>
            </a:r>
            <a:endParaRPr sz="1100"/>
          </a:p>
        </p:txBody>
      </p:sp>
      <p:sp>
        <p:nvSpPr>
          <p:cNvPr id="364" name="Google Shape;364;p17"/>
          <p:cNvSpPr txBox="1"/>
          <p:nvPr/>
        </p:nvSpPr>
        <p:spPr>
          <a:xfrm>
            <a:off x="261889" y="1127241"/>
            <a:ext cx="3335400" cy="93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Working in short cycles to learn, design test and iterate before moving to any deployment </a:t>
            </a:r>
            <a:endParaRPr sz="1100"/>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Learnings and insights come before making changes becomes too expensive.</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369" name="Shape 369"/>
        <p:cNvGrpSpPr/>
        <p:nvPr/>
      </p:nvGrpSpPr>
      <p:grpSpPr>
        <a:xfrm>
          <a:off x="0" y="0"/>
          <a:ext cx="0" cy="0"/>
          <a:chOff x="0" y="0"/>
          <a:chExt cx="0" cy="0"/>
        </a:xfrm>
      </p:grpSpPr>
      <p:sp>
        <p:nvSpPr>
          <p:cNvPr id="370" name="Google Shape;370;p18"/>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8"/>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Agile Themes, Epics, Stories</a:t>
            </a:r>
            <a:endParaRPr sz="2000">
              <a:solidFill>
                <a:schemeClr val="dk1"/>
              </a:solidFill>
              <a:latin typeface="Calibri"/>
              <a:ea typeface="Calibri"/>
              <a:cs typeface="Calibri"/>
              <a:sym typeface="Calibri"/>
            </a:endParaRPr>
          </a:p>
        </p:txBody>
      </p:sp>
      <p:sp>
        <p:nvSpPr>
          <p:cNvPr id="372" name="Google Shape;372;p18"/>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373" name="Google Shape;373;p18"/>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374" name="Google Shape;374;p18"/>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
        <p:nvSpPr>
          <p:cNvPr id="375" name="Google Shape;375;p18"/>
          <p:cNvSpPr/>
          <p:nvPr/>
        </p:nvSpPr>
        <p:spPr>
          <a:xfrm>
            <a:off x="248396" y="1089659"/>
            <a:ext cx="84124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400"/>
              <a:buFont typeface="Calibri"/>
              <a:buNone/>
            </a:pPr>
            <a:r>
              <a:rPr lang="en-US" sz="1200">
                <a:solidFill>
                  <a:srgbClr val="1B2A4A"/>
                </a:solidFill>
                <a:latin typeface="Calibri"/>
                <a:ea typeface="Calibri"/>
                <a:cs typeface="Calibri"/>
                <a:sym typeface="Calibri"/>
              </a:rPr>
              <a:t>Effective use of </a:t>
            </a:r>
            <a:r>
              <a:rPr lang="en-US" sz="1200">
                <a:solidFill>
                  <a:srgbClr val="1B2A4A"/>
                </a:solidFill>
                <a:latin typeface="Calibri"/>
                <a:ea typeface="Calibri"/>
                <a:cs typeface="Calibri"/>
                <a:sym typeface="Calibri"/>
              </a:rPr>
              <a:t>all layers of Agile helps connect strategy to delivery in a consistent way</a:t>
            </a:r>
            <a:r>
              <a:rPr lang="en-US" sz="1200">
                <a:solidFill>
                  <a:srgbClr val="1B2A4A"/>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376" name="Google Shape;376;p18"/>
          <p:cNvSpPr/>
          <p:nvPr/>
        </p:nvSpPr>
        <p:spPr>
          <a:xfrm>
            <a:off x="320040" y="1771612"/>
            <a:ext cx="1815793" cy="2782683"/>
          </a:xfrm>
          <a:prstGeom prst="rect">
            <a:avLst/>
          </a:prstGeom>
          <a:solidFill>
            <a:srgbClr val="D6E8F5"/>
          </a:solidFill>
          <a:ln cap="flat" cmpd="sng" w="1905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8"/>
          <p:cNvSpPr/>
          <p:nvPr/>
        </p:nvSpPr>
        <p:spPr>
          <a:xfrm>
            <a:off x="320040" y="1771613"/>
            <a:ext cx="1815793" cy="438912"/>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8"/>
          <p:cNvSpPr/>
          <p:nvPr/>
        </p:nvSpPr>
        <p:spPr>
          <a:xfrm>
            <a:off x="411479" y="1799045"/>
            <a:ext cx="1693927"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Themes</a:t>
            </a:r>
            <a:endParaRPr sz="1400">
              <a:solidFill>
                <a:schemeClr val="dk1"/>
              </a:solidFill>
              <a:latin typeface="Calibri"/>
              <a:ea typeface="Calibri"/>
              <a:cs typeface="Calibri"/>
              <a:sym typeface="Calibri"/>
            </a:endParaRPr>
          </a:p>
        </p:txBody>
      </p:sp>
      <p:sp>
        <p:nvSpPr>
          <p:cNvPr id="379" name="Google Shape;379;p18"/>
          <p:cNvSpPr/>
          <p:nvPr/>
        </p:nvSpPr>
        <p:spPr>
          <a:xfrm>
            <a:off x="373458" y="2274533"/>
            <a:ext cx="1819112" cy="2834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lang="en-US" sz="1100">
                <a:solidFill>
                  <a:srgbClr val="1B2A4A"/>
                </a:solidFill>
                <a:latin typeface="Calibri"/>
                <a:ea typeface="Calibri"/>
                <a:cs typeface="Calibri"/>
                <a:sym typeface="Calibri"/>
              </a:rPr>
              <a:t>Define high-level goals, and how they are expected to be met. </a:t>
            </a:r>
            <a:br>
              <a:rPr lang="en-US" sz="1100">
                <a:solidFill>
                  <a:srgbClr val="1B2A4A"/>
                </a:solidFill>
                <a:latin typeface="Calibri"/>
                <a:ea typeface="Calibri"/>
                <a:cs typeface="Calibri"/>
                <a:sym typeface="Calibri"/>
              </a:rPr>
            </a:br>
            <a:br>
              <a:rPr lang="en-US" sz="1100">
                <a:solidFill>
                  <a:srgbClr val="1B2A4A"/>
                </a:solidFill>
                <a:latin typeface="Calibri"/>
                <a:ea typeface="Calibri"/>
                <a:cs typeface="Calibri"/>
                <a:sym typeface="Calibri"/>
              </a:rPr>
            </a:br>
            <a:r>
              <a:rPr lang="en-US" sz="1100">
                <a:solidFill>
                  <a:srgbClr val="1B2A4A"/>
                </a:solidFill>
                <a:latin typeface="Calibri"/>
                <a:ea typeface="Calibri"/>
                <a:cs typeface="Calibri"/>
                <a:sym typeface="Calibri"/>
              </a:rPr>
              <a:t>What objectives, outcomes and value are being sought and how? What is the business case?</a:t>
            </a:r>
            <a:br>
              <a:rPr lang="en-US" sz="1100">
                <a:solidFill>
                  <a:srgbClr val="1B2A4A"/>
                </a:solidFill>
                <a:latin typeface="Calibri"/>
                <a:ea typeface="Calibri"/>
                <a:cs typeface="Calibri"/>
                <a:sym typeface="Calibri"/>
              </a:rPr>
            </a:br>
            <a:br>
              <a:rPr lang="en-US" sz="1100">
                <a:solidFill>
                  <a:srgbClr val="1B2A4A"/>
                </a:solidFill>
                <a:latin typeface="Calibri"/>
                <a:ea typeface="Calibri"/>
                <a:cs typeface="Calibri"/>
                <a:sym typeface="Calibri"/>
              </a:rPr>
            </a:br>
            <a:r>
              <a:rPr lang="en-US" sz="1100">
                <a:solidFill>
                  <a:srgbClr val="1B2A4A"/>
                </a:solidFill>
                <a:latin typeface="Calibri"/>
                <a:ea typeface="Calibri"/>
                <a:cs typeface="Calibri"/>
                <a:sym typeface="Calibri"/>
              </a:rPr>
              <a:t>What does success look like,  how will it be measured?</a:t>
            </a:r>
            <a:br>
              <a:rPr lang="en-US" sz="1100">
                <a:solidFill>
                  <a:srgbClr val="1B2A4A"/>
                </a:solidFill>
                <a:latin typeface="Calibri"/>
                <a:ea typeface="Calibri"/>
                <a:cs typeface="Calibri"/>
                <a:sym typeface="Calibri"/>
              </a:rPr>
            </a:br>
            <a:endParaRPr sz="1100">
              <a:solidFill>
                <a:schemeClr val="dk1"/>
              </a:solidFill>
              <a:latin typeface="Calibri"/>
              <a:ea typeface="Calibri"/>
              <a:cs typeface="Calibri"/>
              <a:sym typeface="Calibri"/>
            </a:endParaRPr>
          </a:p>
        </p:txBody>
      </p:sp>
      <p:sp>
        <p:nvSpPr>
          <p:cNvPr id="380" name="Google Shape;380;p18"/>
          <p:cNvSpPr/>
          <p:nvPr/>
        </p:nvSpPr>
        <p:spPr>
          <a:xfrm>
            <a:off x="2498057" y="1771612"/>
            <a:ext cx="1815793" cy="2782683"/>
          </a:xfrm>
          <a:prstGeom prst="rect">
            <a:avLst/>
          </a:prstGeom>
          <a:solidFill>
            <a:srgbClr val="D6E8F5"/>
          </a:solidFill>
          <a:ln cap="flat" cmpd="sng" w="1905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8"/>
          <p:cNvSpPr/>
          <p:nvPr/>
        </p:nvSpPr>
        <p:spPr>
          <a:xfrm>
            <a:off x="2498057" y="1771613"/>
            <a:ext cx="1815793" cy="438912"/>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8"/>
          <p:cNvSpPr/>
          <p:nvPr/>
        </p:nvSpPr>
        <p:spPr>
          <a:xfrm>
            <a:off x="2589496" y="1799045"/>
            <a:ext cx="1693927"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Epics</a:t>
            </a:r>
            <a:endParaRPr sz="1400">
              <a:solidFill>
                <a:schemeClr val="dk1"/>
              </a:solidFill>
              <a:latin typeface="Calibri"/>
              <a:ea typeface="Calibri"/>
              <a:cs typeface="Calibri"/>
              <a:sym typeface="Calibri"/>
            </a:endParaRPr>
          </a:p>
        </p:txBody>
      </p:sp>
      <p:sp>
        <p:nvSpPr>
          <p:cNvPr id="383" name="Google Shape;383;p18"/>
          <p:cNvSpPr/>
          <p:nvPr/>
        </p:nvSpPr>
        <p:spPr>
          <a:xfrm>
            <a:off x="2570921" y="2274533"/>
            <a:ext cx="1819112" cy="2834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lang="en-US" sz="1100">
                <a:solidFill>
                  <a:srgbClr val="1B2A4A"/>
                </a:solidFill>
                <a:latin typeface="Calibri"/>
                <a:ea typeface="Calibri"/>
                <a:cs typeface="Calibri"/>
                <a:sym typeface="Calibri"/>
              </a:rPr>
              <a:t>Group related work by service area or user journey or related objectives.</a:t>
            </a:r>
            <a:endParaRPr sz="11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1200"/>
              <a:buFont typeface="Calibri"/>
              <a:buNone/>
            </a:pPr>
            <a:r>
              <a:rPr lang="en-US" sz="1100">
                <a:solidFill>
                  <a:srgbClr val="1B2A4A"/>
                </a:solidFill>
                <a:latin typeface="Calibri"/>
                <a:ea typeface="Calibri"/>
                <a:cs typeface="Calibri"/>
                <a:sym typeface="Calibri"/>
              </a:rPr>
              <a:t>Set out expected approaches, assumptions, and success criteria.</a:t>
            </a:r>
            <a:endParaRPr sz="110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1200"/>
              <a:buFont typeface="Calibri"/>
              <a:buNone/>
            </a:pPr>
            <a:r>
              <a:t/>
            </a:r>
            <a:endParaRPr sz="110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1200"/>
              <a:buFont typeface="Calibri"/>
              <a:buNone/>
            </a:pPr>
            <a:r>
              <a:rPr lang="en-US" sz="1100">
                <a:solidFill>
                  <a:srgbClr val="1B2A4A"/>
                </a:solidFill>
                <a:latin typeface="Calibri"/>
                <a:ea typeface="Calibri"/>
                <a:cs typeface="Calibri"/>
                <a:sym typeface="Calibri"/>
              </a:rPr>
              <a:t>Ensure these balance project priorities and policy commitments effectively.</a:t>
            </a:r>
            <a:endParaRPr sz="1100">
              <a:solidFill>
                <a:schemeClr val="dk1"/>
              </a:solidFill>
              <a:latin typeface="Calibri"/>
              <a:ea typeface="Calibri"/>
              <a:cs typeface="Calibri"/>
              <a:sym typeface="Calibri"/>
            </a:endParaRPr>
          </a:p>
        </p:txBody>
      </p:sp>
      <p:sp>
        <p:nvSpPr>
          <p:cNvPr id="384" name="Google Shape;384;p18"/>
          <p:cNvSpPr/>
          <p:nvPr/>
        </p:nvSpPr>
        <p:spPr>
          <a:xfrm>
            <a:off x="4690578" y="1771612"/>
            <a:ext cx="1815793" cy="2782683"/>
          </a:xfrm>
          <a:prstGeom prst="rect">
            <a:avLst/>
          </a:prstGeom>
          <a:solidFill>
            <a:srgbClr val="D6E8F5"/>
          </a:solidFill>
          <a:ln cap="flat" cmpd="sng" w="1905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8"/>
          <p:cNvSpPr/>
          <p:nvPr/>
        </p:nvSpPr>
        <p:spPr>
          <a:xfrm>
            <a:off x="4690578" y="1771613"/>
            <a:ext cx="1815793" cy="438912"/>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8"/>
          <p:cNvSpPr/>
          <p:nvPr/>
        </p:nvSpPr>
        <p:spPr>
          <a:xfrm>
            <a:off x="4782017" y="1799045"/>
            <a:ext cx="1693927"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Stories</a:t>
            </a:r>
            <a:endParaRPr sz="1400">
              <a:solidFill>
                <a:schemeClr val="dk1"/>
              </a:solidFill>
              <a:latin typeface="Calibri"/>
              <a:ea typeface="Calibri"/>
              <a:cs typeface="Calibri"/>
              <a:sym typeface="Calibri"/>
            </a:endParaRPr>
          </a:p>
        </p:txBody>
      </p:sp>
      <p:sp>
        <p:nvSpPr>
          <p:cNvPr id="387" name="Google Shape;387;p18"/>
          <p:cNvSpPr/>
          <p:nvPr/>
        </p:nvSpPr>
        <p:spPr>
          <a:xfrm>
            <a:off x="4763442" y="2274533"/>
            <a:ext cx="1792932" cy="2834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lang="en-US" sz="1100">
                <a:solidFill>
                  <a:srgbClr val="1B2A4A"/>
                </a:solidFill>
                <a:latin typeface="Calibri"/>
                <a:ea typeface="Calibri"/>
                <a:cs typeface="Calibri"/>
                <a:sym typeface="Calibri"/>
              </a:rPr>
              <a:t>Break work into aligned, actionable, user-focused objectives.</a:t>
            </a:r>
            <a:endParaRPr sz="11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1200"/>
              <a:buFont typeface="Calibri"/>
              <a:buNone/>
            </a:pPr>
            <a:r>
              <a:rPr lang="en-US" sz="1100">
                <a:solidFill>
                  <a:srgbClr val="1B2A4A"/>
                </a:solidFill>
                <a:latin typeface="Calibri"/>
                <a:ea typeface="Calibri"/>
                <a:cs typeface="Calibri"/>
                <a:sym typeface="Calibri"/>
              </a:rPr>
              <a:t>“As a [user] I need [x] so that [y]. “</a:t>
            </a:r>
            <a:endParaRPr sz="110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1200"/>
              <a:buFont typeface="Calibri"/>
              <a:buNone/>
            </a:pPr>
            <a:br>
              <a:rPr lang="en-US" sz="1100">
                <a:solidFill>
                  <a:srgbClr val="1B2A4A"/>
                </a:solidFill>
                <a:latin typeface="Calibri"/>
                <a:ea typeface="Calibri"/>
                <a:cs typeface="Calibri"/>
                <a:sym typeface="Calibri"/>
              </a:rPr>
            </a:br>
            <a:r>
              <a:rPr lang="en-US" sz="1100">
                <a:solidFill>
                  <a:srgbClr val="1B2A4A"/>
                </a:solidFill>
                <a:latin typeface="Calibri"/>
                <a:ea typeface="Calibri"/>
                <a:cs typeface="Calibri"/>
                <a:sym typeface="Calibri"/>
              </a:rPr>
              <a:t> Be sure to align user and organisational needs, usibily, and inclusion,as we as design and build.</a:t>
            </a:r>
            <a:br>
              <a:rPr lang="en-US" sz="1100">
                <a:solidFill>
                  <a:srgbClr val="1B2A4A"/>
                </a:solidFill>
                <a:latin typeface="Calibri"/>
                <a:ea typeface="Calibri"/>
                <a:cs typeface="Calibri"/>
                <a:sym typeface="Calibri"/>
              </a:rPr>
            </a:br>
            <a:br>
              <a:rPr lang="en-US" sz="1100">
                <a:solidFill>
                  <a:srgbClr val="1B2A4A"/>
                </a:solidFill>
                <a:latin typeface="Calibri"/>
                <a:ea typeface="Calibri"/>
                <a:cs typeface="Calibri"/>
                <a:sym typeface="Calibri"/>
              </a:rPr>
            </a:br>
            <a:endParaRPr sz="1100">
              <a:solidFill>
                <a:schemeClr val="dk1"/>
              </a:solidFill>
              <a:latin typeface="Calibri"/>
              <a:ea typeface="Calibri"/>
              <a:cs typeface="Calibri"/>
              <a:sym typeface="Calibri"/>
            </a:endParaRPr>
          </a:p>
        </p:txBody>
      </p:sp>
      <p:sp>
        <p:nvSpPr>
          <p:cNvPr id="388" name="Google Shape;388;p18"/>
          <p:cNvSpPr/>
          <p:nvPr/>
        </p:nvSpPr>
        <p:spPr>
          <a:xfrm>
            <a:off x="6834719" y="1758694"/>
            <a:ext cx="1815793" cy="2782683"/>
          </a:xfrm>
          <a:prstGeom prst="rect">
            <a:avLst/>
          </a:prstGeom>
          <a:solidFill>
            <a:srgbClr val="D6E8F5"/>
          </a:solidFill>
          <a:ln cap="flat" cmpd="sng" w="19050">
            <a:solidFill>
              <a:srgbClr val="97AB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8"/>
          <p:cNvSpPr/>
          <p:nvPr/>
        </p:nvSpPr>
        <p:spPr>
          <a:xfrm>
            <a:off x="6834719" y="1758695"/>
            <a:ext cx="1815793" cy="438912"/>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8"/>
          <p:cNvSpPr/>
          <p:nvPr/>
        </p:nvSpPr>
        <p:spPr>
          <a:xfrm>
            <a:off x="6926158" y="1786127"/>
            <a:ext cx="1693927"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Tasks</a:t>
            </a:r>
            <a:endParaRPr sz="1400">
              <a:solidFill>
                <a:schemeClr val="dk1"/>
              </a:solidFill>
              <a:latin typeface="Calibri"/>
              <a:ea typeface="Calibri"/>
              <a:cs typeface="Calibri"/>
              <a:sym typeface="Calibri"/>
            </a:endParaRPr>
          </a:p>
        </p:txBody>
      </p:sp>
      <p:sp>
        <p:nvSpPr>
          <p:cNvPr id="391" name="Google Shape;391;p18"/>
          <p:cNvSpPr/>
          <p:nvPr/>
        </p:nvSpPr>
        <p:spPr>
          <a:xfrm>
            <a:off x="6920442" y="2277435"/>
            <a:ext cx="1648206" cy="2834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Work items that make  the stories deliverable.</a:t>
            </a:r>
            <a:br>
              <a:rPr lang="en-US" sz="1100">
                <a:solidFill>
                  <a:schemeClr val="dk1"/>
                </a:solidFill>
                <a:latin typeface="Calibri"/>
                <a:ea typeface="Calibri"/>
                <a:cs typeface="Calibri"/>
                <a:sym typeface="Calibri"/>
              </a:rPr>
            </a:br>
            <a:br>
              <a:rPr lang="en-US" sz="1100">
                <a:solidFill>
                  <a:schemeClr val="dk1"/>
                </a:solidFill>
                <a:latin typeface="Calibri"/>
                <a:ea typeface="Calibri"/>
                <a:cs typeface="Calibri"/>
                <a:sym typeface="Calibri"/>
              </a:rPr>
            </a:br>
            <a:r>
              <a:rPr lang="en-US" sz="1100">
                <a:solidFill>
                  <a:schemeClr val="dk1"/>
                </a:solidFill>
                <a:latin typeface="Calibri"/>
                <a:ea typeface="Calibri"/>
                <a:cs typeface="Calibri"/>
                <a:sym typeface="Calibri"/>
              </a:rPr>
              <a:t>Each needs to have clear remit, and detail who </a:t>
            </a:r>
            <a:r>
              <a:rPr lang="en-US" sz="1100">
                <a:solidFill>
                  <a:schemeClr val="dk1"/>
                </a:solidFill>
                <a:latin typeface="Calibri"/>
                <a:ea typeface="Calibri"/>
                <a:cs typeface="Calibri"/>
                <a:sym typeface="Calibri"/>
              </a:rPr>
              <a:t>will</a:t>
            </a:r>
            <a:r>
              <a:rPr lang="en-US" sz="1100">
                <a:solidFill>
                  <a:schemeClr val="dk1"/>
                </a:solidFill>
                <a:latin typeface="Calibri"/>
                <a:ea typeface="Calibri"/>
                <a:cs typeface="Calibri"/>
                <a:sym typeface="Calibri"/>
              </a:rPr>
              <a:t> do what and when by.</a:t>
            </a:r>
            <a:br>
              <a:rPr lang="en-US" sz="1100">
                <a:solidFill>
                  <a:schemeClr val="dk1"/>
                </a:solidFill>
                <a:latin typeface="Calibri"/>
                <a:ea typeface="Calibri"/>
                <a:cs typeface="Calibri"/>
                <a:sym typeface="Calibri"/>
              </a:rPr>
            </a:br>
            <a:br>
              <a:rPr lang="en-US" sz="1100">
                <a:solidFill>
                  <a:schemeClr val="dk1"/>
                </a:solidFill>
                <a:latin typeface="Calibri"/>
                <a:ea typeface="Calibri"/>
                <a:cs typeface="Calibri"/>
                <a:sym typeface="Calibri"/>
              </a:rPr>
            </a:br>
            <a:r>
              <a:rPr lang="en-US" sz="1100">
                <a:solidFill>
                  <a:schemeClr val="dk1"/>
                </a:solidFill>
                <a:latin typeface="Calibri"/>
                <a:ea typeface="Calibri"/>
                <a:cs typeface="Calibri"/>
                <a:sym typeface="Calibri"/>
              </a:rPr>
              <a:t>Cover deadlines, deliverables, dependencies and a clear definition of done.</a:t>
            </a:r>
            <a:br>
              <a:rPr lang="en-US" sz="1100">
                <a:solidFill>
                  <a:schemeClr val="dk1"/>
                </a:solidFill>
                <a:latin typeface="Calibri"/>
                <a:ea typeface="Calibri"/>
                <a:cs typeface="Calibri"/>
                <a:sym typeface="Calibri"/>
              </a:rPr>
            </a:br>
            <a:br>
              <a:rPr lang="en-US"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9"/>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9"/>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Agile Ceremonies and success factors</a:t>
            </a:r>
            <a:endParaRPr sz="2000">
              <a:solidFill>
                <a:schemeClr val="dk1"/>
              </a:solidFill>
              <a:latin typeface="Calibri"/>
              <a:ea typeface="Calibri"/>
              <a:cs typeface="Calibri"/>
              <a:sym typeface="Calibri"/>
            </a:endParaRPr>
          </a:p>
        </p:txBody>
      </p:sp>
      <p:sp>
        <p:nvSpPr>
          <p:cNvPr id="399" name="Google Shape;399;p19"/>
          <p:cNvSpPr/>
          <p:nvPr/>
        </p:nvSpPr>
        <p:spPr>
          <a:xfrm>
            <a:off x="365760" y="5001378"/>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400" name="Google Shape;400;p19"/>
          <p:cNvSpPr/>
          <p:nvPr/>
        </p:nvSpPr>
        <p:spPr>
          <a:xfrm>
            <a:off x="4572000" y="5001378"/>
            <a:ext cx="42063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401" name="Google Shape;401;p19"/>
          <p:cNvCxnSpPr/>
          <p:nvPr/>
        </p:nvCxnSpPr>
        <p:spPr>
          <a:xfrm>
            <a:off x="365760" y="4983090"/>
            <a:ext cx="8778300" cy="0"/>
          </a:xfrm>
          <a:prstGeom prst="straightConnector1">
            <a:avLst/>
          </a:prstGeom>
          <a:noFill/>
          <a:ln cap="flat" cmpd="sng" w="9525">
            <a:solidFill>
              <a:srgbClr val="B8CCE0"/>
            </a:solidFill>
            <a:prstDash val="solid"/>
            <a:round/>
            <a:headEnd len="sm" w="sm" type="none"/>
            <a:tailEnd len="sm" w="sm" type="none"/>
          </a:ln>
        </p:spPr>
      </p:cxnSp>
      <p:sp>
        <p:nvSpPr>
          <p:cNvPr id="402" name="Google Shape;402;p19"/>
          <p:cNvSpPr/>
          <p:nvPr/>
        </p:nvSpPr>
        <p:spPr>
          <a:xfrm>
            <a:off x="320050" y="1039800"/>
            <a:ext cx="2724900" cy="1614000"/>
          </a:xfrm>
          <a:prstGeom prst="rect">
            <a:avLst/>
          </a:prstGeom>
          <a:solidFill>
            <a:srgbClr val="D6E8F5"/>
          </a:solidFill>
          <a:ln cap="flat" cmpd="sng" w="9525">
            <a:solidFill>
              <a:srgbClr val="B8C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9"/>
          <p:cNvSpPr/>
          <p:nvPr/>
        </p:nvSpPr>
        <p:spPr>
          <a:xfrm>
            <a:off x="320050" y="1039800"/>
            <a:ext cx="63900" cy="1614000"/>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9"/>
          <p:cNvSpPr/>
          <p:nvPr/>
        </p:nvSpPr>
        <p:spPr>
          <a:xfrm>
            <a:off x="457200" y="1131245"/>
            <a:ext cx="2514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lang="en-US" sz="1000">
                <a:solidFill>
                  <a:srgbClr val="1B2A4A"/>
                </a:solidFill>
                <a:latin typeface="Calibri"/>
                <a:ea typeface="Calibri"/>
                <a:cs typeface="Calibri"/>
                <a:sym typeface="Calibri"/>
              </a:rPr>
              <a:t>Standups </a:t>
            </a:r>
            <a:endParaRPr sz="1000">
              <a:solidFill>
                <a:schemeClr val="dk1"/>
              </a:solidFill>
              <a:latin typeface="Calibri"/>
              <a:ea typeface="Calibri"/>
              <a:cs typeface="Calibri"/>
              <a:sym typeface="Calibri"/>
            </a:endParaRPr>
          </a:p>
        </p:txBody>
      </p:sp>
      <p:sp>
        <p:nvSpPr>
          <p:cNvPr id="405" name="Google Shape;405;p19"/>
          <p:cNvSpPr/>
          <p:nvPr/>
        </p:nvSpPr>
        <p:spPr>
          <a:xfrm>
            <a:off x="457200" y="1442141"/>
            <a:ext cx="2514600" cy="96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Daily touchpoints that keep teams aligned, surface blockers early, and maintain shared momentum. </a:t>
            </a:r>
            <a:br>
              <a:rPr lang="en-US" sz="900">
                <a:solidFill>
                  <a:schemeClr val="dk1"/>
                </a:solidFill>
                <a:latin typeface="Calibri"/>
                <a:ea typeface="Calibri"/>
                <a:cs typeface="Calibri"/>
                <a:sym typeface="Calibri"/>
              </a:rPr>
            </a:br>
            <a:br>
              <a:rPr lang="en-US" sz="900">
                <a:solidFill>
                  <a:schemeClr val="dk1"/>
                </a:solidFill>
                <a:latin typeface="Calibri"/>
                <a:ea typeface="Calibri"/>
                <a:cs typeface="Calibri"/>
                <a:sym typeface="Calibri"/>
              </a:rPr>
            </a:br>
            <a:r>
              <a:rPr i="1" lang="en-US" sz="900">
                <a:solidFill>
                  <a:schemeClr val="dk1"/>
                </a:solidFill>
                <a:latin typeface="Calibri"/>
                <a:ea typeface="Calibri"/>
                <a:cs typeface="Calibri"/>
                <a:sym typeface="Calibri"/>
              </a:rPr>
              <a:t>Avoid using calls as the main way to ‘check in’ on what everyone is up to – make them strategic.</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sz="900">
              <a:solidFill>
                <a:schemeClr val="dk1"/>
              </a:solidFill>
              <a:latin typeface="Calibri"/>
              <a:ea typeface="Calibri"/>
              <a:cs typeface="Calibri"/>
              <a:sym typeface="Calibri"/>
            </a:endParaRPr>
          </a:p>
        </p:txBody>
      </p:sp>
      <p:sp>
        <p:nvSpPr>
          <p:cNvPr id="406" name="Google Shape;406;p19"/>
          <p:cNvSpPr/>
          <p:nvPr/>
        </p:nvSpPr>
        <p:spPr>
          <a:xfrm>
            <a:off x="3172976" y="1039800"/>
            <a:ext cx="2724900" cy="1614000"/>
          </a:xfrm>
          <a:prstGeom prst="rect">
            <a:avLst/>
          </a:prstGeom>
          <a:solidFill>
            <a:srgbClr val="D6E8F5"/>
          </a:solidFill>
          <a:ln cap="flat" cmpd="sng" w="9525">
            <a:solidFill>
              <a:srgbClr val="B8C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9"/>
          <p:cNvSpPr/>
          <p:nvPr/>
        </p:nvSpPr>
        <p:spPr>
          <a:xfrm>
            <a:off x="3172976" y="1039800"/>
            <a:ext cx="63900" cy="1614000"/>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
          <p:cNvSpPr/>
          <p:nvPr/>
        </p:nvSpPr>
        <p:spPr>
          <a:xfrm>
            <a:off x="3310128" y="1131245"/>
            <a:ext cx="2514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lang="en-US" sz="1000">
                <a:solidFill>
                  <a:srgbClr val="1B2A4A"/>
                </a:solidFill>
                <a:latin typeface="Calibri"/>
                <a:ea typeface="Calibri"/>
                <a:cs typeface="Calibri"/>
                <a:sym typeface="Calibri"/>
              </a:rPr>
              <a:t>Kanban</a:t>
            </a:r>
            <a:endParaRPr sz="1000">
              <a:solidFill>
                <a:schemeClr val="dk1"/>
              </a:solidFill>
              <a:latin typeface="Calibri"/>
              <a:ea typeface="Calibri"/>
              <a:cs typeface="Calibri"/>
              <a:sym typeface="Calibri"/>
            </a:endParaRPr>
          </a:p>
        </p:txBody>
      </p:sp>
      <p:sp>
        <p:nvSpPr>
          <p:cNvPr id="409" name="Google Shape;409;p19"/>
          <p:cNvSpPr/>
          <p:nvPr/>
        </p:nvSpPr>
        <p:spPr>
          <a:xfrm>
            <a:off x="3310128" y="1442141"/>
            <a:ext cx="2514600" cy="96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A visual system that makes work in progress visible and prevents overload across the team. </a:t>
            </a:r>
            <a:br>
              <a:rPr lang="en-US" sz="900">
                <a:solidFill>
                  <a:schemeClr val="dk1"/>
                </a:solidFill>
                <a:latin typeface="Calibri"/>
                <a:ea typeface="Calibri"/>
                <a:cs typeface="Calibri"/>
                <a:sym typeface="Calibri"/>
              </a:rPr>
            </a:br>
            <a:br>
              <a:rPr lang="en-US" sz="900">
                <a:solidFill>
                  <a:schemeClr val="dk1"/>
                </a:solidFill>
                <a:latin typeface="Calibri"/>
                <a:ea typeface="Calibri"/>
                <a:cs typeface="Calibri"/>
                <a:sym typeface="Calibri"/>
              </a:rPr>
            </a:br>
            <a:r>
              <a:rPr i="1" lang="en-US" sz="900">
                <a:solidFill>
                  <a:schemeClr val="dk1"/>
                </a:solidFill>
                <a:latin typeface="Calibri"/>
                <a:ea typeface="Calibri"/>
                <a:cs typeface="Calibri"/>
                <a:sym typeface="Calibri"/>
              </a:rPr>
              <a:t>Be strategic about what you show – and  how you will map and demonstrate progress visually.</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sz="900">
              <a:solidFill>
                <a:schemeClr val="dk1"/>
              </a:solidFill>
              <a:latin typeface="Calibri"/>
              <a:ea typeface="Calibri"/>
              <a:cs typeface="Calibri"/>
              <a:sym typeface="Calibri"/>
            </a:endParaRPr>
          </a:p>
        </p:txBody>
      </p:sp>
      <p:sp>
        <p:nvSpPr>
          <p:cNvPr id="410" name="Google Shape;410;p19"/>
          <p:cNvSpPr/>
          <p:nvPr/>
        </p:nvSpPr>
        <p:spPr>
          <a:xfrm>
            <a:off x="6025902" y="1039800"/>
            <a:ext cx="2724900" cy="1614000"/>
          </a:xfrm>
          <a:prstGeom prst="rect">
            <a:avLst/>
          </a:prstGeom>
          <a:solidFill>
            <a:srgbClr val="D6E8F5"/>
          </a:solidFill>
          <a:ln cap="flat" cmpd="sng" w="9525">
            <a:solidFill>
              <a:srgbClr val="B8C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19"/>
          <p:cNvSpPr/>
          <p:nvPr/>
        </p:nvSpPr>
        <p:spPr>
          <a:xfrm>
            <a:off x="6025902" y="1039800"/>
            <a:ext cx="63900" cy="1614000"/>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9"/>
          <p:cNvSpPr/>
          <p:nvPr/>
        </p:nvSpPr>
        <p:spPr>
          <a:xfrm>
            <a:off x="6163056" y="1131245"/>
            <a:ext cx="2514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lang="en-US" sz="1000">
                <a:solidFill>
                  <a:srgbClr val="1B2A4A"/>
                </a:solidFill>
                <a:latin typeface="Calibri"/>
                <a:ea typeface="Calibri"/>
                <a:cs typeface="Calibri"/>
                <a:sym typeface="Calibri"/>
              </a:rPr>
              <a:t>Retros</a:t>
            </a:r>
            <a:endParaRPr sz="1000">
              <a:solidFill>
                <a:schemeClr val="dk1"/>
              </a:solidFill>
              <a:latin typeface="Calibri"/>
              <a:ea typeface="Calibri"/>
              <a:cs typeface="Calibri"/>
              <a:sym typeface="Calibri"/>
            </a:endParaRPr>
          </a:p>
        </p:txBody>
      </p:sp>
      <p:sp>
        <p:nvSpPr>
          <p:cNvPr id="413" name="Google Shape;413;p19"/>
          <p:cNvSpPr/>
          <p:nvPr/>
        </p:nvSpPr>
        <p:spPr>
          <a:xfrm>
            <a:off x="6163056" y="1442141"/>
            <a:ext cx="2514600" cy="96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Structured reflection that turns team feedback about what has happened into opportunities for the next sprint, and to improve ways of working.</a:t>
            </a:r>
            <a:br>
              <a:rPr lang="en-US" sz="900">
                <a:solidFill>
                  <a:schemeClr val="dk1"/>
                </a:solidFill>
                <a:latin typeface="Calibri"/>
                <a:ea typeface="Calibri"/>
                <a:cs typeface="Calibri"/>
                <a:sym typeface="Calibri"/>
              </a:rPr>
            </a:br>
            <a:br>
              <a:rPr lang="en-US" sz="900">
                <a:solidFill>
                  <a:schemeClr val="dk1"/>
                </a:solidFill>
                <a:latin typeface="Calibri"/>
                <a:ea typeface="Calibri"/>
                <a:cs typeface="Calibri"/>
                <a:sym typeface="Calibri"/>
              </a:rPr>
            </a:br>
            <a:r>
              <a:rPr i="1" lang="en-US" sz="900">
                <a:solidFill>
                  <a:schemeClr val="dk1"/>
                </a:solidFill>
                <a:latin typeface="Calibri"/>
                <a:ea typeface="Calibri"/>
                <a:cs typeface="Calibri"/>
                <a:sym typeface="Calibri"/>
              </a:rPr>
              <a:t>Most effective when people are free to speak up, and actions are owned and followed up.</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sz="900">
              <a:solidFill>
                <a:schemeClr val="dk1"/>
              </a:solidFill>
              <a:latin typeface="Calibri"/>
              <a:ea typeface="Calibri"/>
              <a:cs typeface="Calibri"/>
              <a:sym typeface="Calibri"/>
            </a:endParaRPr>
          </a:p>
        </p:txBody>
      </p:sp>
      <p:sp>
        <p:nvSpPr>
          <p:cNvPr id="414" name="Google Shape;414;p19"/>
          <p:cNvSpPr/>
          <p:nvPr/>
        </p:nvSpPr>
        <p:spPr>
          <a:xfrm>
            <a:off x="320050" y="2795076"/>
            <a:ext cx="2724900" cy="1614000"/>
          </a:xfrm>
          <a:prstGeom prst="rect">
            <a:avLst/>
          </a:prstGeom>
          <a:solidFill>
            <a:srgbClr val="D6E8F5"/>
          </a:solidFill>
          <a:ln cap="flat" cmpd="sng" w="9525">
            <a:solidFill>
              <a:srgbClr val="B8C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9"/>
          <p:cNvSpPr/>
          <p:nvPr/>
        </p:nvSpPr>
        <p:spPr>
          <a:xfrm>
            <a:off x="320050" y="2795076"/>
            <a:ext cx="63900" cy="1614000"/>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9"/>
          <p:cNvSpPr/>
          <p:nvPr/>
        </p:nvSpPr>
        <p:spPr>
          <a:xfrm>
            <a:off x="457200" y="2886503"/>
            <a:ext cx="2514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lang="en-US" sz="1000">
                <a:solidFill>
                  <a:srgbClr val="1B2A4A"/>
                </a:solidFill>
                <a:latin typeface="Calibri"/>
                <a:ea typeface="Calibri"/>
                <a:cs typeface="Calibri"/>
                <a:sym typeface="Calibri"/>
              </a:rPr>
              <a:t>Planning</a:t>
            </a:r>
            <a:endParaRPr sz="1000">
              <a:solidFill>
                <a:schemeClr val="dk1"/>
              </a:solidFill>
              <a:latin typeface="Calibri"/>
              <a:ea typeface="Calibri"/>
              <a:cs typeface="Calibri"/>
              <a:sym typeface="Calibri"/>
            </a:endParaRPr>
          </a:p>
        </p:txBody>
      </p:sp>
      <p:sp>
        <p:nvSpPr>
          <p:cNvPr id="417" name="Google Shape;417;p19"/>
          <p:cNvSpPr/>
          <p:nvPr/>
        </p:nvSpPr>
        <p:spPr>
          <a:xfrm>
            <a:off x="457200" y="3197399"/>
            <a:ext cx="2514600" cy="96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Establishing what gets built next, why it matters, and what done looks like – and when pivots may be needed.</a:t>
            </a:r>
            <a:endParaRPr/>
          </a:p>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lang="en-US" sz="900">
                <a:solidFill>
                  <a:schemeClr val="dk1"/>
                </a:solidFill>
                <a:latin typeface="Calibri"/>
                <a:ea typeface="Calibri"/>
                <a:cs typeface="Calibri"/>
                <a:sym typeface="Calibri"/>
              </a:rPr>
              <a:t> </a:t>
            </a:r>
            <a:r>
              <a:rPr i="1" lang="en-US" sz="900">
                <a:solidFill>
                  <a:schemeClr val="dk1"/>
                </a:solidFill>
                <a:latin typeface="Calibri"/>
                <a:ea typeface="Calibri"/>
                <a:cs typeface="Calibri"/>
                <a:sym typeface="Calibri"/>
              </a:rPr>
              <a:t>Involve the people doing the work, not just those in commissioning or management roles,</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sz="900">
              <a:solidFill>
                <a:schemeClr val="dk1"/>
              </a:solidFill>
              <a:latin typeface="Calibri"/>
              <a:ea typeface="Calibri"/>
              <a:cs typeface="Calibri"/>
              <a:sym typeface="Calibri"/>
            </a:endParaRPr>
          </a:p>
        </p:txBody>
      </p:sp>
      <p:sp>
        <p:nvSpPr>
          <p:cNvPr id="418" name="Google Shape;418;p19"/>
          <p:cNvSpPr/>
          <p:nvPr/>
        </p:nvSpPr>
        <p:spPr>
          <a:xfrm>
            <a:off x="3172976" y="2795076"/>
            <a:ext cx="2724900" cy="16140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9"/>
          <p:cNvSpPr/>
          <p:nvPr/>
        </p:nvSpPr>
        <p:spPr>
          <a:xfrm>
            <a:off x="3172976" y="2795076"/>
            <a:ext cx="63900" cy="1614000"/>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9"/>
          <p:cNvSpPr/>
          <p:nvPr/>
        </p:nvSpPr>
        <p:spPr>
          <a:xfrm>
            <a:off x="3310128" y="2886503"/>
            <a:ext cx="2514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lang="en-US" sz="1000">
                <a:solidFill>
                  <a:srgbClr val="1B2A4A"/>
                </a:solidFill>
                <a:latin typeface="Calibri"/>
                <a:ea typeface="Calibri"/>
                <a:cs typeface="Calibri"/>
                <a:sym typeface="Calibri"/>
              </a:rPr>
              <a:t>Prioritisation</a:t>
            </a:r>
            <a:endParaRPr sz="1000">
              <a:solidFill>
                <a:schemeClr val="dk1"/>
              </a:solidFill>
              <a:latin typeface="Calibri"/>
              <a:ea typeface="Calibri"/>
              <a:cs typeface="Calibri"/>
              <a:sym typeface="Calibri"/>
            </a:endParaRPr>
          </a:p>
        </p:txBody>
      </p:sp>
      <p:sp>
        <p:nvSpPr>
          <p:cNvPr id="421" name="Google Shape;421;p19"/>
          <p:cNvSpPr/>
          <p:nvPr/>
        </p:nvSpPr>
        <p:spPr>
          <a:xfrm>
            <a:off x="3310128" y="3197399"/>
            <a:ext cx="2514600" cy="96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Explicit shared decisions about what will deliver most value and opportunities, for whom, and when.</a:t>
            </a:r>
            <a:endParaRPr/>
          </a:p>
          <a:p>
            <a:pPr indent="0" lvl="0" marL="0" marR="0" rtl="0" algn="l">
              <a:spcBef>
                <a:spcPts val="0"/>
              </a:spcBef>
              <a:spcAft>
                <a:spcPts val="0"/>
              </a:spcAft>
              <a:buNone/>
            </a:pPr>
            <a:r>
              <a:t/>
            </a:r>
            <a:endParaRPr i="1" sz="900">
              <a:solidFill>
                <a:schemeClr val="dk1"/>
              </a:solidFill>
              <a:latin typeface="Calibri"/>
              <a:ea typeface="Calibri"/>
              <a:cs typeface="Calibri"/>
              <a:sym typeface="Calibri"/>
            </a:endParaRPr>
          </a:p>
          <a:p>
            <a:pPr indent="0" lvl="0" marL="0" marR="0" rtl="0" algn="l">
              <a:spcBef>
                <a:spcPts val="0"/>
              </a:spcBef>
              <a:spcAft>
                <a:spcPts val="0"/>
              </a:spcAft>
              <a:buNone/>
            </a:pPr>
            <a:r>
              <a:rPr i="1" lang="en-US" sz="900">
                <a:solidFill>
                  <a:schemeClr val="dk1"/>
                </a:solidFill>
                <a:latin typeface="Calibri"/>
                <a:ea typeface="Calibri"/>
                <a:cs typeface="Calibri"/>
                <a:sym typeface="Calibri"/>
              </a:rPr>
              <a:t>Best supported by a roadmap and clear vision statement. If everything is a priority, nothing is!</a:t>
            </a:r>
            <a:endParaRPr sz="900">
              <a:solidFill>
                <a:schemeClr val="dk1"/>
              </a:solidFill>
              <a:latin typeface="Calibri"/>
              <a:ea typeface="Calibri"/>
              <a:cs typeface="Calibri"/>
              <a:sym typeface="Calibri"/>
            </a:endParaRPr>
          </a:p>
        </p:txBody>
      </p:sp>
      <p:sp>
        <p:nvSpPr>
          <p:cNvPr id="422" name="Google Shape;422;p19"/>
          <p:cNvSpPr/>
          <p:nvPr/>
        </p:nvSpPr>
        <p:spPr>
          <a:xfrm>
            <a:off x="6025902" y="2795076"/>
            <a:ext cx="2724900" cy="16140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9"/>
          <p:cNvSpPr/>
          <p:nvPr/>
        </p:nvSpPr>
        <p:spPr>
          <a:xfrm>
            <a:off x="6025902" y="2795076"/>
            <a:ext cx="63900" cy="1614000"/>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9"/>
          <p:cNvSpPr/>
          <p:nvPr/>
        </p:nvSpPr>
        <p:spPr>
          <a:xfrm>
            <a:off x="6163056" y="2886503"/>
            <a:ext cx="2514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lang="en-US" sz="1000">
                <a:solidFill>
                  <a:srgbClr val="1B2A4A"/>
                </a:solidFill>
                <a:latin typeface="Calibri"/>
                <a:ea typeface="Calibri"/>
                <a:cs typeface="Calibri"/>
                <a:sym typeface="Calibri"/>
              </a:rPr>
              <a:t>Reflection </a:t>
            </a:r>
            <a:endParaRPr sz="1000">
              <a:solidFill>
                <a:schemeClr val="dk1"/>
              </a:solidFill>
              <a:latin typeface="Calibri"/>
              <a:ea typeface="Calibri"/>
              <a:cs typeface="Calibri"/>
              <a:sym typeface="Calibri"/>
            </a:endParaRPr>
          </a:p>
        </p:txBody>
      </p:sp>
      <p:sp>
        <p:nvSpPr>
          <p:cNvPr id="425" name="Google Shape;425;p19"/>
          <p:cNvSpPr/>
          <p:nvPr/>
        </p:nvSpPr>
        <p:spPr>
          <a:xfrm>
            <a:off x="6163056" y="3197399"/>
            <a:ext cx="2514600" cy="96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900">
                <a:solidFill>
                  <a:schemeClr val="dk1"/>
                </a:solidFill>
                <a:latin typeface="Calibri"/>
                <a:ea typeface="Calibri"/>
                <a:cs typeface="Calibri"/>
                <a:sym typeface="Calibri"/>
              </a:rPr>
              <a:t>Stepping back from delivery often to assess direction, impact, value of approaches, and risks.</a:t>
            </a:r>
            <a:br>
              <a:rPr lang="en-US" sz="900">
                <a:solidFill>
                  <a:schemeClr val="dk1"/>
                </a:solidFill>
                <a:latin typeface="Calibri"/>
                <a:ea typeface="Calibri"/>
                <a:cs typeface="Calibri"/>
                <a:sym typeface="Calibri"/>
              </a:rPr>
            </a:b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i="1" lang="en-US" sz="900">
                <a:solidFill>
                  <a:schemeClr val="dk1"/>
                </a:solidFill>
                <a:latin typeface="Calibri"/>
                <a:ea typeface="Calibri"/>
                <a:cs typeface="Calibri"/>
                <a:sym typeface="Calibri"/>
              </a:rPr>
              <a:t>Ask: Are we building it right - and are we building the right thing, in the most effective way?</a:t>
            </a:r>
            <a:endParaRPr sz="9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0"/>
          <p:cNvSpPr/>
          <p:nvPr/>
        </p:nvSpPr>
        <p:spPr>
          <a:xfrm>
            <a:off x="0" y="-1"/>
            <a:ext cx="9144000" cy="5428343"/>
          </a:xfrm>
          <a:prstGeom prst="rect">
            <a:avLst/>
          </a:prstGeom>
          <a:solidFill>
            <a:srgbClr val="1B2A4A"/>
          </a:solidFill>
          <a:ln cap="flat" cmpd="sng" w="12700">
            <a:solidFill>
              <a:srgbClr val="1B2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20"/>
          <p:cNvSpPr/>
          <p:nvPr/>
        </p:nvSpPr>
        <p:spPr>
          <a:xfrm>
            <a:off x="457200" y="3757895"/>
            <a:ext cx="8412480" cy="42319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FFFFFF"/>
                </a:solidFill>
                <a:latin typeface="Calibri"/>
                <a:ea typeface="Calibri"/>
                <a:cs typeface="Calibri"/>
                <a:sym typeface="Calibri"/>
              </a:rPr>
              <a:t>Strategic Design</a:t>
            </a:r>
            <a:endParaRPr b="1" sz="2400">
              <a:solidFill>
                <a:srgbClr val="FFFFFF"/>
              </a:solidFill>
              <a:latin typeface="Calibri"/>
              <a:ea typeface="Calibri"/>
              <a:cs typeface="Calibri"/>
              <a:sym typeface="Calibri"/>
            </a:endParaRPr>
          </a:p>
        </p:txBody>
      </p:sp>
      <p:sp>
        <p:nvSpPr>
          <p:cNvPr id="433" name="Google Shape;433;p20"/>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434" name="Google Shape;434;p20"/>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435" name="Google Shape;435;p20"/>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1"/>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1"/>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Strategic Design Tools</a:t>
            </a:r>
            <a:endParaRPr sz="2000">
              <a:solidFill>
                <a:schemeClr val="dk1"/>
              </a:solidFill>
              <a:latin typeface="Calibri"/>
              <a:ea typeface="Calibri"/>
              <a:cs typeface="Calibri"/>
              <a:sym typeface="Calibri"/>
            </a:endParaRPr>
          </a:p>
        </p:txBody>
      </p:sp>
      <p:sp>
        <p:nvSpPr>
          <p:cNvPr id="443" name="Google Shape;443;p21"/>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444" name="Google Shape;444;p21"/>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445" name="Google Shape;445;p21"/>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
        <p:nvSpPr>
          <p:cNvPr id="446" name="Google Shape;446;p21"/>
          <p:cNvSpPr/>
          <p:nvPr/>
        </p:nvSpPr>
        <p:spPr>
          <a:xfrm>
            <a:off x="320040" y="2005537"/>
            <a:ext cx="2724912" cy="2240991"/>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1"/>
          <p:cNvSpPr/>
          <p:nvPr/>
        </p:nvSpPr>
        <p:spPr>
          <a:xfrm>
            <a:off x="320040" y="2005537"/>
            <a:ext cx="64008" cy="2240991"/>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1"/>
          <p:cNvSpPr/>
          <p:nvPr/>
        </p:nvSpPr>
        <p:spPr>
          <a:xfrm>
            <a:off x="457200" y="2069546"/>
            <a:ext cx="25146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lang="en-US" sz="1100">
                <a:solidFill>
                  <a:srgbClr val="1B2A4A"/>
                </a:solidFill>
                <a:latin typeface="Calibri"/>
                <a:ea typeface="Calibri"/>
                <a:cs typeface="Calibri"/>
                <a:sym typeface="Calibri"/>
              </a:rPr>
              <a:t>Business Case</a:t>
            </a:r>
            <a:endParaRPr sz="1100">
              <a:solidFill>
                <a:schemeClr val="dk1"/>
              </a:solidFill>
              <a:latin typeface="Calibri"/>
              <a:ea typeface="Calibri"/>
              <a:cs typeface="Calibri"/>
              <a:sym typeface="Calibri"/>
            </a:endParaRPr>
          </a:p>
        </p:txBody>
      </p:sp>
      <p:sp>
        <p:nvSpPr>
          <p:cNvPr id="449" name="Google Shape;449;p21"/>
          <p:cNvSpPr/>
          <p:nvPr/>
        </p:nvSpPr>
        <p:spPr>
          <a:xfrm>
            <a:off x="457200" y="2398730"/>
            <a:ext cx="2514600" cy="13533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lang="en-US" sz="950">
                <a:solidFill>
                  <a:srgbClr val="1B2A4A"/>
                </a:solidFill>
                <a:latin typeface="Calibri"/>
                <a:ea typeface="Calibri"/>
                <a:cs typeface="Calibri"/>
                <a:sym typeface="Calibri"/>
              </a:rPr>
              <a:t>Ensures design activity is aligned with organisational goals. Builds the investment case using user insight, performance data, and the cost of known pain points. Demonstrates how improvements will increase value, compliance, and operational assurance.</a:t>
            </a:r>
            <a:endParaRPr sz="950">
              <a:solidFill>
                <a:schemeClr val="dk1"/>
              </a:solidFill>
              <a:latin typeface="Calibri"/>
              <a:ea typeface="Calibri"/>
              <a:cs typeface="Calibri"/>
              <a:sym typeface="Calibri"/>
            </a:endParaRPr>
          </a:p>
        </p:txBody>
      </p:sp>
      <p:sp>
        <p:nvSpPr>
          <p:cNvPr id="450" name="Google Shape;450;p21"/>
          <p:cNvSpPr/>
          <p:nvPr/>
        </p:nvSpPr>
        <p:spPr>
          <a:xfrm>
            <a:off x="3172968" y="2005537"/>
            <a:ext cx="2724912" cy="2240991"/>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1"/>
          <p:cNvSpPr/>
          <p:nvPr/>
        </p:nvSpPr>
        <p:spPr>
          <a:xfrm>
            <a:off x="3172968" y="2005537"/>
            <a:ext cx="64008" cy="2240991"/>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1"/>
          <p:cNvSpPr/>
          <p:nvPr/>
        </p:nvSpPr>
        <p:spPr>
          <a:xfrm>
            <a:off x="3310128" y="2069546"/>
            <a:ext cx="25146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lang="en-US" sz="1100">
                <a:solidFill>
                  <a:srgbClr val="1B2A4A"/>
                </a:solidFill>
                <a:latin typeface="Calibri"/>
                <a:ea typeface="Calibri"/>
                <a:cs typeface="Calibri"/>
                <a:sym typeface="Calibri"/>
              </a:rPr>
              <a:t>Roadmaps</a:t>
            </a:r>
            <a:endParaRPr sz="1100">
              <a:solidFill>
                <a:schemeClr val="dk1"/>
              </a:solidFill>
              <a:latin typeface="Calibri"/>
              <a:ea typeface="Calibri"/>
              <a:cs typeface="Calibri"/>
              <a:sym typeface="Calibri"/>
            </a:endParaRPr>
          </a:p>
        </p:txBody>
      </p:sp>
      <p:sp>
        <p:nvSpPr>
          <p:cNvPr id="453" name="Google Shape;453;p21"/>
          <p:cNvSpPr/>
          <p:nvPr/>
        </p:nvSpPr>
        <p:spPr>
          <a:xfrm>
            <a:off x="3310128" y="2398730"/>
            <a:ext cx="2642616" cy="13533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lang="en-US" sz="950">
                <a:solidFill>
                  <a:srgbClr val="1B2A4A"/>
                </a:solidFill>
                <a:latin typeface="Calibri"/>
                <a:ea typeface="Calibri"/>
                <a:cs typeface="Calibri"/>
                <a:sym typeface="Calibri"/>
              </a:rPr>
              <a:t>Provides a shared, aligned view of how services, features and priorities unfold over time. Connects user needs to policy, technical, and resource planning. Enables phased, iterative delivery while maintaining strategic direction. Encourages an ambitious approach to inclusion.</a:t>
            </a:r>
            <a:endParaRPr sz="950">
              <a:solidFill>
                <a:schemeClr val="dk1"/>
              </a:solidFill>
              <a:latin typeface="Calibri"/>
              <a:ea typeface="Calibri"/>
              <a:cs typeface="Calibri"/>
              <a:sym typeface="Calibri"/>
            </a:endParaRPr>
          </a:p>
        </p:txBody>
      </p:sp>
      <p:sp>
        <p:nvSpPr>
          <p:cNvPr id="454" name="Google Shape;454;p21"/>
          <p:cNvSpPr/>
          <p:nvPr/>
        </p:nvSpPr>
        <p:spPr>
          <a:xfrm>
            <a:off x="6025896" y="2005537"/>
            <a:ext cx="2724912" cy="2240991"/>
          </a:xfrm>
          <a:prstGeom prst="rect">
            <a:avLst/>
          </a:prstGeom>
          <a:solidFill>
            <a:srgbClr val="D6E8F5"/>
          </a:solidFill>
          <a:ln cap="flat" cmpd="sng" w="9525">
            <a:solidFill>
              <a:srgbClr val="B8C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21"/>
          <p:cNvSpPr/>
          <p:nvPr/>
        </p:nvSpPr>
        <p:spPr>
          <a:xfrm>
            <a:off x="6025896" y="2005537"/>
            <a:ext cx="64008" cy="2240991"/>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1"/>
          <p:cNvSpPr/>
          <p:nvPr/>
        </p:nvSpPr>
        <p:spPr>
          <a:xfrm>
            <a:off x="6163056" y="2069546"/>
            <a:ext cx="25146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lang="en-US" sz="1100">
                <a:solidFill>
                  <a:srgbClr val="1B2A4A"/>
                </a:solidFill>
                <a:latin typeface="Calibri"/>
                <a:ea typeface="Calibri"/>
                <a:cs typeface="Calibri"/>
                <a:sym typeface="Calibri"/>
              </a:rPr>
              <a:t>Design system, and patterns</a:t>
            </a:r>
            <a:endParaRPr sz="1100">
              <a:solidFill>
                <a:schemeClr val="dk1"/>
              </a:solidFill>
              <a:latin typeface="Calibri"/>
              <a:ea typeface="Calibri"/>
              <a:cs typeface="Calibri"/>
              <a:sym typeface="Calibri"/>
            </a:endParaRPr>
          </a:p>
        </p:txBody>
      </p:sp>
      <p:sp>
        <p:nvSpPr>
          <p:cNvPr id="457" name="Google Shape;457;p21"/>
          <p:cNvSpPr/>
          <p:nvPr/>
        </p:nvSpPr>
        <p:spPr>
          <a:xfrm>
            <a:off x="6163056" y="2398730"/>
            <a:ext cx="2514600" cy="13533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Developing reusable components and approaches that address recurring design problems, providing tested, reliable approaches to common requirements. This reduces rework, ensures consistency, and leaves more time for meeting specific needs. </a:t>
            </a:r>
            <a:endParaRPr sz="950">
              <a:solidFill>
                <a:schemeClr val="dk1"/>
              </a:solidFill>
              <a:latin typeface="Calibri"/>
              <a:ea typeface="Calibri"/>
              <a:cs typeface="Calibri"/>
              <a:sym typeface="Calibri"/>
            </a:endParaRPr>
          </a:p>
        </p:txBody>
      </p:sp>
      <p:sp>
        <p:nvSpPr>
          <p:cNvPr id="458" name="Google Shape;458;p21"/>
          <p:cNvSpPr/>
          <p:nvPr/>
        </p:nvSpPr>
        <p:spPr>
          <a:xfrm>
            <a:off x="265176" y="1036470"/>
            <a:ext cx="841248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These tools balance and align user needs, success criteria, and organisational intent — connecting immediate delivery with longer-term ambition, and building sustained value over time. From building the investment case to mapping priorities and developing reusable design approaches, they help ensure design choices and project objectives support intended outcomes.</a:t>
            </a:r>
            <a:r>
              <a:rPr lang="en-US" sz="1100">
                <a:solidFill>
                  <a:srgbClr val="C00000"/>
                </a:solidFill>
                <a:latin typeface="Calibri"/>
                <a:ea typeface="Calibri"/>
                <a:cs typeface="Calibri"/>
                <a:sym typeface="Calibri"/>
              </a:rPr>
              <a:t> </a:t>
            </a:r>
            <a:endParaRPr sz="1100">
              <a:solidFill>
                <a:srgbClr val="C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2"/>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2"/>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Strategic Design Best Practice</a:t>
            </a:r>
            <a:endParaRPr sz="2000">
              <a:solidFill>
                <a:schemeClr val="dk1"/>
              </a:solidFill>
              <a:latin typeface="Calibri"/>
              <a:ea typeface="Calibri"/>
              <a:cs typeface="Calibri"/>
              <a:sym typeface="Calibri"/>
            </a:endParaRPr>
          </a:p>
        </p:txBody>
      </p:sp>
      <p:sp>
        <p:nvSpPr>
          <p:cNvPr id="466" name="Google Shape;466;p22"/>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467" name="Google Shape;467;p22"/>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468" name="Google Shape;468;p22"/>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
        <p:nvSpPr>
          <p:cNvPr id="469" name="Google Shape;469;p22"/>
          <p:cNvSpPr/>
          <p:nvPr/>
        </p:nvSpPr>
        <p:spPr>
          <a:xfrm>
            <a:off x="246888" y="2640213"/>
            <a:ext cx="2724912" cy="1981845"/>
          </a:xfrm>
          <a:prstGeom prst="rect">
            <a:avLst/>
          </a:prstGeom>
          <a:solidFill>
            <a:srgbClr val="DDEAF6"/>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2"/>
          <p:cNvSpPr/>
          <p:nvPr/>
        </p:nvSpPr>
        <p:spPr>
          <a:xfrm>
            <a:off x="246888" y="2640214"/>
            <a:ext cx="2724912" cy="4572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2"/>
          <p:cNvSpPr/>
          <p:nvPr/>
        </p:nvSpPr>
        <p:spPr>
          <a:xfrm>
            <a:off x="338328" y="2713366"/>
            <a:ext cx="2514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lang="en-US" sz="1050">
                <a:solidFill>
                  <a:srgbClr val="1B2A4A"/>
                </a:solidFill>
                <a:latin typeface="Calibri"/>
                <a:ea typeface="Calibri"/>
                <a:cs typeface="Calibri"/>
                <a:sym typeface="Calibri"/>
              </a:rPr>
              <a:t>Reflective</a:t>
            </a:r>
            <a:endParaRPr sz="1050">
              <a:solidFill>
                <a:schemeClr val="dk1"/>
              </a:solidFill>
              <a:latin typeface="Calibri"/>
              <a:ea typeface="Calibri"/>
              <a:cs typeface="Calibri"/>
              <a:sym typeface="Calibri"/>
            </a:endParaRPr>
          </a:p>
        </p:txBody>
      </p:sp>
      <p:sp>
        <p:nvSpPr>
          <p:cNvPr id="472" name="Google Shape;472;p22"/>
          <p:cNvSpPr/>
          <p:nvPr/>
        </p:nvSpPr>
        <p:spPr>
          <a:xfrm>
            <a:off x="338328" y="3005974"/>
            <a:ext cx="2542032" cy="11155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lang="en-US" sz="900">
                <a:solidFill>
                  <a:srgbClr val="1B2A4A"/>
                </a:solidFill>
                <a:latin typeface="Calibri"/>
                <a:ea typeface="Calibri"/>
                <a:cs typeface="Calibri"/>
                <a:sym typeface="Calibri"/>
              </a:rPr>
              <a:t>Establish Theory of Change; and take time to reflect and ensure that activities and actions are well considered, appropriate and effective. </a:t>
            </a:r>
            <a:br>
              <a:rPr lang="en-US" sz="900">
                <a:solidFill>
                  <a:srgbClr val="1B2A4A"/>
                </a:solidFill>
                <a:latin typeface="Calibri"/>
                <a:ea typeface="Calibri"/>
                <a:cs typeface="Calibri"/>
                <a:sym typeface="Calibri"/>
              </a:rPr>
            </a:br>
            <a:endParaRPr sz="90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900"/>
              <a:buFont typeface="Calibri"/>
              <a:buNone/>
            </a:pPr>
            <a:r>
              <a:rPr lang="en-US" sz="900">
                <a:solidFill>
                  <a:srgbClr val="1B2A4A"/>
                </a:solidFill>
                <a:latin typeface="Calibri"/>
                <a:ea typeface="Calibri"/>
                <a:cs typeface="Calibri"/>
                <a:sym typeface="Calibri"/>
              </a:rPr>
              <a:t>Review design and operational approaches for fitness for purpose - at all project stages, and learn and adapt as needed. </a:t>
            </a:r>
            <a:br>
              <a:rPr lang="en-US" sz="900">
                <a:solidFill>
                  <a:srgbClr val="1B2A4A"/>
                </a:solidFill>
                <a:latin typeface="Calibri"/>
                <a:ea typeface="Calibri"/>
                <a:cs typeface="Calibri"/>
                <a:sym typeface="Calibri"/>
              </a:rPr>
            </a:br>
            <a:br>
              <a:rPr lang="en-US" sz="900">
                <a:solidFill>
                  <a:srgbClr val="1B2A4A"/>
                </a:solidFill>
                <a:latin typeface="Calibri"/>
                <a:ea typeface="Calibri"/>
                <a:cs typeface="Calibri"/>
                <a:sym typeface="Calibri"/>
              </a:rPr>
            </a:br>
            <a:r>
              <a:rPr lang="en-US" sz="900">
                <a:solidFill>
                  <a:srgbClr val="1B2A4A"/>
                </a:solidFill>
                <a:latin typeface="Calibri"/>
                <a:ea typeface="Calibri"/>
                <a:cs typeface="Calibri"/>
                <a:sym typeface="Calibri"/>
              </a:rPr>
              <a:t>Create communities of practice, and foster learning across Departments, roles and functions.</a:t>
            </a:r>
            <a:endParaRPr sz="900">
              <a:solidFill>
                <a:schemeClr val="dk1"/>
              </a:solidFill>
              <a:latin typeface="Calibri"/>
              <a:ea typeface="Calibri"/>
              <a:cs typeface="Calibri"/>
              <a:sym typeface="Calibri"/>
            </a:endParaRPr>
          </a:p>
        </p:txBody>
      </p:sp>
      <p:sp>
        <p:nvSpPr>
          <p:cNvPr id="473" name="Google Shape;473;p22"/>
          <p:cNvSpPr/>
          <p:nvPr/>
        </p:nvSpPr>
        <p:spPr>
          <a:xfrm>
            <a:off x="3099816" y="2640213"/>
            <a:ext cx="2724912" cy="1981845"/>
          </a:xfrm>
          <a:prstGeom prst="rect">
            <a:avLst/>
          </a:prstGeom>
          <a:solidFill>
            <a:srgbClr val="DDEAF6"/>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2"/>
          <p:cNvSpPr/>
          <p:nvPr/>
        </p:nvSpPr>
        <p:spPr>
          <a:xfrm>
            <a:off x="3099816" y="2640214"/>
            <a:ext cx="2724912" cy="4572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2"/>
          <p:cNvSpPr/>
          <p:nvPr/>
        </p:nvSpPr>
        <p:spPr>
          <a:xfrm>
            <a:off x="3191256" y="2713366"/>
            <a:ext cx="2514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lang="en-US" sz="1050">
                <a:solidFill>
                  <a:srgbClr val="1B2A4A"/>
                </a:solidFill>
                <a:latin typeface="Calibri"/>
                <a:ea typeface="Calibri"/>
                <a:cs typeface="Calibri"/>
                <a:sym typeface="Calibri"/>
              </a:rPr>
              <a:t>Structured</a:t>
            </a:r>
            <a:endParaRPr sz="1050">
              <a:solidFill>
                <a:schemeClr val="dk1"/>
              </a:solidFill>
              <a:latin typeface="Calibri"/>
              <a:ea typeface="Calibri"/>
              <a:cs typeface="Calibri"/>
              <a:sym typeface="Calibri"/>
            </a:endParaRPr>
          </a:p>
        </p:txBody>
      </p:sp>
      <p:sp>
        <p:nvSpPr>
          <p:cNvPr id="476" name="Google Shape;476;p22"/>
          <p:cNvSpPr/>
          <p:nvPr/>
        </p:nvSpPr>
        <p:spPr>
          <a:xfrm>
            <a:off x="3191256" y="3005974"/>
            <a:ext cx="2542032" cy="11155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lang="en-US" sz="900">
                <a:solidFill>
                  <a:srgbClr val="1B2A4A"/>
                </a:solidFill>
                <a:latin typeface="Calibri"/>
                <a:ea typeface="Calibri"/>
                <a:cs typeface="Calibri"/>
                <a:sym typeface="Calibri"/>
              </a:rPr>
              <a:t>Bridge current and future services with strategic thinking  and managed, consistent approaches.</a:t>
            </a:r>
            <a:endParaRPr/>
          </a:p>
          <a:p>
            <a:pPr indent="0" lvl="0" marL="0" marR="0" rtl="0" algn="l">
              <a:spcBef>
                <a:spcPts val="0"/>
              </a:spcBef>
              <a:spcAft>
                <a:spcPts val="0"/>
              </a:spcAft>
              <a:buClr>
                <a:schemeClr val="dk1"/>
              </a:buClr>
              <a:buSzPts val="900"/>
              <a:buFont typeface="Calibri"/>
              <a:buNone/>
            </a:pPr>
            <a:r>
              <a:t/>
            </a:r>
            <a:endParaRPr sz="90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900"/>
              <a:buFont typeface="Calibri"/>
              <a:buNone/>
            </a:pPr>
            <a:r>
              <a:rPr lang="en-US" sz="900">
                <a:solidFill>
                  <a:srgbClr val="1B2A4A"/>
                </a:solidFill>
                <a:latin typeface="Calibri"/>
                <a:ea typeface="Calibri"/>
                <a:cs typeface="Calibri"/>
                <a:sym typeface="Calibri"/>
              </a:rPr>
              <a:t>Establish key change drivers, take emerging trends into account, and create transparent means to make informed decisions, and share outcomes.</a:t>
            </a:r>
            <a:br>
              <a:rPr lang="en-US" sz="900">
                <a:solidFill>
                  <a:srgbClr val="1B2A4A"/>
                </a:solidFill>
                <a:latin typeface="Calibri"/>
                <a:ea typeface="Calibri"/>
                <a:cs typeface="Calibri"/>
                <a:sym typeface="Calibri"/>
              </a:rPr>
            </a:br>
            <a:br>
              <a:rPr lang="en-US" sz="900">
                <a:solidFill>
                  <a:srgbClr val="1B2A4A"/>
                </a:solidFill>
                <a:latin typeface="Calibri"/>
                <a:ea typeface="Calibri"/>
                <a:cs typeface="Calibri"/>
                <a:sym typeface="Calibri"/>
              </a:rPr>
            </a:br>
            <a:r>
              <a:rPr lang="en-US" sz="900">
                <a:solidFill>
                  <a:srgbClr val="1B2A4A"/>
                </a:solidFill>
                <a:latin typeface="Calibri"/>
                <a:ea typeface="Calibri"/>
                <a:cs typeface="Calibri"/>
                <a:sym typeface="Calibri"/>
              </a:rPr>
              <a:t>Be accountable for what you have not yet been able to deliver, and commit to a timeframe</a:t>
            </a:r>
            <a:endParaRPr sz="900">
              <a:solidFill>
                <a:schemeClr val="dk1"/>
              </a:solidFill>
              <a:latin typeface="Calibri"/>
              <a:ea typeface="Calibri"/>
              <a:cs typeface="Calibri"/>
              <a:sym typeface="Calibri"/>
            </a:endParaRPr>
          </a:p>
        </p:txBody>
      </p:sp>
      <p:sp>
        <p:nvSpPr>
          <p:cNvPr id="477" name="Google Shape;477;p22"/>
          <p:cNvSpPr/>
          <p:nvPr/>
        </p:nvSpPr>
        <p:spPr>
          <a:xfrm>
            <a:off x="5952744" y="2640213"/>
            <a:ext cx="2724912" cy="1981845"/>
          </a:xfrm>
          <a:prstGeom prst="rect">
            <a:avLst/>
          </a:prstGeom>
          <a:solidFill>
            <a:srgbClr val="DDEAF6"/>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2"/>
          <p:cNvSpPr/>
          <p:nvPr/>
        </p:nvSpPr>
        <p:spPr>
          <a:xfrm>
            <a:off x="5952744" y="2640214"/>
            <a:ext cx="2724912" cy="4572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2"/>
          <p:cNvSpPr/>
          <p:nvPr/>
        </p:nvSpPr>
        <p:spPr>
          <a:xfrm>
            <a:off x="6044184" y="2713366"/>
            <a:ext cx="2514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lang="en-US" sz="1050">
                <a:solidFill>
                  <a:srgbClr val="1B2A4A"/>
                </a:solidFill>
                <a:latin typeface="Calibri"/>
                <a:ea typeface="Calibri"/>
                <a:cs typeface="Calibri"/>
                <a:sym typeface="Calibri"/>
              </a:rPr>
              <a:t>Data Driven</a:t>
            </a:r>
            <a:endParaRPr sz="1050">
              <a:solidFill>
                <a:schemeClr val="dk1"/>
              </a:solidFill>
              <a:latin typeface="Calibri"/>
              <a:ea typeface="Calibri"/>
              <a:cs typeface="Calibri"/>
              <a:sym typeface="Calibri"/>
            </a:endParaRPr>
          </a:p>
        </p:txBody>
      </p:sp>
      <p:sp>
        <p:nvSpPr>
          <p:cNvPr id="480" name="Google Shape;480;p22"/>
          <p:cNvSpPr/>
          <p:nvPr/>
        </p:nvSpPr>
        <p:spPr>
          <a:xfrm>
            <a:off x="6044184" y="3005974"/>
            <a:ext cx="2542032" cy="11155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lang="en-US" sz="900">
                <a:solidFill>
                  <a:srgbClr val="1B2A4A"/>
                </a:solidFill>
                <a:latin typeface="Calibri"/>
                <a:ea typeface="Calibri"/>
                <a:cs typeface="Calibri"/>
                <a:sym typeface="Calibri"/>
              </a:rPr>
              <a:t>Use data insights to navigate opportunity and risk. </a:t>
            </a:r>
            <a:endParaRPr/>
          </a:p>
          <a:p>
            <a:pPr indent="0" lvl="0" marL="0" marR="0" rtl="0" algn="l">
              <a:spcBef>
                <a:spcPts val="0"/>
              </a:spcBef>
              <a:spcAft>
                <a:spcPts val="0"/>
              </a:spcAft>
              <a:buClr>
                <a:schemeClr val="dk1"/>
              </a:buClr>
              <a:buSzPts val="900"/>
              <a:buFont typeface="Calibri"/>
              <a:buNone/>
            </a:pPr>
            <a:r>
              <a:t/>
            </a:r>
            <a:endParaRPr sz="90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900"/>
              <a:buFont typeface="Calibri"/>
              <a:buNone/>
            </a:pPr>
            <a:r>
              <a:rPr lang="en-US" sz="900">
                <a:solidFill>
                  <a:srgbClr val="1B2A4A"/>
                </a:solidFill>
                <a:latin typeface="Calibri"/>
                <a:ea typeface="Calibri"/>
                <a:cs typeface="Calibri"/>
                <a:sym typeface="Calibri"/>
              </a:rPr>
              <a:t>Ensure design and technology decisions - and their rationale - are transparent, evidenced, and adaptable. Look for bias and seek to break siloes.</a:t>
            </a:r>
            <a:endParaRPr/>
          </a:p>
          <a:p>
            <a:pPr indent="0" lvl="0" marL="0" marR="0" rtl="0" algn="l">
              <a:spcBef>
                <a:spcPts val="0"/>
              </a:spcBef>
              <a:spcAft>
                <a:spcPts val="0"/>
              </a:spcAft>
              <a:buClr>
                <a:schemeClr val="dk1"/>
              </a:buClr>
              <a:buSzPts val="900"/>
              <a:buFont typeface="Calibri"/>
              <a:buNone/>
            </a:pPr>
            <a:r>
              <a:t/>
            </a:r>
            <a:endParaRPr sz="90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900"/>
              <a:buFont typeface="Calibri"/>
              <a:buNone/>
            </a:pPr>
            <a:r>
              <a:rPr lang="en-US" sz="900">
                <a:solidFill>
                  <a:srgbClr val="1B2A4A"/>
                </a:solidFill>
                <a:latin typeface="Calibri"/>
                <a:ea typeface="Calibri"/>
                <a:cs typeface="Calibri"/>
                <a:sym typeface="Calibri"/>
              </a:rPr>
              <a:t>Actively monitor the performance and real-world implications of AI and automation.</a:t>
            </a:r>
            <a:endParaRPr sz="900">
              <a:solidFill>
                <a:schemeClr val="dk1"/>
              </a:solidFill>
              <a:latin typeface="Calibri"/>
              <a:ea typeface="Calibri"/>
              <a:cs typeface="Calibri"/>
              <a:sym typeface="Calibri"/>
            </a:endParaRPr>
          </a:p>
        </p:txBody>
      </p:sp>
      <p:sp>
        <p:nvSpPr>
          <p:cNvPr id="481" name="Google Shape;481;p22"/>
          <p:cNvSpPr/>
          <p:nvPr/>
        </p:nvSpPr>
        <p:spPr>
          <a:xfrm>
            <a:off x="338328" y="1230433"/>
            <a:ext cx="8412480" cy="115947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Strategic design connects vision, evidence, and delivery. It gives organisations a principled way to navigate complexity — aligning what services are meant to do with what they actually do, and building the capability to improve over time.</a:t>
            </a:r>
            <a:endParaRPr sz="1100"/>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It depends on the right people being in the room: leaders who champion it, practitioners who apply it, and the people who use services having a genuine voice throughout. Without that, best practice stays on the page.</a:t>
            </a:r>
            <a:endParaRPr sz="1100"/>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The three principles below set out what good looks like in practice.</a:t>
            </a:r>
            <a:endParaRPr sz="1100"/>
          </a:p>
          <a:p>
            <a:pPr indent="0" lvl="0" marL="0" marR="0" rtl="0" algn="l">
              <a:spcBef>
                <a:spcPts val="0"/>
              </a:spcBef>
              <a:spcAft>
                <a:spcPts val="0"/>
              </a:spcAft>
              <a:buNone/>
            </a:pPr>
            <a:r>
              <a:t/>
            </a:r>
            <a:endParaRPr sz="1100">
              <a:solidFill>
                <a:srgbClr val="C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486" name="Shape 486"/>
        <p:cNvGrpSpPr/>
        <p:nvPr/>
      </p:nvGrpSpPr>
      <p:grpSpPr>
        <a:xfrm>
          <a:off x="0" y="0"/>
          <a:ext cx="0" cy="0"/>
          <a:chOff x="0" y="0"/>
          <a:chExt cx="0" cy="0"/>
        </a:xfrm>
      </p:grpSpPr>
      <p:sp>
        <p:nvSpPr>
          <p:cNvPr id="487" name="Google Shape;487;p23"/>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3"/>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Strategic Design Maturity Journey</a:t>
            </a:r>
            <a:endParaRPr sz="2000">
              <a:solidFill>
                <a:schemeClr val="dk1"/>
              </a:solidFill>
              <a:latin typeface="Calibri"/>
              <a:ea typeface="Calibri"/>
              <a:cs typeface="Calibri"/>
              <a:sym typeface="Calibri"/>
            </a:endParaRPr>
          </a:p>
        </p:txBody>
      </p:sp>
      <p:sp>
        <p:nvSpPr>
          <p:cNvPr id="489" name="Google Shape;489;p23"/>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490" name="Google Shape;490;p23"/>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491" name="Google Shape;491;p23"/>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
        <p:nvSpPr>
          <p:cNvPr id="492" name="Google Shape;492;p23"/>
          <p:cNvSpPr/>
          <p:nvPr/>
        </p:nvSpPr>
        <p:spPr>
          <a:xfrm>
            <a:off x="292608" y="2019839"/>
            <a:ext cx="1389900" cy="1842600"/>
          </a:xfrm>
          <a:prstGeom prst="rect">
            <a:avLst/>
          </a:prstGeom>
          <a:solidFill>
            <a:srgbClr val="F8FBFF"/>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3"/>
          <p:cNvSpPr/>
          <p:nvPr/>
        </p:nvSpPr>
        <p:spPr>
          <a:xfrm>
            <a:off x="391305" y="2264669"/>
            <a:ext cx="1225200" cy="3337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Focused on outputs and delivery against specifications. Foundational - but user needs may be assumed rather than evidenced. Success is defined by function and performance.</a:t>
            </a:r>
            <a:endParaRPr sz="850">
              <a:solidFill>
                <a:schemeClr val="dk1"/>
              </a:solidFill>
              <a:latin typeface="Calibri"/>
              <a:ea typeface="Calibri"/>
              <a:cs typeface="Calibri"/>
              <a:sym typeface="Calibri"/>
            </a:endParaRPr>
          </a:p>
        </p:txBody>
      </p:sp>
      <p:sp>
        <p:nvSpPr>
          <p:cNvPr id="494" name="Google Shape;494;p23"/>
          <p:cNvSpPr/>
          <p:nvPr/>
        </p:nvSpPr>
        <p:spPr>
          <a:xfrm>
            <a:off x="1737360" y="2019839"/>
            <a:ext cx="1389900" cy="1842600"/>
          </a:xfrm>
          <a:prstGeom prst="rect">
            <a:avLst/>
          </a:prstGeom>
          <a:solidFill>
            <a:srgbClr val="F8FBFF"/>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3"/>
          <p:cNvSpPr/>
          <p:nvPr/>
        </p:nvSpPr>
        <p:spPr>
          <a:xfrm>
            <a:off x="1836057" y="2124969"/>
            <a:ext cx="1225200" cy="3337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Success is measured through satisfaction scores, NPS, and commercial performance. </a:t>
            </a:r>
            <a:endParaRPr sz="8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850"/>
              <a:buFont typeface="Calibri"/>
              <a:buNone/>
            </a:pPr>
            <a:r>
              <a:t/>
            </a:r>
            <a:endParaRPr sz="8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Individual user needs are </a:t>
            </a:r>
            <a:r>
              <a:rPr lang="en-US" sz="850">
                <a:solidFill>
                  <a:srgbClr val="1B2A4A"/>
                </a:solidFill>
                <a:latin typeface="Calibri"/>
                <a:ea typeface="Calibri"/>
                <a:cs typeface="Calibri"/>
                <a:sym typeface="Calibri"/>
              </a:rPr>
              <a:t>often</a:t>
            </a:r>
            <a:r>
              <a:rPr lang="en-US" sz="850">
                <a:solidFill>
                  <a:srgbClr val="1B2A4A"/>
                </a:solidFill>
                <a:latin typeface="Calibri"/>
                <a:ea typeface="Calibri"/>
                <a:cs typeface="Calibri"/>
                <a:sym typeface="Calibri"/>
              </a:rPr>
              <a:t> buried in KPIs and user segmentation.</a:t>
            </a:r>
            <a:endParaRPr sz="850">
              <a:solidFill>
                <a:schemeClr val="dk1"/>
              </a:solidFill>
              <a:latin typeface="Calibri"/>
              <a:ea typeface="Calibri"/>
              <a:cs typeface="Calibri"/>
              <a:sym typeface="Calibri"/>
            </a:endParaRPr>
          </a:p>
        </p:txBody>
      </p:sp>
      <p:sp>
        <p:nvSpPr>
          <p:cNvPr id="496" name="Google Shape;496;p23"/>
          <p:cNvSpPr/>
          <p:nvPr/>
        </p:nvSpPr>
        <p:spPr>
          <a:xfrm>
            <a:off x="3182112" y="2019838"/>
            <a:ext cx="1389900" cy="1842600"/>
          </a:xfrm>
          <a:prstGeom prst="rect">
            <a:avLst/>
          </a:prstGeom>
          <a:solidFill>
            <a:srgbClr val="F8FBFF"/>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3"/>
          <p:cNvSpPr/>
          <p:nvPr/>
        </p:nvSpPr>
        <p:spPr>
          <a:xfrm>
            <a:off x="3280809" y="2124969"/>
            <a:ext cx="1225200" cy="3337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User research informs design and development. </a:t>
            </a:r>
            <a:endParaRPr sz="8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850"/>
              <a:buFont typeface="Calibri"/>
              <a:buNone/>
            </a:pPr>
            <a:r>
              <a:t/>
            </a:r>
            <a:endParaRPr sz="8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Services are shaped around how people actually work. Decisions are grounded in evidence.</a:t>
            </a:r>
            <a:endParaRPr sz="850">
              <a:solidFill>
                <a:schemeClr val="dk1"/>
              </a:solidFill>
              <a:latin typeface="Calibri"/>
              <a:ea typeface="Calibri"/>
              <a:cs typeface="Calibri"/>
              <a:sym typeface="Calibri"/>
            </a:endParaRPr>
          </a:p>
        </p:txBody>
      </p:sp>
      <p:sp>
        <p:nvSpPr>
          <p:cNvPr id="498" name="Google Shape;498;p23"/>
          <p:cNvSpPr/>
          <p:nvPr/>
        </p:nvSpPr>
        <p:spPr>
          <a:xfrm>
            <a:off x="4626864" y="2019838"/>
            <a:ext cx="1389900" cy="1842600"/>
          </a:xfrm>
          <a:prstGeom prst="rect">
            <a:avLst/>
          </a:prstGeom>
          <a:solidFill>
            <a:srgbClr val="F8FBFF"/>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3"/>
          <p:cNvSpPr/>
          <p:nvPr/>
        </p:nvSpPr>
        <p:spPr>
          <a:xfrm>
            <a:off x="4725561" y="2124969"/>
            <a:ext cx="1225200" cy="3337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Design works across networks, integrations, and data flows. </a:t>
            </a:r>
            <a:endParaRPr sz="8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850"/>
              <a:buFont typeface="Calibri"/>
              <a:buNone/>
            </a:pPr>
            <a:r>
              <a:t/>
            </a:r>
            <a:endParaRPr sz="8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Aligned objectives connect teams and functions around shared outcomes.</a:t>
            </a:r>
            <a:endParaRPr sz="850">
              <a:solidFill>
                <a:schemeClr val="dk1"/>
              </a:solidFill>
              <a:latin typeface="Calibri"/>
              <a:ea typeface="Calibri"/>
              <a:cs typeface="Calibri"/>
              <a:sym typeface="Calibri"/>
            </a:endParaRPr>
          </a:p>
        </p:txBody>
      </p:sp>
      <p:sp>
        <p:nvSpPr>
          <p:cNvPr id="500" name="Google Shape;500;p23"/>
          <p:cNvSpPr/>
          <p:nvPr/>
        </p:nvSpPr>
        <p:spPr>
          <a:xfrm>
            <a:off x="6071616" y="2019838"/>
            <a:ext cx="1389900" cy="1842600"/>
          </a:xfrm>
          <a:prstGeom prst="rect">
            <a:avLst/>
          </a:prstGeom>
          <a:solidFill>
            <a:srgbClr val="F8FBFF"/>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3"/>
          <p:cNvSpPr/>
          <p:nvPr/>
        </p:nvSpPr>
        <p:spPr>
          <a:xfrm>
            <a:off x="6170313" y="2124969"/>
            <a:ext cx="1225200" cy="3337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Services depend on shared data pipelines, reporting systems, and common capabilities. </a:t>
            </a:r>
            <a:endParaRPr sz="8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850"/>
              <a:buFont typeface="Calibri"/>
              <a:buNone/>
            </a:pPr>
            <a:r>
              <a:t/>
            </a:r>
            <a:endParaRPr sz="8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Many changes can now  be made 'on the fly', yet </a:t>
            </a:r>
            <a:r>
              <a:rPr lang="en-US" sz="850">
                <a:solidFill>
                  <a:srgbClr val="1B2A4A"/>
                </a:solidFill>
                <a:latin typeface="Calibri"/>
                <a:ea typeface="Calibri"/>
                <a:cs typeface="Calibri"/>
                <a:sym typeface="Calibri"/>
              </a:rPr>
              <a:t>care is needed to manage impacts,esp for AI.</a:t>
            </a:r>
            <a:endParaRPr sz="850">
              <a:solidFill>
                <a:schemeClr val="dk1"/>
              </a:solidFill>
              <a:latin typeface="Calibri"/>
              <a:ea typeface="Calibri"/>
              <a:cs typeface="Calibri"/>
              <a:sym typeface="Calibri"/>
            </a:endParaRPr>
          </a:p>
        </p:txBody>
      </p:sp>
      <p:sp>
        <p:nvSpPr>
          <p:cNvPr id="502" name="Google Shape;502;p23"/>
          <p:cNvSpPr/>
          <p:nvPr/>
        </p:nvSpPr>
        <p:spPr>
          <a:xfrm>
            <a:off x="7516368" y="2019838"/>
            <a:ext cx="1389900" cy="1842600"/>
          </a:xfrm>
          <a:prstGeom prst="rect">
            <a:avLst/>
          </a:prstGeom>
          <a:solidFill>
            <a:srgbClr val="F8FBFF"/>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3"/>
          <p:cNvSpPr/>
          <p:nvPr/>
        </p:nvSpPr>
        <p:spPr>
          <a:xfrm>
            <a:off x="7615065" y="2124969"/>
            <a:ext cx="1225200" cy="3337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Value is measured by the response of the users, roles, and </a:t>
            </a:r>
            <a:r>
              <a:rPr lang="en-US" sz="850">
                <a:solidFill>
                  <a:srgbClr val="1B2A4A"/>
                </a:solidFill>
                <a:latin typeface="Calibri"/>
                <a:ea typeface="Calibri"/>
                <a:cs typeface="Calibri"/>
                <a:sym typeface="Calibri"/>
              </a:rPr>
              <a:t>partnerships</a:t>
            </a:r>
            <a:r>
              <a:rPr lang="en-US" sz="850">
                <a:solidFill>
                  <a:srgbClr val="1B2A4A"/>
                </a:solidFill>
                <a:latin typeface="Calibri"/>
                <a:ea typeface="Calibri"/>
                <a:cs typeface="Calibri"/>
                <a:sym typeface="Calibri"/>
              </a:rPr>
              <a:t> the service exists to serve. </a:t>
            </a:r>
            <a:endParaRPr sz="8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850"/>
              <a:buFont typeface="Calibri"/>
              <a:buNone/>
            </a:pPr>
            <a:r>
              <a:t/>
            </a:r>
            <a:endParaRPr sz="8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Design, policy, resourcing, technology and data, need to be </a:t>
            </a:r>
            <a:r>
              <a:rPr lang="en-US" sz="850">
                <a:solidFill>
                  <a:srgbClr val="1B2A4A"/>
                </a:solidFill>
                <a:latin typeface="Calibri"/>
                <a:ea typeface="Calibri"/>
                <a:cs typeface="Calibri"/>
                <a:sym typeface="Calibri"/>
              </a:rPr>
              <a:t>improved</a:t>
            </a:r>
            <a:r>
              <a:rPr lang="en-US" sz="850">
                <a:solidFill>
                  <a:srgbClr val="1B2A4A"/>
                </a:solidFill>
                <a:latin typeface="Calibri"/>
                <a:ea typeface="Calibri"/>
                <a:cs typeface="Calibri"/>
                <a:sym typeface="Calibri"/>
              </a:rPr>
              <a:t> and </a:t>
            </a:r>
            <a:r>
              <a:rPr lang="en-US" sz="850">
                <a:solidFill>
                  <a:srgbClr val="1B2A4A"/>
                </a:solidFill>
                <a:latin typeface="Calibri"/>
                <a:ea typeface="Calibri"/>
                <a:cs typeface="Calibri"/>
                <a:sym typeface="Calibri"/>
              </a:rPr>
              <a:t>validated</a:t>
            </a:r>
            <a:r>
              <a:rPr lang="en-US" sz="850">
                <a:solidFill>
                  <a:srgbClr val="1B2A4A"/>
                </a:solidFill>
                <a:latin typeface="Calibri"/>
                <a:ea typeface="Calibri"/>
                <a:cs typeface="Calibri"/>
                <a:sym typeface="Calibri"/>
              </a:rPr>
              <a:t> continuously.</a:t>
            </a:r>
            <a:endParaRPr sz="850">
              <a:solidFill>
                <a:schemeClr val="dk1"/>
              </a:solidFill>
              <a:latin typeface="Calibri"/>
              <a:ea typeface="Calibri"/>
              <a:cs typeface="Calibri"/>
              <a:sym typeface="Calibri"/>
            </a:endParaRPr>
          </a:p>
        </p:txBody>
      </p:sp>
      <p:sp>
        <p:nvSpPr>
          <p:cNvPr id="504" name="Google Shape;504;p23"/>
          <p:cNvSpPr/>
          <p:nvPr/>
        </p:nvSpPr>
        <p:spPr>
          <a:xfrm>
            <a:off x="248775" y="4243469"/>
            <a:ext cx="8503920" cy="1645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1200"/>
              <a:buFont typeface="Calibri"/>
              <a:buNone/>
            </a:pPr>
            <a:r>
              <a:rPr lang="en-US" sz="1100">
                <a:solidFill>
                  <a:srgbClr val="5A6E85"/>
                </a:solidFill>
                <a:latin typeface="Calibri"/>
                <a:ea typeface="Calibri"/>
                <a:cs typeface="Calibri"/>
                <a:sym typeface="Calibri"/>
              </a:rPr>
              <a:t>Each stage builds on the last - you cannot skip to 'Services' without understanding users, systems, and the platforms that connect them. </a:t>
            </a:r>
            <a:br>
              <a:rPr lang="en-US" sz="1100">
                <a:solidFill>
                  <a:srgbClr val="5A6E85"/>
                </a:solidFill>
                <a:latin typeface="Calibri"/>
                <a:ea typeface="Calibri"/>
                <a:cs typeface="Calibri"/>
                <a:sym typeface="Calibri"/>
              </a:rPr>
            </a:br>
            <a:r>
              <a:rPr lang="en-US" sz="1100">
                <a:solidFill>
                  <a:srgbClr val="5A6E85"/>
                </a:solidFill>
                <a:latin typeface="Calibri"/>
                <a:ea typeface="Calibri"/>
                <a:cs typeface="Calibri"/>
                <a:sym typeface="Calibri"/>
              </a:rPr>
              <a:t>Most organisations sit between User and Systems thinking; the goal is to move </a:t>
            </a:r>
            <a:r>
              <a:rPr lang="en-US" sz="1100">
                <a:solidFill>
                  <a:srgbClr val="5A6E85"/>
                </a:solidFill>
                <a:latin typeface="Calibri"/>
                <a:ea typeface="Calibri"/>
                <a:cs typeface="Calibri"/>
                <a:sym typeface="Calibri"/>
              </a:rPr>
              <a:t>forward</a:t>
            </a:r>
            <a:r>
              <a:rPr lang="en-US" sz="1100">
                <a:solidFill>
                  <a:srgbClr val="5A6E85"/>
                </a:solidFill>
                <a:latin typeface="Calibri"/>
                <a:ea typeface="Calibri"/>
                <a:cs typeface="Calibri"/>
                <a:sym typeface="Calibri"/>
              </a:rPr>
              <a:t>, and make intentional, evidence-led progress.</a:t>
            </a:r>
            <a:endParaRPr sz="1100">
              <a:solidFill>
                <a:schemeClr val="dk1"/>
              </a:solidFill>
              <a:latin typeface="Calibri"/>
              <a:ea typeface="Calibri"/>
              <a:cs typeface="Calibri"/>
              <a:sym typeface="Calibri"/>
            </a:endParaRPr>
          </a:p>
        </p:txBody>
      </p:sp>
      <p:sp>
        <p:nvSpPr>
          <p:cNvPr id="505" name="Google Shape;505;p23"/>
          <p:cNvSpPr/>
          <p:nvPr/>
        </p:nvSpPr>
        <p:spPr>
          <a:xfrm>
            <a:off x="292608" y="1139372"/>
            <a:ext cx="1444752" cy="610895"/>
          </a:xfrm>
          <a:prstGeom prst="homePlate">
            <a:avLst>
              <a:gd fmla="val 50000" name="adj"/>
            </a:avLst>
          </a:prstGeom>
          <a:solidFill>
            <a:srgbClr val="1B5F9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1 PRODUCT CENTRIC</a:t>
            </a:r>
            <a:endParaRPr b="1"/>
          </a:p>
        </p:txBody>
      </p:sp>
      <p:sp>
        <p:nvSpPr>
          <p:cNvPr id="506" name="Google Shape;506;p23"/>
          <p:cNvSpPr/>
          <p:nvPr/>
        </p:nvSpPr>
        <p:spPr>
          <a:xfrm>
            <a:off x="1664205" y="1147726"/>
            <a:ext cx="1527774" cy="597854"/>
          </a:xfrm>
          <a:prstGeom prst="chevron">
            <a:avLst>
              <a:gd fmla="val 50000" name="adj"/>
            </a:avLst>
          </a:prstGeom>
          <a:solidFill>
            <a:srgbClr val="3D7DA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2 CUSTOMER CENTRIC</a:t>
            </a:r>
            <a:endParaRPr b="1"/>
          </a:p>
        </p:txBody>
      </p:sp>
      <p:sp>
        <p:nvSpPr>
          <p:cNvPr id="507" name="Google Shape;507;p23"/>
          <p:cNvSpPr/>
          <p:nvPr/>
        </p:nvSpPr>
        <p:spPr>
          <a:xfrm>
            <a:off x="3108957" y="1147726"/>
            <a:ext cx="1527774" cy="597854"/>
          </a:xfrm>
          <a:prstGeom prst="chevron">
            <a:avLst>
              <a:gd fmla="val 50000" name="adj"/>
            </a:avLst>
          </a:prstGeom>
          <a:solidFill>
            <a:srgbClr val="69B8C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lt1"/>
                </a:solidFill>
                <a:latin typeface="Calibri"/>
                <a:ea typeface="Calibri"/>
                <a:cs typeface="Calibri"/>
                <a:sym typeface="Calibri"/>
              </a:rPr>
              <a:t>3 USER CENTRIC</a:t>
            </a:r>
            <a:endParaRPr b="1"/>
          </a:p>
        </p:txBody>
      </p:sp>
      <p:sp>
        <p:nvSpPr>
          <p:cNvPr id="508" name="Google Shape;508;p23"/>
          <p:cNvSpPr/>
          <p:nvPr/>
        </p:nvSpPr>
        <p:spPr>
          <a:xfrm>
            <a:off x="4574322" y="1139885"/>
            <a:ext cx="1527774" cy="597854"/>
          </a:xfrm>
          <a:prstGeom prst="chevron">
            <a:avLst>
              <a:gd fmla="val 50000" name="adj"/>
            </a:avLst>
          </a:prstGeom>
          <a:solidFill>
            <a:srgbClr val="9AE0B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dk1"/>
                </a:solidFill>
                <a:latin typeface="Calibri"/>
                <a:ea typeface="Calibri"/>
                <a:cs typeface="Calibri"/>
                <a:sym typeface="Calibri"/>
              </a:rPr>
              <a:t>4 SYSTEMS THINKING</a:t>
            </a:r>
            <a:endParaRPr b="1"/>
          </a:p>
        </p:txBody>
      </p:sp>
      <p:sp>
        <p:nvSpPr>
          <p:cNvPr id="509" name="Google Shape;509;p23"/>
          <p:cNvSpPr/>
          <p:nvPr/>
        </p:nvSpPr>
        <p:spPr>
          <a:xfrm>
            <a:off x="6017916" y="1132044"/>
            <a:ext cx="1527774" cy="597854"/>
          </a:xfrm>
          <a:prstGeom prst="chevron">
            <a:avLst>
              <a:gd fmla="val 50000" name="adj"/>
            </a:avLst>
          </a:prstGeom>
          <a:solidFill>
            <a:srgbClr val="9BD5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chemeClr val="dk1"/>
                </a:solidFill>
                <a:latin typeface="Calibri"/>
                <a:ea typeface="Calibri"/>
                <a:cs typeface="Calibri"/>
                <a:sym typeface="Calibri"/>
              </a:rPr>
              <a:t>5 PLATFORM LED</a:t>
            </a:r>
            <a:endParaRPr b="1"/>
          </a:p>
        </p:txBody>
      </p:sp>
      <p:sp>
        <p:nvSpPr>
          <p:cNvPr id="510" name="Google Shape;510;p23"/>
          <p:cNvSpPr/>
          <p:nvPr/>
        </p:nvSpPr>
        <p:spPr>
          <a:xfrm>
            <a:off x="7461510" y="1124203"/>
            <a:ext cx="1527774" cy="597854"/>
          </a:xfrm>
          <a:prstGeom prst="chevron">
            <a:avLst>
              <a:gd fmla="val 50000" name="adj"/>
            </a:avLst>
          </a:prstGeom>
          <a:solidFill>
            <a:srgbClr val="97AB0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50">
                <a:solidFill>
                  <a:schemeClr val="dk1"/>
                </a:solidFill>
                <a:latin typeface="Calibri"/>
                <a:ea typeface="Calibri"/>
                <a:cs typeface="Calibri"/>
                <a:sym typeface="Calibri"/>
              </a:rPr>
              <a:t>6</a:t>
            </a:r>
            <a:r>
              <a:rPr b="1" lang="en-US" sz="1050">
                <a:solidFill>
                  <a:schemeClr val="lt1"/>
                </a:solidFill>
                <a:latin typeface="Calibri"/>
                <a:ea typeface="Calibri"/>
                <a:cs typeface="Calibri"/>
                <a:sym typeface="Calibri"/>
              </a:rPr>
              <a:t> </a:t>
            </a:r>
            <a:r>
              <a:rPr b="1" lang="en-US" sz="1050">
                <a:solidFill>
                  <a:schemeClr val="dk1"/>
                </a:solidFill>
                <a:latin typeface="Calibri"/>
                <a:ea typeface="Calibri"/>
                <a:cs typeface="Calibri"/>
                <a:sym typeface="Calibri"/>
              </a:rPr>
              <a:t>SERVICE MATURITY</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24"/>
          <p:cNvSpPr/>
          <p:nvPr/>
        </p:nvSpPr>
        <p:spPr>
          <a:xfrm>
            <a:off x="0" y="0"/>
            <a:ext cx="9144000" cy="658368"/>
          </a:xfrm>
          <a:prstGeom prst="rect">
            <a:avLst/>
          </a:prstGeom>
          <a:solidFill>
            <a:srgbClr val="1E4E79"/>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4"/>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Standards &amp; Assurance</a:t>
            </a:r>
            <a:endParaRPr sz="2000">
              <a:solidFill>
                <a:schemeClr val="dk1"/>
              </a:solidFill>
              <a:latin typeface="Calibri"/>
              <a:ea typeface="Calibri"/>
              <a:cs typeface="Calibri"/>
              <a:sym typeface="Calibri"/>
            </a:endParaRPr>
          </a:p>
        </p:txBody>
      </p:sp>
      <p:sp>
        <p:nvSpPr>
          <p:cNvPr id="518" name="Google Shape;518;p24"/>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519" name="Google Shape;519;p24"/>
          <p:cNvSpPr/>
          <p:nvPr/>
        </p:nvSpPr>
        <p:spPr>
          <a:xfrm>
            <a:off x="4572000" y="4846320"/>
            <a:ext cx="42062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520" name="Google Shape;520;p24"/>
          <p:cNvCxnSpPr/>
          <p:nvPr/>
        </p:nvCxnSpPr>
        <p:spPr>
          <a:xfrm>
            <a:off x="365760" y="4828032"/>
            <a:ext cx="8778240" cy="0"/>
          </a:xfrm>
          <a:prstGeom prst="straightConnector1">
            <a:avLst/>
          </a:prstGeom>
          <a:noFill/>
          <a:ln cap="flat" cmpd="sng" w="9525">
            <a:solidFill>
              <a:srgbClr val="B8CCE0"/>
            </a:solidFill>
            <a:prstDash val="solid"/>
            <a:round/>
            <a:headEnd len="sm" w="sm" type="none"/>
            <a:tailEnd len="sm" w="sm" type="none"/>
          </a:ln>
        </p:spPr>
      </p:cxnSp>
      <p:sp>
        <p:nvSpPr>
          <p:cNvPr id="521" name="Google Shape;521;p24"/>
          <p:cNvSpPr/>
          <p:nvPr/>
        </p:nvSpPr>
        <p:spPr>
          <a:xfrm>
            <a:off x="320040" y="1078992"/>
            <a:ext cx="4160520" cy="347472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4"/>
          <p:cNvSpPr/>
          <p:nvPr/>
        </p:nvSpPr>
        <p:spPr>
          <a:xfrm>
            <a:off x="457200" y="1143000"/>
            <a:ext cx="3931920" cy="3337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00">
                <a:solidFill>
                  <a:srgbClr val="1B2A4A"/>
                </a:solidFill>
                <a:latin typeface="Calibri"/>
                <a:ea typeface="Calibri"/>
                <a:cs typeface="Calibri"/>
                <a:sym typeface="Calibri"/>
              </a:rPr>
              <a:t>Standards are highly contextual, however will usually include:</a:t>
            </a:r>
            <a:endParaRPr sz="1100">
              <a:latin typeface="Calibri"/>
              <a:ea typeface="Calibri"/>
              <a:cs typeface="Calibri"/>
              <a:sym typeface="Calibri"/>
            </a:endParaRPr>
          </a:p>
          <a:p>
            <a:pPr indent="-266700" lvl="0" marL="342900" marR="0" rtl="0" algn="l">
              <a:spcBef>
                <a:spcPts val="300"/>
              </a:spcBef>
              <a:spcAft>
                <a:spcPts val="0"/>
              </a:spcAft>
              <a:buClr>
                <a:schemeClr val="dk1"/>
              </a:buClr>
              <a:buSzPts val="1200"/>
              <a:buFont typeface="Calibri"/>
              <a:buNone/>
            </a:pPr>
            <a:r>
              <a:t/>
            </a:r>
            <a:endParaRPr sz="1100">
              <a:solidFill>
                <a:srgbClr val="1B2A4A"/>
              </a:solidFill>
              <a:latin typeface="Calibri"/>
              <a:ea typeface="Calibri"/>
              <a:cs typeface="Calibri"/>
              <a:sym typeface="Calibri"/>
            </a:endParaRPr>
          </a:p>
          <a:p>
            <a:pPr indent="-336550" lvl="0" marL="342900" marR="0" rtl="0" algn="l">
              <a:spcBef>
                <a:spcPts val="300"/>
              </a:spcBef>
              <a:spcAft>
                <a:spcPts val="0"/>
              </a:spcAft>
              <a:buClr>
                <a:srgbClr val="1B2A4A"/>
              </a:buClr>
              <a:buSzPts val="1100"/>
              <a:buFont typeface="Calibri"/>
              <a:buChar char="•"/>
            </a:pPr>
            <a:r>
              <a:rPr lang="en-US" sz="1100">
                <a:solidFill>
                  <a:srgbClr val="1B2A4A"/>
                </a:solidFill>
                <a:latin typeface="Calibri"/>
                <a:ea typeface="Calibri"/>
                <a:cs typeface="Calibri"/>
                <a:sym typeface="Calibri"/>
              </a:rPr>
              <a:t>Government Design Principles (GOV.UK)</a:t>
            </a:r>
            <a:endParaRPr sz="1100">
              <a:solidFill>
                <a:schemeClr val="dk1"/>
              </a:solidFill>
              <a:latin typeface="Calibri"/>
              <a:ea typeface="Calibri"/>
              <a:cs typeface="Calibri"/>
              <a:sym typeface="Calibri"/>
            </a:endParaRPr>
          </a:p>
          <a:p>
            <a:pPr indent="-336550" lvl="0" marL="342900" marR="0" rtl="0" algn="l">
              <a:spcBef>
                <a:spcPts val="300"/>
              </a:spcBef>
              <a:spcAft>
                <a:spcPts val="0"/>
              </a:spcAft>
              <a:buClr>
                <a:srgbClr val="1B2A4A"/>
              </a:buClr>
              <a:buSzPts val="1100"/>
              <a:buFont typeface="Calibri"/>
              <a:buChar char="•"/>
            </a:pPr>
            <a:r>
              <a:rPr lang="en-US" sz="1100">
                <a:solidFill>
                  <a:srgbClr val="1B2A4A"/>
                </a:solidFill>
                <a:latin typeface="Calibri"/>
                <a:ea typeface="Calibri"/>
                <a:cs typeface="Calibri"/>
                <a:sym typeface="Calibri"/>
              </a:rPr>
              <a:t>Principles for Good Services (Lou Downe)</a:t>
            </a:r>
            <a:endParaRPr sz="1100">
              <a:solidFill>
                <a:schemeClr val="dk1"/>
              </a:solidFill>
              <a:latin typeface="Calibri"/>
              <a:ea typeface="Calibri"/>
              <a:cs typeface="Calibri"/>
              <a:sym typeface="Calibri"/>
            </a:endParaRPr>
          </a:p>
          <a:p>
            <a:pPr indent="-336550" lvl="0" marL="342900" marR="0" rtl="0" algn="l">
              <a:spcBef>
                <a:spcPts val="300"/>
              </a:spcBef>
              <a:spcAft>
                <a:spcPts val="0"/>
              </a:spcAft>
              <a:buClr>
                <a:srgbClr val="1B2A4A"/>
              </a:buClr>
              <a:buSzPts val="1100"/>
              <a:buFont typeface="Calibri"/>
              <a:buChar char="•"/>
            </a:pPr>
            <a:r>
              <a:rPr lang="en-US" sz="1100">
                <a:solidFill>
                  <a:srgbClr val="1B2A4A"/>
                </a:solidFill>
                <a:latin typeface="Calibri"/>
                <a:ea typeface="Calibri"/>
                <a:cs typeface="Calibri"/>
                <a:sym typeface="Calibri"/>
              </a:rPr>
              <a:t>Data Ethics Framework (GOV.UK)</a:t>
            </a:r>
            <a:endParaRPr sz="1100">
              <a:solidFill>
                <a:schemeClr val="dk1"/>
              </a:solidFill>
              <a:latin typeface="Calibri"/>
              <a:ea typeface="Calibri"/>
              <a:cs typeface="Calibri"/>
              <a:sym typeface="Calibri"/>
            </a:endParaRPr>
          </a:p>
          <a:p>
            <a:pPr indent="-336550" lvl="0" marL="342900" marR="0" rtl="0" algn="l">
              <a:spcBef>
                <a:spcPts val="300"/>
              </a:spcBef>
              <a:spcAft>
                <a:spcPts val="0"/>
              </a:spcAft>
              <a:buClr>
                <a:srgbClr val="1B2A4A"/>
              </a:buClr>
              <a:buSzPts val="1100"/>
              <a:buFont typeface="Calibri"/>
              <a:buChar char="•"/>
            </a:pPr>
            <a:r>
              <a:rPr lang="en-US" sz="1100">
                <a:solidFill>
                  <a:srgbClr val="1B2A4A"/>
                </a:solidFill>
                <a:latin typeface="Calibri"/>
                <a:ea typeface="Calibri"/>
                <a:cs typeface="Calibri"/>
                <a:sym typeface="Calibri"/>
              </a:rPr>
              <a:t>WCAG 2 Web Accessibility Initiative</a:t>
            </a:r>
            <a:endParaRPr sz="1100">
              <a:solidFill>
                <a:schemeClr val="dk1"/>
              </a:solidFill>
              <a:latin typeface="Calibri"/>
              <a:ea typeface="Calibri"/>
              <a:cs typeface="Calibri"/>
              <a:sym typeface="Calibri"/>
            </a:endParaRPr>
          </a:p>
          <a:p>
            <a:pPr indent="-336550" lvl="0" marL="342900" marR="0" rtl="0" algn="l">
              <a:spcBef>
                <a:spcPts val="300"/>
              </a:spcBef>
              <a:spcAft>
                <a:spcPts val="0"/>
              </a:spcAft>
              <a:buClr>
                <a:srgbClr val="1B2A4A"/>
              </a:buClr>
              <a:buSzPts val="1100"/>
              <a:buFont typeface="Calibri"/>
              <a:buChar char="•"/>
            </a:pPr>
            <a:r>
              <a:rPr lang="en-US" sz="1100">
                <a:solidFill>
                  <a:srgbClr val="1B2A4A"/>
                </a:solidFill>
                <a:latin typeface="Calibri"/>
                <a:ea typeface="Calibri"/>
                <a:cs typeface="Calibri"/>
                <a:sym typeface="Calibri"/>
              </a:rPr>
              <a:t>AI Playbook for the UK Government</a:t>
            </a:r>
            <a:endParaRPr sz="1100">
              <a:solidFill>
                <a:schemeClr val="dk1"/>
              </a:solidFill>
              <a:latin typeface="Calibri"/>
              <a:ea typeface="Calibri"/>
              <a:cs typeface="Calibri"/>
              <a:sym typeface="Calibri"/>
            </a:endParaRPr>
          </a:p>
          <a:p>
            <a:pPr indent="-336550" lvl="0" marL="342900" marR="0" rtl="0" algn="l">
              <a:spcBef>
                <a:spcPts val="300"/>
              </a:spcBef>
              <a:spcAft>
                <a:spcPts val="0"/>
              </a:spcAft>
              <a:buClr>
                <a:srgbClr val="1B2A4A"/>
              </a:buClr>
              <a:buSzPts val="1100"/>
              <a:buFont typeface="Calibri"/>
              <a:buChar char="•"/>
            </a:pPr>
            <a:r>
              <a:rPr lang="en-US" sz="1100">
                <a:solidFill>
                  <a:srgbClr val="1B2A4A"/>
                </a:solidFill>
                <a:latin typeface="Calibri"/>
                <a:ea typeface="Calibri"/>
                <a:cs typeface="Calibri"/>
                <a:sym typeface="Calibri"/>
              </a:rPr>
              <a:t>Public Sector Equality Duties (PSED)</a:t>
            </a:r>
            <a:endParaRPr sz="1100">
              <a:solidFill>
                <a:schemeClr val="dk1"/>
              </a:solidFill>
              <a:latin typeface="Calibri"/>
              <a:ea typeface="Calibri"/>
              <a:cs typeface="Calibri"/>
              <a:sym typeface="Calibri"/>
            </a:endParaRPr>
          </a:p>
          <a:p>
            <a:pPr indent="-336550" lvl="0" marL="342900" marR="0" rtl="0" algn="l">
              <a:spcBef>
                <a:spcPts val="300"/>
              </a:spcBef>
              <a:spcAft>
                <a:spcPts val="0"/>
              </a:spcAft>
              <a:buClr>
                <a:srgbClr val="1B2A4A"/>
              </a:buClr>
              <a:buSzPts val="1100"/>
              <a:buFont typeface="Calibri"/>
              <a:buChar char="•"/>
            </a:pPr>
            <a:r>
              <a:rPr lang="en-US" sz="1100">
                <a:solidFill>
                  <a:srgbClr val="1B2A4A"/>
                </a:solidFill>
                <a:latin typeface="Calibri"/>
                <a:ea typeface="Calibri"/>
                <a:cs typeface="Calibri"/>
                <a:sym typeface="Calibri"/>
              </a:rPr>
              <a:t>General Data Protection Regulation (GDPR)</a:t>
            </a:r>
            <a:endParaRPr sz="1100">
              <a:solidFill>
                <a:schemeClr val="dk1"/>
              </a:solidFill>
              <a:latin typeface="Calibri"/>
              <a:ea typeface="Calibri"/>
              <a:cs typeface="Calibri"/>
              <a:sym typeface="Calibri"/>
            </a:endParaRPr>
          </a:p>
          <a:p>
            <a:pPr indent="-336550" lvl="0" marL="342900" marR="0" rtl="0" algn="l">
              <a:spcBef>
                <a:spcPts val="300"/>
              </a:spcBef>
              <a:spcAft>
                <a:spcPts val="0"/>
              </a:spcAft>
              <a:buClr>
                <a:srgbClr val="1B2A4A"/>
              </a:buClr>
              <a:buSzPts val="1100"/>
              <a:buFont typeface="Calibri"/>
              <a:buChar char="•"/>
            </a:pPr>
            <a:r>
              <a:rPr lang="en-US" sz="1100">
                <a:solidFill>
                  <a:srgbClr val="1B2A4A"/>
                </a:solidFill>
                <a:latin typeface="Calibri"/>
                <a:ea typeface="Calibri"/>
                <a:cs typeface="Calibri"/>
                <a:sym typeface="Calibri"/>
              </a:rPr>
              <a:t>The Civil Service Code</a:t>
            </a:r>
            <a:endParaRPr sz="1100">
              <a:solidFill>
                <a:schemeClr val="dk1"/>
              </a:solidFill>
              <a:latin typeface="Calibri"/>
              <a:ea typeface="Calibri"/>
              <a:cs typeface="Calibri"/>
              <a:sym typeface="Calibri"/>
            </a:endParaRPr>
          </a:p>
          <a:p>
            <a:pPr indent="-336550" lvl="0" marL="342900" marR="0" rtl="0" algn="l">
              <a:spcBef>
                <a:spcPts val="300"/>
              </a:spcBef>
              <a:spcAft>
                <a:spcPts val="0"/>
              </a:spcAft>
              <a:buClr>
                <a:srgbClr val="1B2A4A"/>
              </a:buClr>
              <a:buSzPts val="1100"/>
              <a:buFont typeface="Calibri"/>
              <a:buChar char="•"/>
            </a:pPr>
            <a:r>
              <a:rPr lang="en-US" sz="1100">
                <a:solidFill>
                  <a:srgbClr val="1B2A4A"/>
                </a:solidFill>
                <a:latin typeface="Calibri"/>
                <a:ea typeface="Calibri"/>
                <a:cs typeface="Calibri"/>
                <a:sym typeface="Calibri"/>
              </a:rPr>
              <a:t>National Disability Strategy</a:t>
            </a:r>
            <a:endParaRPr sz="1100">
              <a:solidFill>
                <a:schemeClr val="dk1"/>
              </a:solidFill>
              <a:latin typeface="Calibri"/>
              <a:ea typeface="Calibri"/>
              <a:cs typeface="Calibri"/>
              <a:sym typeface="Calibri"/>
            </a:endParaRPr>
          </a:p>
          <a:p>
            <a:pPr indent="-336550" lvl="0" marL="342900" marR="0" rtl="0" algn="l">
              <a:spcBef>
                <a:spcPts val="300"/>
              </a:spcBef>
              <a:spcAft>
                <a:spcPts val="0"/>
              </a:spcAft>
              <a:buClr>
                <a:srgbClr val="1B2A4A"/>
              </a:buClr>
              <a:buSzPts val="1100"/>
              <a:buFont typeface="Calibri"/>
              <a:buChar char="•"/>
            </a:pPr>
            <a:r>
              <a:rPr lang="en-US" sz="1100">
                <a:solidFill>
                  <a:srgbClr val="1B2A4A"/>
                </a:solidFill>
                <a:latin typeface="Calibri"/>
                <a:ea typeface="Calibri"/>
                <a:cs typeface="Calibri"/>
                <a:sym typeface="Calibri"/>
              </a:rPr>
              <a:t>W3C Standards</a:t>
            </a:r>
            <a:endParaRPr sz="1100">
              <a:latin typeface="Calibri"/>
              <a:ea typeface="Calibri"/>
              <a:cs typeface="Calibri"/>
              <a:sym typeface="Calibri"/>
            </a:endParaRPr>
          </a:p>
          <a:p>
            <a:pPr indent="-336550" lvl="0" marL="342900" marR="0" rtl="0" algn="l">
              <a:spcBef>
                <a:spcPts val="300"/>
              </a:spcBef>
              <a:spcAft>
                <a:spcPts val="0"/>
              </a:spcAft>
              <a:buClr>
                <a:srgbClr val="1B2A4A"/>
              </a:buClr>
              <a:buSzPts val="1100"/>
              <a:buFont typeface="Calibri"/>
              <a:buChar char="•"/>
            </a:pPr>
            <a:r>
              <a:rPr lang="en-US" sz="1100">
                <a:solidFill>
                  <a:srgbClr val="1B2A4A"/>
                </a:solidFill>
                <a:latin typeface="Calibri"/>
                <a:ea typeface="Calibri"/>
                <a:cs typeface="Calibri"/>
                <a:sym typeface="Calibri"/>
              </a:rPr>
              <a:t>Programme specific expectations </a:t>
            </a:r>
            <a:endParaRPr sz="1100">
              <a:solidFill>
                <a:schemeClr val="dk1"/>
              </a:solidFill>
              <a:latin typeface="Calibri"/>
              <a:ea typeface="Calibri"/>
              <a:cs typeface="Calibri"/>
              <a:sym typeface="Calibri"/>
            </a:endParaRPr>
          </a:p>
        </p:txBody>
      </p:sp>
      <p:sp>
        <p:nvSpPr>
          <p:cNvPr id="523" name="Google Shape;523;p24"/>
          <p:cNvSpPr/>
          <p:nvPr/>
        </p:nvSpPr>
        <p:spPr>
          <a:xfrm>
            <a:off x="4663440" y="777240"/>
            <a:ext cx="4160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lang="en-US" sz="1200">
                <a:solidFill>
                  <a:srgbClr val="1B2A4A"/>
                </a:solidFill>
                <a:latin typeface="Calibri"/>
                <a:ea typeface="Calibri"/>
                <a:cs typeface="Calibri"/>
                <a:sym typeface="Calibri"/>
              </a:rPr>
              <a:t>Service Assurance</a:t>
            </a:r>
            <a:endParaRPr sz="1200">
              <a:solidFill>
                <a:schemeClr val="dk1"/>
              </a:solidFill>
              <a:latin typeface="Calibri"/>
              <a:ea typeface="Calibri"/>
              <a:cs typeface="Calibri"/>
              <a:sym typeface="Calibri"/>
            </a:endParaRPr>
          </a:p>
        </p:txBody>
      </p:sp>
      <p:sp>
        <p:nvSpPr>
          <p:cNvPr id="524" name="Google Shape;524;p24"/>
          <p:cNvSpPr/>
          <p:nvPr/>
        </p:nvSpPr>
        <p:spPr>
          <a:xfrm>
            <a:off x="4663440" y="1078992"/>
            <a:ext cx="4160520" cy="749808"/>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4"/>
          <p:cNvSpPr/>
          <p:nvPr/>
        </p:nvSpPr>
        <p:spPr>
          <a:xfrm>
            <a:off x="4663440" y="1078992"/>
            <a:ext cx="64008" cy="749808"/>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4"/>
          <p:cNvSpPr/>
          <p:nvPr/>
        </p:nvSpPr>
        <p:spPr>
          <a:xfrm>
            <a:off x="4800600" y="1143000"/>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Platform / Technology</a:t>
            </a:r>
            <a:endParaRPr sz="900">
              <a:solidFill>
                <a:schemeClr val="dk1"/>
              </a:solidFill>
              <a:latin typeface="Calibri"/>
              <a:ea typeface="Calibri"/>
              <a:cs typeface="Calibri"/>
              <a:sym typeface="Calibri"/>
            </a:endParaRPr>
          </a:p>
        </p:txBody>
      </p:sp>
      <p:sp>
        <p:nvSpPr>
          <p:cNvPr id="527" name="Google Shape;527;p24"/>
          <p:cNvSpPr/>
          <p:nvPr/>
        </p:nvSpPr>
        <p:spPr>
          <a:xfrm>
            <a:off x="4800600" y="1380744"/>
            <a:ext cx="39319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Uptime, response times, helpdesk, recovery, maintenance, and transition planning.</a:t>
            </a:r>
            <a:endParaRPr sz="850">
              <a:solidFill>
                <a:schemeClr val="dk1"/>
              </a:solidFill>
              <a:latin typeface="Calibri"/>
              <a:ea typeface="Calibri"/>
              <a:cs typeface="Calibri"/>
              <a:sym typeface="Calibri"/>
            </a:endParaRPr>
          </a:p>
        </p:txBody>
      </p:sp>
      <p:sp>
        <p:nvSpPr>
          <p:cNvPr id="528" name="Google Shape;528;p24"/>
          <p:cNvSpPr/>
          <p:nvPr/>
        </p:nvSpPr>
        <p:spPr>
          <a:xfrm>
            <a:off x="4663440" y="1920240"/>
            <a:ext cx="4160520" cy="749808"/>
          </a:xfrm>
          <a:prstGeom prst="rect">
            <a:avLst/>
          </a:prstGeom>
          <a:solidFill>
            <a:srgbClr val="FFFFFF"/>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4"/>
          <p:cNvSpPr/>
          <p:nvPr/>
        </p:nvSpPr>
        <p:spPr>
          <a:xfrm>
            <a:off x="4663440" y="1920240"/>
            <a:ext cx="64008" cy="749808"/>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4"/>
          <p:cNvSpPr/>
          <p:nvPr/>
        </p:nvSpPr>
        <p:spPr>
          <a:xfrm>
            <a:off x="4800600" y="1984248"/>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SLA</a:t>
            </a:r>
            <a:endParaRPr sz="900">
              <a:solidFill>
                <a:schemeClr val="dk1"/>
              </a:solidFill>
              <a:latin typeface="Calibri"/>
              <a:ea typeface="Calibri"/>
              <a:cs typeface="Calibri"/>
              <a:sym typeface="Calibri"/>
            </a:endParaRPr>
          </a:p>
        </p:txBody>
      </p:sp>
      <p:sp>
        <p:nvSpPr>
          <p:cNvPr id="531" name="Google Shape;531;p24"/>
          <p:cNvSpPr/>
          <p:nvPr/>
        </p:nvSpPr>
        <p:spPr>
          <a:xfrm>
            <a:off x="4800600" y="2221992"/>
            <a:ext cx="39319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Expectations, KPIs, thresholds, responses, workflows, mitigations, penalties, and reporting.</a:t>
            </a:r>
            <a:endParaRPr sz="850">
              <a:solidFill>
                <a:schemeClr val="dk1"/>
              </a:solidFill>
              <a:latin typeface="Calibri"/>
              <a:ea typeface="Calibri"/>
              <a:cs typeface="Calibri"/>
              <a:sym typeface="Calibri"/>
            </a:endParaRPr>
          </a:p>
        </p:txBody>
      </p:sp>
      <p:sp>
        <p:nvSpPr>
          <p:cNvPr id="532" name="Google Shape;532;p24"/>
          <p:cNvSpPr/>
          <p:nvPr/>
        </p:nvSpPr>
        <p:spPr>
          <a:xfrm>
            <a:off x="4663440" y="2761488"/>
            <a:ext cx="4160520" cy="749808"/>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4"/>
          <p:cNvSpPr/>
          <p:nvPr/>
        </p:nvSpPr>
        <p:spPr>
          <a:xfrm>
            <a:off x="4663440" y="2761488"/>
            <a:ext cx="64008" cy="749808"/>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4"/>
          <p:cNvSpPr/>
          <p:nvPr/>
        </p:nvSpPr>
        <p:spPr>
          <a:xfrm>
            <a:off x="4800600" y="2825496"/>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Design Assurance</a:t>
            </a:r>
            <a:endParaRPr sz="900">
              <a:solidFill>
                <a:schemeClr val="dk1"/>
              </a:solidFill>
              <a:latin typeface="Calibri"/>
              <a:ea typeface="Calibri"/>
              <a:cs typeface="Calibri"/>
              <a:sym typeface="Calibri"/>
            </a:endParaRPr>
          </a:p>
        </p:txBody>
      </p:sp>
      <p:sp>
        <p:nvSpPr>
          <p:cNvPr id="535" name="Google Shape;535;p24"/>
          <p:cNvSpPr/>
          <p:nvPr/>
        </p:nvSpPr>
        <p:spPr>
          <a:xfrm>
            <a:off x="4800600" y="3063240"/>
            <a:ext cx="39319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Documented decisions demonstrably aligning needs and priorities; managing design tensions; embracing continuous improvement.</a:t>
            </a:r>
            <a:endParaRPr sz="850">
              <a:solidFill>
                <a:schemeClr val="dk1"/>
              </a:solidFill>
              <a:latin typeface="Calibri"/>
              <a:ea typeface="Calibri"/>
              <a:cs typeface="Calibri"/>
              <a:sym typeface="Calibri"/>
            </a:endParaRPr>
          </a:p>
        </p:txBody>
      </p:sp>
      <p:sp>
        <p:nvSpPr>
          <p:cNvPr id="536" name="Google Shape;536;p24"/>
          <p:cNvSpPr/>
          <p:nvPr/>
        </p:nvSpPr>
        <p:spPr>
          <a:xfrm>
            <a:off x="4663440" y="3602736"/>
            <a:ext cx="4160520" cy="749808"/>
          </a:xfrm>
          <a:prstGeom prst="rect">
            <a:avLst/>
          </a:prstGeom>
          <a:solidFill>
            <a:srgbClr val="FFFFFF"/>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4"/>
          <p:cNvSpPr/>
          <p:nvPr/>
        </p:nvSpPr>
        <p:spPr>
          <a:xfrm>
            <a:off x="4663440" y="3602736"/>
            <a:ext cx="64008" cy="749808"/>
          </a:xfrm>
          <a:prstGeom prst="rect">
            <a:avLst/>
          </a:prstGeom>
          <a:solidFill>
            <a:srgbClr val="2E5B8A"/>
          </a:solidFill>
          <a:ln cap="flat" cmpd="sng" w="12700">
            <a:solidFill>
              <a:srgbClr val="2E5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4"/>
          <p:cNvSpPr/>
          <p:nvPr/>
        </p:nvSpPr>
        <p:spPr>
          <a:xfrm>
            <a:off x="4800600" y="3666744"/>
            <a:ext cx="39319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lang="en-US" sz="900">
                <a:solidFill>
                  <a:srgbClr val="1B2A4A"/>
                </a:solidFill>
                <a:latin typeface="Calibri"/>
                <a:ea typeface="Calibri"/>
                <a:cs typeface="Calibri"/>
                <a:sym typeface="Calibri"/>
              </a:rPr>
              <a:t>Service Assurance</a:t>
            </a:r>
            <a:endParaRPr sz="900">
              <a:solidFill>
                <a:schemeClr val="dk1"/>
              </a:solidFill>
              <a:latin typeface="Calibri"/>
              <a:ea typeface="Calibri"/>
              <a:cs typeface="Calibri"/>
              <a:sym typeface="Calibri"/>
            </a:endParaRPr>
          </a:p>
        </p:txBody>
      </p:sp>
      <p:sp>
        <p:nvSpPr>
          <p:cNvPr id="539" name="Google Shape;539;p24"/>
          <p:cNvSpPr/>
          <p:nvPr/>
        </p:nvSpPr>
        <p:spPr>
          <a:xfrm>
            <a:off x="4800600" y="3904488"/>
            <a:ext cx="39319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lang="en-US" sz="850">
                <a:solidFill>
                  <a:srgbClr val="1B2A4A"/>
                </a:solidFill>
                <a:latin typeface="Calibri"/>
                <a:ea typeface="Calibri"/>
                <a:cs typeface="Calibri"/>
                <a:sym typeface="Calibri"/>
              </a:rPr>
              <a:t>Setting standards, establishing KPIs, monitoring user satisfaction, leveraging data to demonstrate good decisions.</a:t>
            </a:r>
            <a:endParaRPr sz="850">
              <a:solidFill>
                <a:schemeClr val="dk1"/>
              </a:solidFill>
              <a:latin typeface="Calibri"/>
              <a:ea typeface="Calibri"/>
              <a:cs typeface="Calibri"/>
              <a:sym typeface="Calibri"/>
            </a:endParaRPr>
          </a:p>
        </p:txBody>
      </p:sp>
      <p:sp>
        <p:nvSpPr>
          <p:cNvPr id="540" name="Google Shape;540;p24"/>
          <p:cNvSpPr/>
          <p:nvPr/>
        </p:nvSpPr>
        <p:spPr>
          <a:xfrm>
            <a:off x="320040" y="777240"/>
            <a:ext cx="4160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lang="en-US" sz="1200">
                <a:solidFill>
                  <a:srgbClr val="1B2A4A"/>
                </a:solidFill>
                <a:latin typeface="Calibri"/>
                <a:ea typeface="Calibri"/>
                <a:cs typeface="Calibri"/>
                <a:sym typeface="Calibri"/>
              </a:rPr>
              <a:t>Service Standards</a:t>
            </a:r>
            <a:endParaRPr sz="12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B"/>
        </a:solidFill>
      </p:bgPr>
    </p:bg>
    <p:spTree>
      <p:nvGrpSpPr>
        <p:cNvPr id="545" name="Shape 545"/>
        <p:cNvGrpSpPr/>
        <p:nvPr/>
      </p:nvGrpSpPr>
      <p:grpSpPr>
        <a:xfrm>
          <a:off x="0" y="0"/>
          <a:ext cx="0" cy="0"/>
          <a:chOff x="0" y="0"/>
          <a:chExt cx="0" cy="0"/>
        </a:xfrm>
      </p:grpSpPr>
      <p:sp>
        <p:nvSpPr>
          <p:cNvPr id="546" name="Google Shape;546;p25"/>
          <p:cNvSpPr/>
          <p:nvPr/>
        </p:nvSpPr>
        <p:spPr>
          <a:xfrm>
            <a:off x="0" y="0"/>
            <a:ext cx="9144000" cy="658368"/>
          </a:xfrm>
          <a:prstGeom prst="rect">
            <a:avLst/>
          </a:prstGeom>
          <a:solidFill>
            <a:srgbClr val="2E75B5"/>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5"/>
          <p:cNvSpPr/>
          <p:nvPr/>
        </p:nvSpPr>
        <p:spPr>
          <a:xfrm>
            <a:off x="365760" y="73152"/>
            <a:ext cx="8412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Top Takeaways</a:t>
            </a:r>
            <a:endParaRPr sz="2000">
              <a:solidFill>
                <a:schemeClr val="dk1"/>
              </a:solidFill>
              <a:latin typeface="Calibri"/>
              <a:ea typeface="Calibri"/>
              <a:cs typeface="Calibri"/>
              <a:sym typeface="Calibri"/>
            </a:endParaRPr>
          </a:p>
        </p:txBody>
      </p:sp>
      <p:sp>
        <p:nvSpPr>
          <p:cNvPr id="548" name="Google Shape;548;p25"/>
          <p:cNvSpPr/>
          <p:nvPr/>
        </p:nvSpPr>
        <p:spPr>
          <a:xfrm>
            <a:off x="365760" y="4846320"/>
            <a:ext cx="4572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 Globefox Ltd  2026 CC BY-NC 4.0. ND</a:t>
            </a:r>
            <a:endParaRPr sz="750">
              <a:solidFill>
                <a:schemeClr val="dk1"/>
              </a:solidFill>
              <a:latin typeface="Calibri"/>
              <a:ea typeface="Calibri"/>
              <a:cs typeface="Calibri"/>
              <a:sym typeface="Calibri"/>
            </a:endParaRPr>
          </a:p>
        </p:txBody>
      </p:sp>
      <p:sp>
        <p:nvSpPr>
          <p:cNvPr id="549" name="Google Shape;549;p25"/>
          <p:cNvSpPr/>
          <p:nvPr/>
        </p:nvSpPr>
        <p:spPr>
          <a:xfrm>
            <a:off x="4572000" y="4846320"/>
            <a:ext cx="42063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E85"/>
              </a:buClr>
              <a:buSzPts val="750"/>
              <a:buFont typeface="Calibri"/>
              <a:buNone/>
            </a:pPr>
            <a:r>
              <a:rPr lang="en-US" sz="750">
                <a:solidFill>
                  <a:srgbClr val="5A6E85"/>
                </a:solidFill>
                <a:latin typeface="Calibri"/>
                <a:ea typeface="Calibri"/>
                <a:cs typeface="Calibri"/>
                <a:sym typeface="Calibri"/>
              </a:rPr>
              <a:t>Strategic Design In Practice  2026</a:t>
            </a:r>
            <a:endParaRPr sz="750">
              <a:solidFill>
                <a:schemeClr val="dk1"/>
              </a:solidFill>
              <a:latin typeface="Calibri"/>
              <a:ea typeface="Calibri"/>
              <a:cs typeface="Calibri"/>
              <a:sym typeface="Calibri"/>
            </a:endParaRPr>
          </a:p>
        </p:txBody>
      </p:sp>
      <p:cxnSp>
        <p:nvCxnSpPr>
          <p:cNvPr id="550" name="Google Shape;550;p25"/>
          <p:cNvCxnSpPr/>
          <p:nvPr/>
        </p:nvCxnSpPr>
        <p:spPr>
          <a:xfrm>
            <a:off x="365760" y="4828032"/>
            <a:ext cx="8778300" cy="0"/>
          </a:xfrm>
          <a:prstGeom prst="straightConnector1">
            <a:avLst/>
          </a:prstGeom>
          <a:noFill/>
          <a:ln cap="flat" cmpd="sng" w="9525">
            <a:solidFill>
              <a:srgbClr val="B8CCE0"/>
            </a:solidFill>
            <a:prstDash val="solid"/>
            <a:round/>
            <a:headEnd len="sm" w="sm" type="none"/>
            <a:tailEnd len="sm" w="sm" type="none"/>
          </a:ln>
        </p:spPr>
      </p:cxnSp>
      <p:sp>
        <p:nvSpPr>
          <p:cNvPr id="551" name="Google Shape;551;p25"/>
          <p:cNvSpPr/>
          <p:nvPr/>
        </p:nvSpPr>
        <p:spPr>
          <a:xfrm>
            <a:off x="320040" y="901860"/>
            <a:ext cx="4160400" cy="17373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5"/>
          <p:cNvSpPr/>
          <p:nvPr/>
        </p:nvSpPr>
        <p:spPr>
          <a:xfrm>
            <a:off x="320040" y="901860"/>
            <a:ext cx="63900" cy="1737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5"/>
          <p:cNvSpPr/>
          <p:nvPr/>
        </p:nvSpPr>
        <p:spPr>
          <a:xfrm>
            <a:off x="457200" y="993300"/>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lang="en-US" sz="1100">
                <a:solidFill>
                  <a:srgbClr val="1B2A4A"/>
                </a:solidFill>
                <a:latin typeface="Calibri"/>
                <a:ea typeface="Calibri"/>
                <a:cs typeface="Calibri"/>
                <a:sym typeface="Calibri"/>
              </a:rPr>
              <a:t>Design joins the dots</a:t>
            </a:r>
            <a:endParaRPr sz="1100">
              <a:solidFill>
                <a:schemeClr val="dk1"/>
              </a:solidFill>
              <a:latin typeface="Calibri"/>
              <a:ea typeface="Calibri"/>
              <a:cs typeface="Calibri"/>
              <a:sym typeface="Calibri"/>
            </a:endParaRPr>
          </a:p>
        </p:txBody>
      </p:sp>
      <p:sp>
        <p:nvSpPr>
          <p:cNvPr id="554" name="Google Shape;554;p25"/>
          <p:cNvSpPr/>
          <p:nvPr/>
        </p:nvSpPr>
        <p:spPr>
          <a:xfrm>
            <a:off x="457200" y="1322484"/>
            <a:ext cx="3931800" cy="1234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950">
                <a:solidFill>
                  <a:srgbClr val="1B2A4A"/>
                </a:solidFill>
                <a:latin typeface="Calibri"/>
                <a:ea typeface="Calibri"/>
                <a:cs typeface="Calibri"/>
                <a:sym typeface="Calibri"/>
              </a:rPr>
              <a:t>Working col</a:t>
            </a:r>
            <a:r>
              <a:rPr lang="en-US" sz="950">
                <a:solidFill>
                  <a:srgbClr val="1B2A4A"/>
                </a:solidFill>
                <a:latin typeface="Calibri"/>
                <a:ea typeface="Calibri"/>
                <a:cs typeface="Calibri"/>
                <a:sym typeface="Calibri"/>
              </a:rPr>
              <a:t>laboratively helps to make the most of resources time, and to </a:t>
            </a:r>
            <a:r>
              <a:rPr lang="en-US" sz="950">
                <a:solidFill>
                  <a:srgbClr val="1B2A4A"/>
                </a:solidFill>
                <a:latin typeface="Calibri"/>
                <a:ea typeface="Calibri"/>
                <a:cs typeface="Calibri"/>
                <a:sym typeface="Calibri"/>
              </a:rPr>
              <a:t>align strategy, delivery, policy, and service </a:t>
            </a:r>
            <a:r>
              <a:rPr lang="en-US" sz="950">
                <a:solidFill>
                  <a:srgbClr val="1B2A4A"/>
                </a:solidFill>
                <a:latin typeface="Calibri"/>
                <a:ea typeface="Calibri"/>
                <a:cs typeface="Calibri"/>
                <a:sym typeface="Calibri"/>
              </a:rPr>
              <a:t>commitments.</a:t>
            </a:r>
            <a:endParaRPr sz="950">
              <a:solidFill>
                <a:srgbClr val="1B2A4A"/>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950">
                <a:solidFill>
                  <a:srgbClr val="1B2A4A"/>
                </a:solidFill>
                <a:latin typeface="Calibri"/>
                <a:ea typeface="Calibri"/>
                <a:cs typeface="Calibri"/>
                <a:sym typeface="Calibri"/>
              </a:rPr>
              <a:t>User insights help surface problems upstream, informing smarter decisions, and ensuring services deliver optimal public value,  consistently and at scale.</a:t>
            </a:r>
            <a:endParaRPr sz="950">
              <a:solidFill>
                <a:srgbClr val="1B2A4A"/>
              </a:solidFill>
              <a:latin typeface="Calibri"/>
              <a:ea typeface="Calibri"/>
              <a:cs typeface="Calibri"/>
              <a:sym typeface="Calibri"/>
            </a:endParaRPr>
          </a:p>
          <a:p>
            <a:pPr indent="0" lvl="0" marL="0" marR="0" rtl="0" algn="l">
              <a:spcBef>
                <a:spcPts val="1200"/>
              </a:spcBef>
              <a:spcAft>
                <a:spcPts val="0"/>
              </a:spcAft>
              <a:buClr>
                <a:srgbClr val="1B2A4A"/>
              </a:buClr>
              <a:buSzPts val="950"/>
              <a:buFont typeface="Calibri"/>
              <a:buNone/>
            </a:pPr>
            <a:r>
              <a:t/>
            </a:r>
            <a:endParaRPr sz="950">
              <a:solidFill>
                <a:srgbClr val="1B2A4A"/>
              </a:solidFill>
              <a:latin typeface="Calibri"/>
              <a:ea typeface="Calibri"/>
              <a:cs typeface="Calibri"/>
              <a:sym typeface="Calibri"/>
            </a:endParaRPr>
          </a:p>
        </p:txBody>
      </p:sp>
      <p:sp>
        <p:nvSpPr>
          <p:cNvPr id="555" name="Google Shape;555;p25"/>
          <p:cNvSpPr/>
          <p:nvPr/>
        </p:nvSpPr>
        <p:spPr>
          <a:xfrm>
            <a:off x="4663440" y="901860"/>
            <a:ext cx="4160400" cy="17373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5"/>
          <p:cNvSpPr/>
          <p:nvPr/>
        </p:nvSpPr>
        <p:spPr>
          <a:xfrm>
            <a:off x="4663440" y="901860"/>
            <a:ext cx="63900" cy="1737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5"/>
          <p:cNvSpPr/>
          <p:nvPr/>
        </p:nvSpPr>
        <p:spPr>
          <a:xfrm>
            <a:off x="4800600" y="993300"/>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lang="en-US" sz="1100">
                <a:solidFill>
                  <a:srgbClr val="1B2A4A"/>
                </a:solidFill>
                <a:latin typeface="Calibri"/>
                <a:ea typeface="Calibri"/>
                <a:cs typeface="Calibri"/>
                <a:sym typeface="Calibri"/>
              </a:rPr>
              <a:t>Restorative AI</a:t>
            </a:r>
            <a:endParaRPr sz="1100">
              <a:solidFill>
                <a:schemeClr val="dk1"/>
              </a:solidFill>
              <a:latin typeface="Calibri"/>
              <a:ea typeface="Calibri"/>
              <a:cs typeface="Calibri"/>
              <a:sym typeface="Calibri"/>
            </a:endParaRPr>
          </a:p>
        </p:txBody>
      </p:sp>
      <p:sp>
        <p:nvSpPr>
          <p:cNvPr id="558" name="Google Shape;558;p25"/>
          <p:cNvSpPr/>
          <p:nvPr/>
        </p:nvSpPr>
        <p:spPr>
          <a:xfrm>
            <a:off x="4800600" y="1322484"/>
            <a:ext cx="3931800" cy="1234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950">
                <a:solidFill>
                  <a:srgbClr val="1B2A4A"/>
                </a:solidFill>
                <a:latin typeface="Calibri"/>
                <a:ea typeface="Calibri"/>
                <a:cs typeface="Calibri"/>
                <a:sym typeface="Calibri"/>
              </a:rPr>
              <a:t>Due to historic bias and the tendency for AI to optimise for what appears  common, it is necessary to </a:t>
            </a:r>
            <a:r>
              <a:rPr lang="en-US" sz="950">
                <a:solidFill>
                  <a:srgbClr val="1B2A4A"/>
                </a:solidFill>
                <a:latin typeface="Calibri"/>
                <a:ea typeface="Calibri"/>
                <a:cs typeface="Calibri"/>
                <a:sym typeface="Calibri"/>
              </a:rPr>
              <a:t>reevaluate and v</a:t>
            </a:r>
            <a:r>
              <a:rPr lang="en-US" sz="950">
                <a:solidFill>
                  <a:srgbClr val="1B2A4A"/>
                </a:solidFill>
                <a:latin typeface="Calibri"/>
                <a:ea typeface="Calibri"/>
                <a:cs typeface="Calibri"/>
                <a:sym typeface="Calibri"/>
              </a:rPr>
              <a:t>alidate data and assumptions.</a:t>
            </a:r>
            <a:endParaRPr sz="950">
              <a:solidFill>
                <a:srgbClr val="1B2A4A"/>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950">
                <a:solidFill>
                  <a:srgbClr val="1B2A4A"/>
                </a:solidFill>
                <a:latin typeface="Calibri"/>
                <a:ea typeface="Calibri"/>
                <a:cs typeface="Calibri"/>
                <a:sym typeface="Calibri"/>
              </a:rPr>
              <a:t>Services, processes, and decisions must be based on representative data that includes </a:t>
            </a:r>
            <a:r>
              <a:rPr lang="en-US" sz="950">
                <a:solidFill>
                  <a:srgbClr val="1B2A4A"/>
                </a:solidFill>
                <a:latin typeface="Calibri"/>
                <a:ea typeface="Calibri"/>
                <a:cs typeface="Calibri"/>
                <a:sym typeface="Calibri"/>
              </a:rPr>
              <a:t>everyone, not just set personas, or </a:t>
            </a:r>
            <a:r>
              <a:rPr lang="en-US" sz="950">
                <a:solidFill>
                  <a:srgbClr val="1B2A4A"/>
                </a:solidFill>
                <a:latin typeface="Calibri"/>
                <a:ea typeface="Calibri"/>
                <a:cs typeface="Calibri"/>
                <a:sym typeface="Calibri"/>
              </a:rPr>
              <a:t>the apparent majority case.</a:t>
            </a:r>
            <a:endParaRPr sz="950">
              <a:solidFill>
                <a:srgbClr val="1B2A4A"/>
              </a:solidFill>
              <a:latin typeface="Calibri"/>
              <a:ea typeface="Calibri"/>
              <a:cs typeface="Calibri"/>
              <a:sym typeface="Calibri"/>
            </a:endParaRPr>
          </a:p>
          <a:p>
            <a:pPr indent="0" lvl="0" marL="0" marR="0" rtl="0" algn="l">
              <a:spcBef>
                <a:spcPts val="1200"/>
              </a:spcBef>
              <a:spcAft>
                <a:spcPts val="0"/>
              </a:spcAft>
              <a:buClr>
                <a:srgbClr val="1B2A4A"/>
              </a:buClr>
              <a:buSzPts val="950"/>
              <a:buFont typeface="Calibri"/>
              <a:buNone/>
            </a:pPr>
            <a:r>
              <a:t/>
            </a:r>
            <a:endParaRPr sz="950">
              <a:solidFill>
                <a:srgbClr val="1B2A4A"/>
              </a:solidFill>
              <a:latin typeface="Calibri"/>
              <a:ea typeface="Calibri"/>
              <a:cs typeface="Calibri"/>
              <a:sym typeface="Calibri"/>
            </a:endParaRPr>
          </a:p>
        </p:txBody>
      </p:sp>
      <p:sp>
        <p:nvSpPr>
          <p:cNvPr id="559" name="Google Shape;559;p25"/>
          <p:cNvSpPr/>
          <p:nvPr/>
        </p:nvSpPr>
        <p:spPr>
          <a:xfrm>
            <a:off x="320040" y="2822100"/>
            <a:ext cx="4160400" cy="17373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5"/>
          <p:cNvSpPr/>
          <p:nvPr/>
        </p:nvSpPr>
        <p:spPr>
          <a:xfrm>
            <a:off x="320040" y="2822100"/>
            <a:ext cx="63900" cy="1737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5"/>
          <p:cNvSpPr/>
          <p:nvPr/>
        </p:nvSpPr>
        <p:spPr>
          <a:xfrm>
            <a:off x="457200" y="2913540"/>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lang="en-US" sz="1100">
                <a:solidFill>
                  <a:srgbClr val="1B2A4A"/>
                </a:solidFill>
                <a:latin typeface="Calibri"/>
                <a:ea typeface="Calibri"/>
                <a:cs typeface="Calibri"/>
                <a:sym typeface="Calibri"/>
              </a:rPr>
              <a:t>Service m</a:t>
            </a:r>
            <a:r>
              <a:rPr b="1" lang="en-US" sz="1100">
                <a:solidFill>
                  <a:srgbClr val="1B2A4A"/>
                </a:solidFill>
                <a:latin typeface="Calibri"/>
                <a:ea typeface="Calibri"/>
                <a:cs typeface="Calibri"/>
                <a:sym typeface="Calibri"/>
              </a:rPr>
              <a:t>aturity</a:t>
            </a:r>
            <a:endParaRPr sz="1100">
              <a:solidFill>
                <a:schemeClr val="dk1"/>
              </a:solidFill>
              <a:latin typeface="Calibri"/>
              <a:ea typeface="Calibri"/>
              <a:cs typeface="Calibri"/>
              <a:sym typeface="Calibri"/>
            </a:endParaRPr>
          </a:p>
        </p:txBody>
      </p:sp>
      <p:sp>
        <p:nvSpPr>
          <p:cNvPr id="562" name="Google Shape;562;p25"/>
          <p:cNvSpPr/>
          <p:nvPr/>
        </p:nvSpPr>
        <p:spPr>
          <a:xfrm>
            <a:off x="457200" y="3242724"/>
            <a:ext cx="3931800" cy="1234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950">
                <a:solidFill>
                  <a:srgbClr val="1B2A4A"/>
                </a:solidFill>
                <a:latin typeface="Calibri"/>
                <a:ea typeface="Calibri"/>
                <a:cs typeface="Calibri"/>
                <a:sym typeface="Calibri"/>
              </a:rPr>
              <a:t>Good services measure how well they are meeting user needs, and map the gaps that are preventing systems and data from being fully inclusive.</a:t>
            </a:r>
            <a:endParaRPr sz="950">
              <a:solidFill>
                <a:srgbClr val="1B2A4A"/>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950">
                <a:solidFill>
                  <a:srgbClr val="1B2A4A"/>
                </a:solidFill>
                <a:latin typeface="Calibri"/>
                <a:ea typeface="Calibri"/>
                <a:cs typeface="Calibri"/>
                <a:sym typeface="Calibri"/>
              </a:rPr>
              <a:t>Mature services commit to </a:t>
            </a:r>
            <a:r>
              <a:rPr lang="en-US" sz="950">
                <a:solidFill>
                  <a:srgbClr val="1B2A4A"/>
                </a:solidFill>
                <a:latin typeface="Calibri"/>
                <a:ea typeface="Calibri"/>
                <a:cs typeface="Calibri"/>
                <a:sym typeface="Calibri"/>
              </a:rPr>
              <a:t>closing</a:t>
            </a:r>
            <a:r>
              <a:rPr lang="en-US" sz="950">
                <a:solidFill>
                  <a:srgbClr val="1B2A4A"/>
                </a:solidFill>
                <a:latin typeface="Calibri"/>
                <a:ea typeface="Calibri"/>
                <a:cs typeface="Calibri"/>
                <a:sym typeface="Calibri"/>
              </a:rPr>
              <a:t> </a:t>
            </a:r>
            <a:r>
              <a:rPr lang="en-US" sz="950">
                <a:solidFill>
                  <a:srgbClr val="1B2A4A"/>
                </a:solidFill>
                <a:latin typeface="Calibri"/>
                <a:ea typeface="Calibri"/>
                <a:cs typeface="Calibri"/>
                <a:sym typeface="Calibri"/>
              </a:rPr>
              <a:t>gaps</a:t>
            </a:r>
            <a:r>
              <a:rPr lang="en-US" sz="950">
                <a:solidFill>
                  <a:srgbClr val="1B2A4A"/>
                </a:solidFill>
                <a:latin typeface="Calibri"/>
                <a:ea typeface="Calibri"/>
                <a:cs typeface="Calibri"/>
                <a:sym typeface="Calibri"/>
              </a:rPr>
              <a:t>, and set ambitious roadmaps to </a:t>
            </a:r>
            <a:r>
              <a:rPr lang="en-US" sz="950">
                <a:solidFill>
                  <a:srgbClr val="1B2A4A"/>
                </a:solidFill>
                <a:latin typeface="Calibri"/>
                <a:ea typeface="Calibri"/>
                <a:cs typeface="Calibri"/>
                <a:sym typeface="Calibri"/>
              </a:rPr>
              <a:t>further</a:t>
            </a:r>
            <a:r>
              <a:rPr lang="en-US" sz="950">
                <a:solidFill>
                  <a:srgbClr val="1B2A4A"/>
                </a:solidFill>
                <a:latin typeface="Calibri"/>
                <a:ea typeface="Calibri"/>
                <a:cs typeface="Calibri"/>
                <a:sym typeface="Calibri"/>
              </a:rPr>
              <a:t> </a:t>
            </a:r>
            <a:r>
              <a:rPr lang="en-US" sz="950">
                <a:solidFill>
                  <a:srgbClr val="1B2A4A"/>
                </a:solidFill>
                <a:latin typeface="Calibri"/>
                <a:ea typeface="Calibri"/>
                <a:cs typeface="Calibri"/>
                <a:sym typeface="Calibri"/>
              </a:rPr>
              <a:t>improve</a:t>
            </a:r>
            <a:r>
              <a:rPr lang="en-US" sz="950">
                <a:solidFill>
                  <a:srgbClr val="1B2A4A"/>
                </a:solidFill>
                <a:latin typeface="Calibri"/>
                <a:ea typeface="Calibri"/>
                <a:cs typeface="Calibri"/>
                <a:sym typeface="Calibri"/>
              </a:rPr>
              <a:t> effectiveness, </a:t>
            </a:r>
            <a:r>
              <a:rPr lang="en-US" sz="950">
                <a:solidFill>
                  <a:srgbClr val="1B2A4A"/>
                </a:solidFill>
                <a:latin typeface="Calibri"/>
                <a:ea typeface="Calibri"/>
                <a:cs typeface="Calibri"/>
                <a:sym typeface="Calibri"/>
              </a:rPr>
              <a:t>efficiency </a:t>
            </a:r>
            <a:r>
              <a:rPr lang="en-US" sz="950">
                <a:solidFill>
                  <a:srgbClr val="1B2A4A"/>
                </a:solidFill>
                <a:latin typeface="Calibri"/>
                <a:ea typeface="Calibri"/>
                <a:cs typeface="Calibri"/>
                <a:sym typeface="Calibri"/>
              </a:rPr>
              <a:t>and </a:t>
            </a:r>
            <a:r>
              <a:rPr lang="en-US" sz="950">
                <a:solidFill>
                  <a:srgbClr val="1B2A4A"/>
                </a:solidFill>
                <a:latin typeface="Calibri"/>
                <a:ea typeface="Calibri"/>
                <a:cs typeface="Calibri"/>
                <a:sym typeface="Calibri"/>
              </a:rPr>
              <a:t>deliver</a:t>
            </a:r>
            <a:r>
              <a:rPr lang="en-US" sz="950">
                <a:solidFill>
                  <a:srgbClr val="1B2A4A"/>
                </a:solidFill>
                <a:latin typeface="Calibri"/>
                <a:ea typeface="Calibri"/>
                <a:cs typeface="Calibri"/>
                <a:sym typeface="Calibri"/>
              </a:rPr>
              <a:t> </a:t>
            </a:r>
            <a:r>
              <a:rPr lang="en-US" sz="950">
                <a:solidFill>
                  <a:srgbClr val="1B2A4A"/>
                </a:solidFill>
                <a:latin typeface="Calibri"/>
                <a:ea typeface="Calibri"/>
                <a:cs typeface="Calibri"/>
                <a:sym typeface="Calibri"/>
              </a:rPr>
              <a:t>positive</a:t>
            </a:r>
            <a:r>
              <a:rPr lang="en-US" sz="950">
                <a:solidFill>
                  <a:srgbClr val="1B2A4A"/>
                </a:solidFill>
                <a:latin typeface="Calibri"/>
                <a:ea typeface="Calibri"/>
                <a:cs typeface="Calibri"/>
                <a:sym typeface="Calibri"/>
              </a:rPr>
              <a:t> </a:t>
            </a:r>
            <a:r>
              <a:rPr lang="en-US" sz="950">
                <a:solidFill>
                  <a:srgbClr val="1B2A4A"/>
                </a:solidFill>
                <a:latin typeface="Calibri"/>
                <a:ea typeface="Calibri"/>
                <a:cs typeface="Calibri"/>
                <a:sym typeface="Calibri"/>
              </a:rPr>
              <a:t>impact</a:t>
            </a:r>
            <a:r>
              <a:rPr lang="en-US" sz="950">
                <a:solidFill>
                  <a:srgbClr val="1B2A4A"/>
                </a:solidFill>
                <a:latin typeface="Calibri"/>
                <a:ea typeface="Calibri"/>
                <a:cs typeface="Calibri"/>
                <a:sym typeface="Calibri"/>
              </a:rPr>
              <a:t>.</a:t>
            </a:r>
            <a:endParaRPr sz="950">
              <a:solidFill>
                <a:srgbClr val="1B2A4A"/>
              </a:solidFill>
              <a:latin typeface="Calibri"/>
              <a:ea typeface="Calibri"/>
              <a:cs typeface="Calibri"/>
              <a:sym typeface="Calibri"/>
            </a:endParaRPr>
          </a:p>
          <a:p>
            <a:pPr indent="0" lvl="0" marL="0" marR="0" rtl="0" algn="l">
              <a:spcBef>
                <a:spcPts val="1200"/>
              </a:spcBef>
              <a:spcAft>
                <a:spcPts val="0"/>
              </a:spcAft>
              <a:buClr>
                <a:srgbClr val="1B2A4A"/>
              </a:buClr>
              <a:buSzPts val="950"/>
              <a:buFont typeface="Calibri"/>
              <a:buNone/>
            </a:pPr>
            <a:r>
              <a:t/>
            </a:r>
            <a:endParaRPr sz="9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950"/>
              <a:buFont typeface="Calibri"/>
              <a:buNone/>
            </a:pPr>
            <a:r>
              <a:t/>
            </a:r>
            <a:endParaRPr sz="9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950"/>
              <a:buFont typeface="Calibri"/>
              <a:buNone/>
            </a:pPr>
            <a:r>
              <a:t/>
            </a:r>
            <a:endParaRPr sz="950">
              <a:solidFill>
                <a:schemeClr val="dk1"/>
              </a:solidFill>
              <a:latin typeface="Calibri"/>
              <a:ea typeface="Calibri"/>
              <a:cs typeface="Calibri"/>
              <a:sym typeface="Calibri"/>
            </a:endParaRPr>
          </a:p>
        </p:txBody>
      </p:sp>
      <p:sp>
        <p:nvSpPr>
          <p:cNvPr id="563" name="Google Shape;563;p25"/>
          <p:cNvSpPr/>
          <p:nvPr/>
        </p:nvSpPr>
        <p:spPr>
          <a:xfrm>
            <a:off x="4663440" y="2822100"/>
            <a:ext cx="4160400" cy="1737300"/>
          </a:xfrm>
          <a:prstGeom prst="rect">
            <a:avLst/>
          </a:prstGeom>
          <a:solidFill>
            <a:srgbClr val="D6E8F5"/>
          </a:solidFill>
          <a:ln cap="flat" cmpd="sng" w="9525">
            <a:solidFill>
              <a:srgbClr val="B8C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5"/>
          <p:cNvSpPr/>
          <p:nvPr/>
        </p:nvSpPr>
        <p:spPr>
          <a:xfrm>
            <a:off x="4663440" y="2822100"/>
            <a:ext cx="63900" cy="1737300"/>
          </a:xfrm>
          <a:prstGeom prst="rect">
            <a:avLst/>
          </a:prstGeom>
          <a:solidFill>
            <a:srgbClr val="0D7A7A"/>
          </a:solidFill>
          <a:ln cap="flat" cmpd="sng" w="12700">
            <a:solidFill>
              <a:srgbClr val="0D7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5"/>
          <p:cNvSpPr/>
          <p:nvPr/>
        </p:nvSpPr>
        <p:spPr>
          <a:xfrm>
            <a:off x="4800600" y="2913540"/>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lang="en-US" sz="1100">
                <a:solidFill>
                  <a:srgbClr val="1B2A4A"/>
                </a:solidFill>
                <a:latin typeface="Calibri"/>
                <a:ea typeface="Calibri"/>
                <a:cs typeface="Calibri"/>
                <a:sym typeface="Calibri"/>
              </a:rPr>
              <a:t>GDS, UCD, and Agile </a:t>
            </a:r>
            <a:r>
              <a:rPr b="1" lang="en-US" sz="1100">
                <a:solidFill>
                  <a:srgbClr val="1B2A4A"/>
                </a:solidFill>
                <a:latin typeface="Calibri"/>
                <a:ea typeface="Calibri"/>
                <a:cs typeface="Calibri"/>
                <a:sym typeface="Calibri"/>
              </a:rPr>
              <a:t>approaches</a:t>
            </a:r>
            <a:r>
              <a:rPr b="1" lang="en-US" sz="1100">
                <a:solidFill>
                  <a:srgbClr val="1B2A4A"/>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566" name="Google Shape;566;p25"/>
          <p:cNvSpPr/>
          <p:nvPr/>
        </p:nvSpPr>
        <p:spPr>
          <a:xfrm>
            <a:off x="4800600" y="3242724"/>
            <a:ext cx="3931800" cy="1234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lang="en-US" sz="950">
                <a:solidFill>
                  <a:srgbClr val="1B2A4A"/>
                </a:solidFill>
                <a:latin typeface="Calibri"/>
                <a:ea typeface="Calibri"/>
                <a:cs typeface="Calibri"/>
                <a:sym typeface="Calibri"/>
              </a:rPr>
              <a:t>GDS helps define good services. UCD uncovers what users need, and what may be getting missed. Agile working enables teams to respond to those insights and adapt to changing demands and commitments.</a:t>
            </a:r>
            <a:endParaRPr sz="9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950"/>
              <a:buFont typeface="Calibri"/>
              <a:buNone/>
            </a:pPr>
            <a:r>
              <a:t/>
            </a:r>
            <a:endParaRPr sz="950">
              <a:solidFill>
                <a:srgbClr val="1B2A4A"/>
              </a:solidFill>
              <a:latin typeface="Calibri"/>
              <a:ea typeface="Calibri"/>
              <a:cs typeface="Calibri"/>
              <a:sym typeface="Calibri"/>
            </a:endParaRPr>
          </a:p>
          <a:p>
            <a:pPr indent="0" lvl="0" marL="0" marR="0" rtl="0" algn="l">
              <a:spcBef>
                <a:spcPts val="0"/>
              </a:spcBef>
              <a:spcAft>
                <a:spcPts val="0"/>
              </a:spcAft>
              <a:buClr>
                <a:srgbClr val="1B2A4A"/>
              </a:buClr>
              <a:buSzPts val="950"/>
              <a:buFont typeface="Calibri"/>
              <a:buNone/>
            </a:pPr>
            <a:r>
              <a:rPr lang="en-US" sz="950">
                <a:solidFill>
                  <a:srgbClr val="1B2A4A"/>
                </a:solidFill>
                <a:latin typeface="Calibri"/>
                <a:ea typeface="Calibri"/>
                <a:cs typeface="Calibri"/>
                <a:sym typeface="Calibri"/>
              </a:rPr>
              <a:t> Bringing these proven frameworks together supports the design, development and management of services that really work for the people who need them. </a:t>
            </a:r>
            <a:endParaRPr sz="95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71" name="Shape 571"/>
        <p:cNvGrpSpPr/>
        <p:nvPr/>
      </p:nvGrpSpPr>
      <p:grpSpPr>
        <a:xfrm>
          <a:off x="0" y="0"/>
          <a:ext cx="0" cy="0"/>
          <a:chOff x="0" y="0"/>
          <a:chExt cx="0" cy="0"/>
        </a:xfrm>
      </p:grpSpPr>
      <p:sp>
        <p:nvSpPr>
          <p:cNvPr id="572" name="Google Shape;572;p26"/>
          <p:cNvSpPr/>
          <p:nvPr/>
        </p:nvSpPr>
        <p:spPr>
          <a:xfrm>
            <a:off x="411480" y="365760"/>
            <a:ext cx="83210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About This Document</a:t>
            </a:r>
            <a:endParaRPr sz="2200">
              <a:solidFill>
                <a:schemeClr val="dk1"/>
              </a:solidFill>
              <a:latin typeface="Calibri"/>
              <a:ea typeface="Calibri"/>
              <a:cs typeface="Calibri"/>
              <a:sym typeface="Calibri"/>
            </a:endParaRPr>
          </a:p>
        </p:txBody>
      </p:sp>
      <p:sp>
        <p:nvSpPr>
          <p:cNvPr id="573" name="Google Shape;573;p26"/>
          <p:cNvSpPr/>
          <p:nvPr/>
        </p:nvSpPr>
        <p:spPr>
          <a:xfrm>
            <a:off x="411480" y="1005840"/>
            <a:ext cx="146304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6E8F5"/>
              </a:buClr>
              <a:buSzPts val="850"/>
              <a:buFont typeface="Calibri"/>
              <a:buNone/>
            </a:pPr>
            <a:r>
              <a:rPr b="1" lang="en-US" sz="850">
                <a:solidFill>
                  <a:srgbClr val="D6E8F5"/>
                </a:solidFill>
                <a:latin typeface="Calibri"/>
                <a:ea typeface="Calibri"/>
                <a:cs typeface="Calibri"/>
                <a:sym typeface="Calibri"/>
              </a:rPr>
              <a:t>A</a:t>
            </a:r>
            <a:r>
              <a:rPr b="1" lang="en-US" sz="850">
                <a:solidFill>
                  <a:srgbClr val="D6E8F5"/>
                </a:solidFill>
                <a:latin typeface="Calibri"/>
                <a:ea typeface="Calibri"/>
                <a:cs typeface="Calibri"/>
                <a:sym typeface="Calibri"/>
              </a:rPr>
              <a:t>ims:</a:t>
            </a:r>
            <a:endParaRPr sz="850">
              <a:solidFill>
                <a:schemeClr val="dk1"/>
              </a:solidFill>
              <a:latin typeface="Calibri"/>
              <a:ea typeface="Calibri"/>
              <a:cs typeface="Calibri"/>
              <a:sym typeface="Calibri"/>
            </a:endParaRPr>
          </a:p>
        </p:txBody>
      </p:sp>
      <p:sp>
        <p:nvSpPr>
          <p:cNvPr id="574" name="Google Shape;574;p26"/>
          <p:cNvSpPr/>
          <p:nvPr/>
        </p:nvSpPr>
        <p:spPr>
          <a:xfrm>
            <a:off x="1051858" y="1005840"/>
            <a:ext cx="4748100" cy="53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C4DC"/>
              </a:buClr>
              <a:buSzPts val="850"/>
              <a:buFont typeface="Calibri"/>
              <a:buNone/>
            </a:pPr>
            <a:r>
              <a:rPr lang="en-US" sz="850">
                <a:solidFill>
                  <a:srgbClr val="A8C4DC"/>
                </a:solidFill>
                <a:latin typeface="Calibri"/>
                <a:ea typeface="Calibri"/>
                <a:cs typeface="Calibri"/>
                <a:sym typeface="Calibri"/>
              </a:rPr>
              <a:t>A practical reference for organisations embedding design-led ways of working. Covers UCD, Agile, GDS principles, service maturity, and strategic design in a public sector delivery context.</a:t>
            </a:r>
            <a:endParaRPr sz="850">
              <a:solidFill>
                <a:schemeClr val="dk1"/>
              </a:solidFill>
              <a:latin typeface="Calibri"/>
              <a:ea typeface="Calibri"/>
              <a:cs typeface="Calibri"/>
              <a:sym typeface="Calibri"/>
            </a:endParaRPr>
          </a:p>
        </p:txBody>
      </p:sp>
      <p:sp>
        <p:nvSpPr>
          <p:cNvPr id="575" name="Google Shape;575;p26"/>
          <p:cNvSpPr/>
          <p:nvPr/>
        </p:nvSpPr>
        <p:spPr>
          <a:xfrm>
            <a:off x="411480" y="1627632"/>
            <a:ext cx="146304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6E8F5"/>
              </a:buClr>
              <a:buSzPts val="850"/>
              <a:buFont typeface="Calibri"/>
              <a:buNone/>
            </a:pPr>
            <a:r>
              <a:rPr b="1" lang="en-US" sz="850">
                <a:solidFill>
                  <a:srgbClr val="D6E8F5"/>
                </a:solidFill>
                <a:latin typeface="Calibri"/>
                <a:ea typeface="Calibri"/>
                <a:cs typeface="Calibri"/>
                <a:sym typeface="Calibri"/>
              </a:rPr>
              <a:t>AI use:</a:t>
            </a:r>
            <a:endParaRPr sz="850">
              <a:solidFill>
                <a:schemeClr val="dk1"/>
              </a:solidFill>
              <a:latin typeface="Calibri"/>
              <a:ea typeface="Calibri"/>
              <a:cs typeface="Calibri"/>
              <a:sym typeface="Calibri"/>
            </a:endParaRPr>
          </a:p>
        </p:txBody>
      </p:sp>
      <p:sp>
        <p:nvSpPr>
          <p:cNvPr id="576" name="Google Shape;576;p26"/>
          <p:cNvSpPr/>
          <p:nvPr/>
        </p:nvSpPr>
        <p:spPr>
          <a:xfrm>
            <a:off x="1238758" y="1627632"/>
            <a:ext cx="4747974" cy="5303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C4DC"/>
              </a:buClr>
              <a:buSzPts val="850"/>
              <a:buFont typeface="Calibri"/>
              <a:buNone/>
            </a:pPr>
            <a:r>
              <a:rPr lang="en-US" sz="850">
                <a:solidFill>
                  <a:srgbClr val="A8C4DC"/>
                </a:solidFill>
                <a:latin typeface="Calibri"/>
                <a:ea typeface="Calibri"/>
                <a:cs typeface="Calibri"/>
                <a:sym typeface="Calibri"/>
              </a:rPr>
              <a:t>Claude (Anthropic) was used to draft and refine content, and to support layout refinement. All content was reviewed, edited, and approved by the author. All creative and editorial decisions are the author's own.</a:t>
            </a:r>
            <a:endParaRPr sz="850">
              <a:solidFill>
                <a:schemeClr val="dk1"/>
              </a:solidFill>
              <a:latin typeface="Calibri"/>
              <a:ea typeface="Calibri"/>
              <a:cs typeface="Calibri"/>
              <a:sym typeface="Calibri"/>
            </a:endParaRPr>
          </a:p>
        </p:txBody>
      </p:sp>
      <p:sp>
        <p:nvSpPr>
          <p:cNvPr id="577" name="Google Shape;577;p26"/>
          <p:cNvSpPr/>
          <p:nvPr/>
        </p:nvSpPr>
        <p:spPr>
          <a:xfrm>
            <a:off x="411480" y="2249424"/>
            <a:ext cx="146304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6E8F5"/>
              </a:buClr>
              <a:buSzPts val="850"/>
              <a:buFont typeface="Calibri"/>
              <a:buNone/>
            </a:pPr>
            <a:r>
              <a:rPr b="1" lang="en-US" sz="850">
                <a:solidFill>
                  <a:srgbClr val="D6E8F5"/>
                </a:solidFill>
                <a:latin typeface="Calibri"/>
                <a:ea typeface="Calibri"/>
                <a:cs typeface="Calibri"/>
                <a:sym typeface="Calibri"/>
              </a:rPr>
              <a:t>Sources:</a:t>
            </a:r>
            <a:endParaRPr sz="850">
              <a:solidFill>
                <a:schemeClr val="dk1"/>
              </a:solidFill>
              <a:latin typeface="Calibri"/>
              <a:ea typeface="Calibri"/>
              <a:cs typeface="Calibri"/>
              <a:sym typeface="Calibri"/>
            </a:endParaRPr>
          </a:p>
        </p:txBody>
      </p:sp>
      <p:sp>
        <p:nvSpPr>
          <p:cNvPr id="578" name="Google Shape;578;p26"/>
          <p:cNvSpPr/>
          <p:nvPr/>
        </p:nvSpPr>
        <p:spPr>
          <a:xfrm>
            <a:off x="1051858" y="2249424"/>
            <a:ext cx="4748100" cy="53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C4DC"/>
              </a:buClr>
              <a:buSzPts val="850"/>
              <a:buFont typeface="Calibri"/>
              <a:buNone/>
            </a:pPr>
            <a:r>
              <a:rPr lang="en-US" sz="850">
                <a:solidFill>
                  <a:srgbClr val="A8C4DC"/>
                </a:solidFill>
                <a:latin typeface="Calibri"/>
                <a:ea typeface="Calibri"/>
                <a:cs typeface="Calibri"/>
                <a:sym typeface="Calibri"/>
              </a:rPr>
              <a:t>Published frameworks, standards, and guidance - including GDS, DDaT, and occupational health research - were referenced to ground content in established practice. Sources are not reproduced; they informed the author's own synthesis.</a:t>
            </a:r>
            <a:endParaRPr sz="850">
              <a:solidFill>
                <a:schemeClr val="dk1"/>
              </a:solidFill>
              <a:latin typeface="Calibri"/>
              <a:ea typeface="Calibri"/>
              <a:cs typeface="Calibri"/>
              <a:sym typeface="Calibri"/>
            </a:endParaRPr>
          </a:p>
        </p:txBody>
      </p:sp>
      <p:sp>
        <p:nvSpPr>
          <p:cNvPr id="579" name="Google Shape;579;p26"/>
          <p:cNvSpPr/>
          <p:nvPr/>
        </p:nvSpPr>
        <p:spPr>
          <a:xfrm>
            <a:off x="411480" y="2871216"/>
            <a:ext cx="146304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6E8F5"/>
              </a:buClr>
              <a:buSzPts val="850"/>
              <a:buFont typeface="Calibri"/>
              <a:buNone/>
            </a:pPr>
            <a:r>
              <a:rPr b="1" lang="en-US" sz="850">
                <a:solidFill>
                  <a:srgbClr val="D6E8F5"/>
                </a:solidFill>
                <a:latin typeface="Calibri"/>
                <a:ea typeface="Calibri"/>
                <a:cs typeface="Calibri"/>
                <a:sym typeface="Calibri"/>
              </a:rPr>
              <a:t>Images:</a:t>
            </a:r>
            <a:endParaRPr sz="850">
              <a:solidFill>
                <a:schemeClr val="dk1"/>
              </a:solidFill>
              <a:latin typeface="Calibri"/>
              <a:ea typeface="Calibri"/>
              <a:cs typeface="Calibri"/>
              <a:sym typeface="Calibri"/>
            </a:endParaRPr>
          </a:p>
        </p:txBody>
      </p:sp>
      <p:sp>
        <p:nvSpPr>
          <p:cNvPr id="580" name="Google Shape;580;p26"/>
          <p:cNvSpPr/>
          <p:nvPr/>
        </p:nvSpPr>
        <p:spPr>
          <a:xfrm>
            <a:off x="1051858" y="2871216"/>
            <a:ext cx="4748100" cy="53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C4DC"/>
              </a:buClr>
              <a:buSzPts val="850"/>
              <a:buFont typeface="Calibri"/>
              <a:buNone/>
            </a:pPr>
            <a:r>
              <a:rPr lang="en-US" sz="850">
                <a:solidFill>
                  <a:srgbClr val="A8C4DC"/>
                </a:solidFill>
                <a:latin typeface="Calibri"/>
                <a:ea typeface="Calibri"/>
                <a:cs typeface="Calibri"/>
                <a:sym typeface="Calibri"/>
              </a:rPr>
              <a:t>Working diagrams (slide 6) are reproduced from third-party sources for illustrative purposes and attributed. All other visual elements are original to this deck.</a:t>
            </a:r>
            <a:endParaRPr sz="850">
              <a:solidFill>
                <a:schemeClr val="dk1"/>
              </a:solidFill>
              <a:latin typeface="Calibri"/>
              <a:ea typeface="Calibri"/>
              <a:cs typeface="Calibri"/>
              <a:sym typeface="Calibri"/>
            </a:endParaRPr>
          </a:p>
        </p:txBody>
      </p:sp>
      <p:sp>
        <p:nvSpPr>
          <p:cNvPr id="581" name="Google Shape;581;p26"/>
          <p:cNvSpPr/>
          <p:nvPr/>
        </p:nvSpPr>
        <p:spPr>
          <a:xfrm>
            <a:off x="411480" y="3493008"/>
            <a:ext cx="146304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6E8F5"/>
              </a:buClr>
              <a:buSzPts val="850"/>
              <a:buFont typeface="Calibri"/>
              <a:buNone/>
            </a:pPr>
            <a:r>
              <a:rPr b="1" lang="en-US" sz="850">
                <a:solidFill>
                  <a:srgbClr val="D6E8F5"/>
                </a:solidFill>
                <a:latin typeface="Calibri"/>
                <a:ea typeface="Calibri"/>
                <a:cs typeface="Calibri"/>
                <a:sym typeface="Calibri"/>
              </a:rPr>
              <a:t>Disclaimer:</a:t>
            </a:r>
            <a:endParaRPr sz="850">
              <a:solidFill>
                <a:schemeClr val="dk1"/>
              </a:solidFill>
              <a:latin typeface="Calibri"/>
              <a:ea typeface="Calibri"/>
              <a:cs typeface="Calibri"/>
              <a:sym typeface="Calibri"/>
            </a:endParaRPr>
          </a:p>
        </p:txBody>
      </p:sp>
      <p:sp>
        <p:nvSpPr>
          <p:cNvPr id="582" name="Google Shape;582;p26"/>
          <p:cNvSpPr/>
          <p:nvPr/>
        </p:nvSpPr>
        <p:spPr>
          <a:xfrm>
            <a:off x="1051858" y="3493008"/>
            <a:ext cx="4748100" cy="53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C4DC"/>
              </a:buClr>
              <a:buSzPts val="850"/>
              <a:buFont typeface="Calibri"/>
              <a:buNone/>
            </a:pPr>
            <a:r>
              <a:rPr lang="en-US" sz="850">
                <a:solidFill>
                  <a:srgbClr val="A8C4DC"/>
                </a:solidFill>
                <a:latin typeface="Calibri"/>
                <a:ea typeface="Calibri"/>
                <a:cs typeface="Calibri"/>
                <a:sym typeface="Calibri"/>
              </a:rPr>
              <a:t>This document is for guidance only. It does not constitute professional advice. Organisations should apply judgement appropriate to their own context, constraints, and governance requirements.</a:t>
            </a:r>
            <a:endParaRPr sz="850">
              <a:solidFill>
                <a:schemeClr val="dk1"/>
              </a:solidFill>
              <a:latin typeface="Calibri"/>
              <a:ea typeface="Calibri"/>
              <a:cs typeface="Calibri"/>
              <a:sym typeface="Calibri"/>
            </a:endParaRPr>
          </a:p>
        </p:txBody>
      </p:sp>
      <p:sp>
        <p:nvSpPr>
          <p:cNvPr id="583" name="Google Shape;583;p26"/>
          <p:cNvSpPr/>
          <p:nvPr/>
        </p:nvSpPr>
        <p:spPr>
          <a:xfrm>
            <a:off x="411480" y="4114800"/>
            <a:ext cx="146304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6E8F5"/>
              </a:buClr>
              <a:buSzPts val="850"/>
              <a:buFont typeface="Calibri"/>
              <a:buNone/>
            </a:pPr>
            <a:r>
              <a:rPr b="1" lang="en-US" sz="850">
                <a:solidFill>
                  <a:srgbClr val="D6E8F5"/>
                </a:solidFill>
                <a:latin typeface="Calibri"/>
                <a:ea typeface="Calibri"/>
                <a:cs typeface="Calibri"/>
                <a:sym typeface="Calibri"/>
              </a:rPr>
              <a:t>Copyright:</a:t>
            </a:r>
            <a:endParaRPr sz="850">
              <a:solidFill>
                <a:schemeClr val="dk1"/>
              </a:solidFill>
              <a:latin typeface="Calibri"/>
              <a:ea typeface="Calibri"/>
              <a:cs typeface="Calibri"/>
              <a:sym typeface="Calibri"/>
            </a:endParaRPr>
          </a:p>
        </p:txBody>
      </p:sp>
      <p:sp>
        <p:nvSpPr>
          <p:cNvPr id="584" name="Google Shape;584;p26"/>
          <p:cNvSpPr/>
          <p:nvPr/>
        </p:nvSpPr>
        <p:spPr>
          <a:xfrm>
            <a:off x="1051858" y="4114800"/>
            <a:ext cx="4748100" cy="53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C4DC"/>
              </a:buClr>
              <a:buSzPts val="850"/>
              <a:buFont typeface="Calibri"/>
              <a:buNone/>
            </a:pPr>
            <a:r>
              <a:rPr lang="en-US" sz="850">
                <a:solidFill>
                  <a:srgbClr val="A8C4DC"/>
                </a:solidFill>
                <a:latin typeface="Calibri"/>
                <a:ea typeface="Calibri"/>
                <a:cs typeface="Calibri"/>
                <a:sym typeface="Calibri"/>
              </a:rPr>
              <a:t>© Lucy K Wills / Globefox 2026. Licensed under </a:t>
            </a:r>
            <a:r>
              <a:rPr lang="en-US" sz="850">
                <a:solidFill>
                  <a:srgbClr val="A8C4DC"/>
                </a:solidFill>
                <a:latin typeface="Calibri"/>
                <a:ea typeface="Calibri"/>
                <a:cs typeface="Calibri"/>
                <a:sym typeface="Calibri"/>
              </a:rPr>
              <a:t>CC BY-NC 4.0. ND</a:t>
            </a:r>
            <a:r>
              <a:rPr lang="en-US" sz="850">
                <a:solidFill>
                  <a:srgbClr val="A8C4DC"/>
                </a:solidFill>
                <a:latin typeface="Calibri"/>
                <a:ea typeface="Calibri"/>
                <a:cs typeface="Calibri"/>
                <a:sym typeface="Calibri"/>
              </a:rPr>
              <a:t>. You may share and utilise it as-is for non-commercial purposes, with attribution, and on the same terms. You may not adapt it or create derivative works without written consent.</a:t>
            </a:r>
            <a:endParaRPr sz="850">
              <a:solidFill>
                <a:schemeClr val="dk1"/>
              </a:solidFill>
              <a:latin typeface="Calibri"/>
              <a:ea typeface="Calibri"/>
              <a:cs typeface="Calibri"/>
              <a:sym typeface="Calibri"/>
            </a:endParaRPr>
          </a:p>
        </p:txBody>
      </p:sp>
      <p:pic>
        <p:nvPicPr>
          <p:cNvPr id="585" name="Google Shape;585;p26"/>
          <p:cNvPicPr preferRelativeResize="0"/>
          <p:nvPr/>
        </p:nvPicPr>
        <p:blipFill rotWithShape="1">
          <a:blip r:embed="rId3">
            <a:alphaModFix/>
          </a:blip>
          <a:srcRect b="0" l="0" r="0" t="0"/>
          <a:stretch/>
        </p:blipFill>
        <p:spPr>
          <a:xfrm>
            <a:off x="7517425" y="739469"/>
            <a:ext cx="1241825" cy="1241800"/>
          </a:xfrm>
          <a:prstGeom prst="rect">
            <a:avLst/>
          </a:prstGeom>
          <a:noFill/>
          <a:ln>
            <a:noFill/>
          </a:ln>
        </p:spPr>
      </p:pic>
      <p:sp>
        <p:nvSpPr>
          <p:cNvPr id="586" name="Google Shape;586;p26"/>
          <p:cNvSpPr/>
          <p:nvPr/>
        </p:nvSpPr>
        <p:spPr>
          <a:xfrm>
            <a:off x="6258375" y="3078403"/>
            <a:ext cx="2757600" cy="35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libri"/>
              <a:buNone/>
            </a:pPr>
            <a:r>
              <a:rPr b="1" lang="en-US" sz="1100">
                <a:solidFill>
                  <a:srgbClr val="DDEAF6"/>
                </a:solidFill>
                <a:latin typeface="Calibri"/>
                <a:ea typeface="Calibri"/>
                <a:cs typeface="Calibri"/>
                <a:sym typeface="Calibri"/>
              </a:rPr>
              <a:t>Key references</a:t>
            </a:r>
            <a:endParaRPr sz="1100">
              <a:solidFill>
                <a:srgbClr val="DDEAF6"/>
              </a:solidFill>
              <a:latin typeface="Calibri"/>
              <a:ea typeface="Calibri"/>
              <a:cs typeface="Calibri"/>
              <a:sym typeface="Calibri"/>
            </a:endParaRPr>
          </a:p>
        </p:txBody>
      </p:sp>
      <p:sp>
        <p:nvSpPr>
          <p:cNvPr id="587" name="Google Shape;587;p26"/>
          <p:cNvSpPr/>
          <p:nvPr/>
        </p:nvSpPr>
        <p:spPr>
          <a:xfrm>
            <a:off x="6145275" y="3529553"/>
            <a:ext cx="2870700" cy="1869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950"/>
              <a:buFont typeface="Calibri"/>
              <a:buNone/>
            </a:pPr>
            <a:r>
              <a:rPr b="1" lang="en-US" sz="950">
                <a:solidFill>
                  <a:srgbClr val="DDEAF6"/>
                </a:solidFill>
                <a:latin typeface="Calibri"/>
                <a:ea typeface="Calibri"/>
                <a:cs typeface="Calibri"/>
                <a:sym typeface="Calibri"/>
              </a:rPr>
              <a:t>2035 Smart Data Strategy </a:t>
            </a:r>
            <a:r>
              <a:rPr i="1" lang="en-US" sz="950" u="sng">
                <a:solidFill>
                  <a:schemeClr val="lt2"/>
                </a:solidFill>
                <a:latin typeface="Calibri"/>
                <a:ea typeface="Calibri"/>
                <a:cs typeface="Calibri"/>
                <a:sym typeface="Calibri"/>
                <a:hlinkClick r:id="rId4">
                  <a:extLst>
                    <a:ext uri="{A12FA001-AC4F-418D-AE19-62706E023703}">
                      <ahyp:hlinkClr val="tx"/>
                    </a:ext>
                  </a:extLst>
                </a:hlinkClick>
              </a:rPr>
              <a:t>https://assets.publishing.service.gov.uk/media/69c11f9ed588c92c483e4b66/smart-data-strategy.pdf</a:t>
            </a:r>
            <a:endParaRPr i="1" sz="950">
              <a:solidFill>
                <a:schemeClr val="lt2"/>
              </a:solidFill>
              <a:latin typeface="Calibri"/>
              <a:ea typeface="Calibri"/>
              <a:cs typeface="Calibri"/>
              <a:sym typeface="Calibri"/>
            </a:endParaRPr>
          </a:p>
          <a:p>
            <a:pPr indent="0" lvl="0" marL="0" marR="0" rtl="0" algn="l">
              <a:spcBef>
                <a:spcPts val="0"/>
              </a:spcBef>
              <a:spcAft>
                <a:spcPts val="0"/>
              </a:spcAft>
              <a:buClr>
                <a:srgbClr val="1B2A4A"/>
              </a:buClr>
              <a:buSzPts val="950"/>
              <a:buFont typeface="Calibri"/>
              <a:buNone/>
            </a:pPr>
            <a:r>
              <a:t/>
            </a:r>
            <a:endParaRPr sz="950">
              <a:solidFill>
                <a:schemeClr val="lt2"/>
              </a:solidFill>
              <a:latin typeface="Calibri"/>
              <a:ea typeface="Calibri"/>
              <a:cs typeface="Calibri"/>
              <a:sym typeface="Calibri"/>
            </a:endParaRPr>
          </a:p>
          <a:p>
            <a:pPr indent="0" lvl="0" marL="0" marR="0" rtl="0" algn="l">
              <a:spcBef>
                <a:spcPts val="0"/>
              </a:spcBef>
              <a:spcAft>
                <a:spcPts val="0"/>
              </a:spcAft>
              <a:buClr>
                <a:srgbClr val="1B2A4A"/>
              </a:buClr>
              <a:buSzPts val="950"/>
              <a:buFont typeface="Calibri"/>
              <a:buNone/>
            </a:pPr>
            <a:r>
              <a:rPr b="1" lang="en-US" sz="950">
                <a:solidFill>
                  <a:schemeClr val="lt2"/>
                </a:solidFill>
                <a:latin typeface="Calibri"/>
                <a:ea typeface="Calibri"/>
                <a:cs typeface="Calibri"/>
                <a:sym typeface="Calibri"/>
              </a:rPr>
              <a:t>GDS Standard and related resources</a:t>
            </a:r>
            <a:br>
              <a:rPr lang="en-US" sz="950">
                <a:solidFill>
                  <a:schemeClr val="lt2"/>
                </a:solidFill>
                <a:latin typeface="Calibri"/>
                <a:ea typeface="Calibri"/>
                <a:cs typeface="Calibri"/>
                <a:sym typeface="Calibri"/>
              </a:rPr>
            </a:br>
            <a:r>
              <a:rPr i="1" lang="en-US" sz="950" u="sng">
                <a:solidFill>
                  <a:schemeClr val="hlink"/>
                </a:solidFill>
                <a:latin typeface="Calibri"/>
                <a:ea typeface="Calibri"/>
                <a:cs typeface="Calibri"/>
                <a:sym typeface="Calibri"/>
                <a:hlinkClick r:id="rId5"/>
              </a:rPr>
              <a:t>https://www.gov.uk/service-manual/service-standard</a:t>
            </a:r>
            <a:endParaRPr i="1" sz="950">
              <a:solidFill>
                <a:schemeClr val="lt2"/>
              </a:solidFill>
              <a:latin typeface="Calibri"/>
              <a:ea typeface="Calibri"/>
              <a:cs typeface="Calibri"/>
              <a:sym typeface="Calibri"/>
            </a:endParaRPr>
          </a:p>
        </p:txBody>
      </p:sp>
      <p:sp>
        <p:nvSpPr>
          <p:cNvPr id="588" name="Google Shape;588;p26"/>
          <p:cNvSpPr txBox="1"/>
          <p:nvPr/>
        </p:nvSpPr>
        <p:spPr>
          <a:xfrm>
            <a:off x="7517427" y="393000"/>
            <a:ext cx="2692500" cy="317700"/>
          </a:xfrm>
          <a:prstGeom prst="rect">
            <a:avLst/>
          </a:prstGeom>
          <a:noFill/>
          <a:ln>
            <a:noFill/>
          </a:ln>
        </p:spPr>
        <p:txBody>
          <a:bodyPr anchorCtr="0" anchor="t" bIns="82050" lIns="82050" spcFirstLastPara="1" rIns="82050" wrap="square" tIns="82050">
            <a:spAutoFit/>
          </a:bodyPr>
          <a:lstStyle/>
          <a:p>
            <a:pPr indent="0" lvl="0" marL="0" rtl="0" algn="l">
              <a:spcBef>
                <a:spcPts val="0"/>
              </a:spcBef>
              <a:spcAft>
                <a:spcPts val="0"/>
              </a:spcAft>
              <a:buNone/>
            </a:pPr>
            <a:r>
              <a:rPr b="1" lang="en-US" sz="987">
                <a:solidFill>
                  <a:srgbClr val="DDEAF6"/>
                </a:solidFill>
                <a:latin typeface="Calibri"/>
                <a:ea typeface="Calibri"/>
                <a:cs typeface="Calibri"/>
                <a:sym typeface="Calibri"/>
              </a:rPr>
              <a:t>I live on Git!</a:t>
            </a:r>
            <a:endParaRPr sz="1256"/>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2026-03-23T14:39:42Z</dcterms:created>
  <dc:creator>Lucy K Wills / Globefox</dc:creator>
</cp:coreProperties>
</file>